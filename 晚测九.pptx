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Default Extension="ppt" ContentType="application/vnd.ms-powerpoint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9" r:id="rId5"/>
    <p:sldId id="257" r:id="rId6"/>
    <p:sldId id="270" r:id="rId7"/>
    <p:sldId id="271" r:id="rId8"/>
    <p:sldId id="27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1716" y="-10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13F0CB65-278A-40E8-8107-E0FFB88A0B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898C0389-9C29-4C4E-AFEE-6C0C6327C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548A8D00-04F7-4F25-905D-A1DF0E696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8C06F-1443-4A65-A81F-95F9B6FF31D1}" type="datetimeFigureOut">
              <a:rPr lang="zh-CN" altLang="en-US" smtClean="0"/>
              <a:pPr/>
              <a:t>2020-12-04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FADE6BAE-3B0B-4048-B3F4-9FFFDD5BB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7830488C-C6B7-4A76-B2B7-CBD58E263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46E20-9FA9-4175-AD90-F11C18D4950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403710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A156EFCA-5AE8-4107-B67E-34E90A4F8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628BE617-754C-47D4-AF17-4C4C85AE4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48935F43-6686-432C-8911-968E9F79D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8C06F-1443-4A65-A81F-95F9B6FF31D1}" type="datetimeFigureOut">
              <a:rPr lang="zh-CN" altLang="en-US" smtClean="0"/>
              <a:pPr/>
              <a:t>2020-12-04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C76C6EBD-0966-49E7-A801-73DF66B2B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1921DD8C-4E20-4933-904B-A938EE00F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46E20-9FA9-4175-AD90-F11C18D4950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41920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155AC8A6-AC73-4336-B3C8-E64619979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952AB3CD-A40F-4C72-B7F5-BBCD2A426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3C072C2B-A177-4C8B-90E7-1D51D9018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8C06F-1443-4A65-A81F-95F9B6FF31D1}" type="datetimeFigureOut">
              <a:rPr lang="zh-CN" altLang="en-US" smtClean="0"/>
              <a:pPr/>
              <a:t>2020-12-04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8CB52847-CEC0-4E96-9822-031BBF3D0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81E1C536-1705-4CE3-BFE5-1DBDA9202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46E20-9FA9-4175-AD90-F11C18D4950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041919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9417233-FE1F-4085-BEA9-8D69CD9E8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5EF94CC-9BCD-47A1-B200-A59B3ED1C4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734BD673-209B-42BF-835B-68AD00C2E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8BF5BEF9-886E-4C05-956F-9BE35C994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8C06F-1443-4A65-A81F-95F9B6FF31D1}" type="datetimeFigureOut">
              <a:rPr lang="zh-CN" altLang="en-US" smtClean="0"/>
              <a:pPr/>
              <a:t>2020-12-04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1B0B52BD-3562-4B58-80FC-30585766A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D5CB1BFB-293F-4B07-A0C5-8C376D8C1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46E20-9FA9-4175-AD90-F11C18D4950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951841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489F65AC-E50A-4344-8827-D9E6407E5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098D25B7-C885-4796-8785-C7FF9C6D5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EB2F219E-8D79-482A-9308-3E6A1913A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17C51183-32BF-467F-9C83-5A74E76899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57301946-4A8E-43E6-9E2D-F091B0EDC4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AE84CF72-128D-466B-B488-6952121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8C06F-1443-4A65-A81F-95F9B6FF31D1}" type="datetimeFigureOut">
              <a:rPr lang="zh-CN" altLang="en-US" smtClean="0"/>
              <a:pPr/>
              <a:t>2020-12-04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="" id="{9E4812E6-0C0C-472A-BAC8-3E4FDA580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86D6DABE-DCA8-4351-AC73-7878B56DD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46E20-9FA9-4175-AD90-F11C18D4950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708863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941C5E0C-386D-42D7-98C4-ADA3B5FBA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E998C670-F9C3-438E-A3AE-C03B517D8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8C06F-1443-4A65-A81F-95F9B6FF31D1}" type="datetimeFigureOut">
              <a:rPr lang="zh-CN" altLang="en-US" smtClean="0"/>
              <a:pPr/>
              <a:t>2020-12-04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45DC2DAC-501C-4FDC-AA1E-E43343AD4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2F47292F-466E-487F-880C-C5367E302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46E20-9FA9-4175-AD90-F11C18D4950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019050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xmlns="" id="{9DEFC68F-368B-4DD3-BA12-A390A8712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8C06F-1443-4A65-A81F-95F9B6FF31D1}" type="datetimeFigureOut">
              <a:rPr lang="zh-CN" altLang="en-US" smtClean="0"/>
              <a:pPr/>
              <a:t>2020-12-04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xmlns="" id="{F7E97167-726C-4F0C-9B57-343E41C4E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C1648B97-1694-4A85-A0B2-AB3A46EF2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46E20-9FA9-4175-AD90-F11C18D4950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516593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373D8564-462A-4AAF-95B6-D82A9E5D2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0054AD95-8CD0-4C39-99E5-2BBF38F67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0BE2A92B-3218-421F-8822-20E1B1A64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C25C13E5-DFD3-47AD-80F7-6C6EC6F2E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8C06F-1443-4A65-A81F-95F9B6FF31D1}" type="datetimeFigureOut">
              <a:rPr lang="zh-CN" altLang="en-US" smtClean="0"/>
              <a:pPr/>
              <a:t>2020-12-04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9AB8DA34-3ED8-4F10-A160-60230FE85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5BA9A0AF-FA21-4F0E-9B40-4B33ABDB1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46E20-9FA9-4175-AD90-F11C18D4950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938032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E860B00A-98D2-4A8B-8548-C22AB041D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C1D31ED7-9F64-45F1-BB0F-DB2E435549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5F6A5D90-7DF7-4AE7-83BD-9782C9C26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B16AC8A0-0FA5-48A5-B5D0-491BD069E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8C06F-1443-4A65-A81F-95F9B6FF31D1}" type="datetimeFigureOut">
              <a:rPr lang="zh-CN" altLang="en-US" smtClean="0"/>
              <a:pPr/>
              <a:t>2020-12-04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3812AEDD-1C98-418D-982F-75DA55DEE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C0D5B011-44A3-42F7-A81E-F8AF60A94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46E20-9FA9-4175-AD90-F11C18D4950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698134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006CEB6D-C834-4ED6-A7A4-C06F23478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4CD2C2DC-9730-448B-9142-E6EC03C17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61502FBA-0C3D-4E76-A238-29D7BFC09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8C06F-1443-4A65-A81F-95F9B6FF31D1}" type="datetimeFigureOut">
              <a:rPr lang="zh-CN" altLang="en-US" smtClean="0"/>
              <a:pPr/>
              <a:t>2020-12-04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82833783-2528-44EB-8C9A-8E3C27A23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7662123E-592B-456D-93B4-485F61145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46E20-9FA9-4175-AD90-F11C18D4950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590215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D5671994-3339-4745-9699-538EFE9AC4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4E554D01-E74B-4DBC-9250-3D7EA54772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D07B16CC-A64E-46B4-A612-0ACE49AB7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8C06F-1443-4A65-A81F-95F9B6FF31D1}" type="datetimeFigureOut">
              <a:rPr lang="zh-CN" altLang="en-US" smtClean="0"/>
              <a:pPr/>
              <a:t>2020-12-04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508B350D-E374-4A04-9EB2-E6FDA3790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906ACEE5-4230-40A0-B98D-D80CA4FDE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46E20-9FA9-4175-AD90-F11C18D4950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199169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xmlns="" id="{AC12C1A3-3DCB-4D68-BD7E-C590DB988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56644090-63C5-40AE-A9B0-3073D3029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1DE2BA45-7899-4699-8401-A2E5726552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A8C06F-1443-4A65-A81F-95F9B6FF31D1}" type="datetimeFigureOut">
              <a:rPr lang="zh-CN" altLang="en-US" smtClean="0"/>
              <a:pPr/>
              <a:t>2020-12-04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8A35B0C1-709E-4B65-B833-B40B170D18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BD4223FA-1475-4EE8-8AEB-B594CDE40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146E20-9FA9-4175-AD90-F11C18D4950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181980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Microsoft_Office_PowerPoint_97-2003_____1.ppt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A2F167A3-7C3A-4C6D-984F-50C8C83A4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049" name="图片 100001" descr="figure">
            <a:extLst>
              <a:ext uri="{FF2B5EF4-FFF2-40B4-BE49-F238E27FC236}">
                <a16:creationId xmlns:a16="http://schemas.microsoft.com/office/drawing/2014/main" xmlns="" id="{17CA46A3-7C4D-4F6C-B5A2-0C85674E4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lum bright="-12000" contrast="36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" y="3740734"/>
            <a:ext cx="6835451" cy="3117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D900A8B6-9E7F-4FB4-9E07-79EB0A9D6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" y="61555"/>
            <a:ext cx="12191999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下图示意某国南部沿海部分地区。该地区</a:t>
            </a:r>
            <a:r>
              <a:rPr kumimoji="0" lang="zh-CN" altLang="zh-CN" sz="2600" b="0" i="0" u="none" strike="noStrike" cap="none" normalizeH="0" baseline="0" dirty="0">
                <a:ln>
                  <a:noFill/>
                </a:ln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河流含沙量大，沿海水浅</a:t>
            </a:r>
            <a:r>
              <a:rPr kumimoji="0" lang="zh-CN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。</a:t>
            </a:r>
            <a:r>
              <a:rPr kumimoji="0" lang="en-US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18</a:t>
            </a: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世纪，随着大规模的土地开发，该地区交通运输需求大增，</a:t>
            </a: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于是开凿了几乎与沿海平行的沿海运河</a:t>
            </a: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。</a:t>
            </a:r>
            <a:r>
              <a:rPr kumimoji="0" lang="en-US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M</a:t>
            </a: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河自北向南纵贯该国中部，是该国重要的航道，</a:t>
            </a:r>
            <a:r>
              <a:rPr kumimoji="0" lang="en-US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H</a:t>
            </a: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港为该国南部沿海最大港口。</a:t>
            </a:r>
            <a:endParaRPr kumimoji="0" lang="en-US" altLang="zh-CN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xmlns="" id="{FE92D2BC-2D74-4F31-824F-D7212B382BBF}"/>
              </a:ext>
            </a:extLst>
          </p:cNvPr>
          <p:cNvSpPr txBox="1"/>
          <p:nvPr/>
        </p:nvSpPr>
        <p:spPr>
          <a:xfrm>
            <a:off x="0" y="1699645"/>
            <a:ext cx="9663545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l" fontAlgn="ctr">
              <a:lnSpc>
                <a:spcPct val="150000"/>
              </a:lnSpc>
            </a:pPr>
            <a:r>
              <a:rPr lang="zh-CN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）分析图示地区沿海运河开凿前的水运条件。（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分）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9FE2CE9A-34BA-4697-B6C2-47F4B3E56E72}"/>
              </a:ext>
            </a:extLst>
          </p:cNvPr>
          <p:cNvSpPr txBox="1"/>
          <p:nvPr/>
        </p:nvSpPr>
        <p:spPr>
          <a:xfrm>
            <a:off x="2370013" y="3122382"/>
            <a:ext cx="300643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时间限定：</a:t>
            </a:r>
            <a:r>
              <a:rPr lang="zh-CN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沿海运河开凿前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xmlns="" id="{BA7C51C0-48BC-4E5E-AA67-7E6F7C9ECB37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>
            <a:off x="5376449" y="3307048"/>
            <a:ext cx="5671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xmlns="" id="{2F8E4151-2AC7-4F6D-B3F3-9DC94442ABF2}"/>
              </a:ext>
            </a:extLst>
          </p:cNvPr>
          <p:cNvSpPr txBox="1"/>
          <p:nvPr/>
        </p:nvSpPr>
        <p:spPr>
          <a:xfrm>
            <a:off x="5943601" y="3122382"/>
            <a:ext cx="113430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水运条件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8" name="左大括号 17">
            <a:extLst>
              <a:ext uri="{FF2B5EF4-FFF2-40B4-BE49-F238E27FC236}">
                <a16:creationId xmlns:a16="http://schemas.microsoft.com/office/drawing/2014/main" xmlns="" id="{EF5A4D31-425E-4CBA-812C-16EF7CF5B65E}"/>
              </a:ext>
            </a:extLst>
          </p:cNvPr>
          <p:cNvSpPr/>
          <p:nvPr/>
        </p:nvSpPr>
        <p:spPr>
          <a:xfrm>
            <a:off x="7077906" y="2680039"/>
            <a:ext cx="365224" cy="2772493"/>
          </a:xfrm>
          <a:prstGeom prst="leftBrace">
            <a:avLst>
              <a:gd name="adj1" fmla="val 0"/>
              <a:gd name="adj2" fmla="val 2312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xmlns="" id="{53510564-6134-4D5F-9AB3-97E381B1E262}"/>
              </a:ext>
            </a:extLst>
          </p:cNvPr>
          <p:cNvSpPr txBox="1"/>
          <p:nvPr/>
        </p:nvSpPr>
        <p:spPr>
          <a:xfrm>
            <a:off x="7449236" y="2512440"/>
            <a:ext cx="6463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河运</a:t>
            </a:r>
          </a:p>
        </p:txBody>
      </p:sp>
      <p:sp>
        <p:nvSpPr>
          <p:cNvPr id="20" name="右大括号 19">
            <a:extLst>
              <a:ext uri="{FF2B5EF4-FFF2-40B4-BE49-F238E27FC236}">
                <a16:creationId xmlns:a16="http://schemas.microsoft.com/office/drawing/2014/main" xmlns="" id="{63E3E45D-472B-4628-B05C-2AD10D42105A}"/>
              </a:ext>
            </a:extLst>
          </p:cNvPr>
          <p:cNvSpPr/>
          <p:nvPr/>
        </p:nvSpPr>
        <p:spPr>
          <a:xfrm>
            <a:off x="2148337" y="2745939"/>
            <a:ext cx="216118" cy="1122218"/>
          </a:xfrm>
          <a:prstGeom prst="rightBrace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xmlns="" id="{466EA147-1AC1-40DC-98BA-7D36AC13F834}"/>
              </a:ext>
            </a:extLst>
          </p:cNvPr>
          <p:cNvSpPr txBox="1"/>
          <p:nvPr/>
        </p:nvSpPr>
        <p:spPr>
          <a:xfrm>
            <a:off x="298751" y="2392142"/>
            <a:ext cx="184958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文字：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河流含沙量大，沿海水浅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xmlns="" id="{CF384D72-18F4-4B74-B162-3FC367AE6309}"/>
              </a:ext>
            </a:extLst>
          </p:cNvPr>
          <p:cNvSpPr txBox="1"/>
          <p:nvPr/>
        </p:nvSpPr>
        <p:spPr>
          <a:xfrm>
            <a:off x="5556" y="3307048"/>
            <a:ext cx="213722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图片：河流分布，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楷体" panose="02010609060101010101" pitchFamily="49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等深（高）线分布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6" name="左大括号 25">
            <a:extLst>
              <a:ext uri="{FF2B5EF4-FFF2-40B4-BE49-F238E27FC236}">
                <a16:creationId xmlns:a16="http://schemas.microsoft.com/office/drawing/2014/main" xmlns="" id="{96425B36-885E-4462-856A-EF4A21BFBF80}"/>
              </a:ext>
            </a:extLst>
          </p:cNvPr>
          <p:cNvSpPr/>
          <p:nvPr/>
        </p:nvSpPr>
        <p:spPr>
          <a:xfrm>
            <a:off x="8095566" y="2292105"/>
            <a:ext cx="287319" cy="1966628"/>
          </a:xfrm>
          <a:prstGeom prst="leftBrace">
            <a:avLst>
              <a:gd name="adj1" fmla="val 0"/>
              <a:gd name="adj2" fmla="val 2201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xmlns="" id="{D96DABD4-8772-41C8-B469-E4B0E435E65E}"/>
              </a:ext>
            </a:extLst>
          </p:cNvPr>
          <p:cNvSpPr txBox="1"/>
          <p:nvPr/>
        </p:nvSpPr>
        <p:spPr>
          <a:xfrm>
            <a:off x="8382885" y="2292105"/>
            <a:ext cx="20313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zh-CN" sz="1800" kern="100" dirty="0">
                <a:solidFill>
                  <a:srgbClr val="FF0000"/>
                </a:solidFill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大致自北向南入海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xmlns="" id="{1C6D0FE2-423A-480B-90B1-1C72BDACE6B6}"/>
              </a:ext>
            </a:extLst>
          </p:cNvPr>
          <p:cNvSpPr txBox="1"/>
          <p:nvPr/>
        </p:nvSpPr>
        <p:spPr>
          <a:xfrm>
            <a:off x="8382885" y="2860002"/>
            <a:ext cx="364715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zh-CN" sz="1800" kern="100" dirty="0">
                <a:solidFill>
                  <a:srgbClr val="FF0000"/>
                </a:solidFill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陆上缺少东西向（横向）水运通道</a:t>
            </a:r>
            <a:endParaRPr lang="en-US" altLang="zh-CN" sz="1800" kern="100" dirty="0">
              <a:solidFill>
                <a:srgbClr val="FF0000"/>
              </a:solidFill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kern="100" dirty="0">
                <a:solidFill>
                  <a:srgbClr val="FF0000"/>
                </a:solidFill>
                <a:ea typeface="宋体" panose="02010600030101010101" pitchFamily="2" charset="-122"/>
              </a:rPr>
              <a:t>（东西向河运不便）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xmlns="" id="{1168CA7F-A8A2-43A1-8B92-C143D05D6D0E}"/>
              </a:ext>
            </a:extLst>
          </p:cNvPr>
          <p:cNvSpPr txBox="1"/>
          <p:nvPr/>
        </p:nvSpPr>
        <p:spPr>
          <a:xfrm>
            <a:off x="8387006" y="3953379"/>
            <a:ext cx="13853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800" kern="100" dirty="0">
                <a:solidFill>
                  <a:srgbClr val="FF0000"/>
                </a:solidFill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多沼泽湿地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99C741F-5CED-4336-8384-EF19902E4EAD}"/>
              </a:ext>
            </a:extLst>
          </p:cNvPr>
          <p:cNvSpPr txBox="1"/>
          <p:nvPr/>
        </p:nvSpPr>
        <p:spPr>
          <a:xfrm>
            <a:off x="7442857" y="5299367"/>
            <a:ext cx="6463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海运</a:t>
            </a:r>
          </a:p>
        </p:txBody>
      </p:sp>
      <p:sp>
        <p:nvSpPr>
          <p:cNvPr id="34" name="左大括号 33">
            <a:extLst>
              <a:ext uri="{FF2B5EF4-FFF2-40B4-BE49-F238E27FC236}">
                <a16:creationId xmlns:a16="http://schemas.microsoft.com/office/drawing/2014/main" xmlns="" id="{DA0F1100-1688-4083-B038-59D202FE070E}"/>
              </a:ext>
            </a:extLst>
          </p:cNvPr>
          <p:cNvSpPr/>
          <p:nvPr/>
        </p:nvSpPr>
        <p:spPr>
          <a:xfrm>
            <a:off x="8095566" y="5026839"/>
            <a:ext cx="358573" cy="1407828"/>
          </a:xfrm>
          <a:prstGeom prst="leftBrace">
            <a:avLst>
              <a:gd name="adj1" fmla="val 0"/>
              <a:gd name="adj2" fmla="val 3344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xmlns="" id="{23DB4D60-163F-4FE1-A39B-954FB185C0E5}"/>
              </a:ext>
            </a:extLst>
          </p:cNvPr>
          <p:cNvSpPr txBox="1"/>
          <p:nvPr/>
        </p:nvSpPr>
        <p:spPr>
          <a:xfrm>
            <a:off x="8474151" y="4842173"/>
            <a:ext cx="295465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zh-CN" sz="1800" kern="100" dirty="0">
                <a:solidFill>
                  <a:srgbClr val="FF0000"/>
                </a:solidFill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海域水浅，泥沙多，风浪大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xmlns="" id="{5D27F7DF-7E96-48F3-9E7D-92BBAF18732B}"/>
              </a:ext>
            </a:extLst>
          </p:cNvPr>
          <p:cNvSpPr txBox="1"/>
          <p:nvPr/>
        </p:nvSpPr>
        <p:spPr>
          <a:xfrm>
            <a:off x="8474151" y="6250001"/>
            <a:ext cx="30659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solidFill>
                  <a:srgbClr val="FF0000"/>
                </a:solidFill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不利于航行，不适于建港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xmlns="" id="{DD063AC3-BCFB-4614-9244-047E0FAA49AB}"/>
              </a:ext>
            </a:extLst>
          </p:cNvPr>
          <p:cNvSpPr/>
          <p:nvPr/>
        </p:nvSpPr>
        <p:spPr>
          <a:xfrm>
            <a:off x="4597400" y="3740734"/>
            <a:ext cx="2238050" cy="30345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122" name="Picture 2" descr="https://timgsa.baidu.com/timg?image&amp;quality=80&amp;size=b9999_10000&amp;sec=1607059446801&amp;di=0f41652c0dc170010578005fefb3aa97&amp;imgtype=0&amp;src=http%3A%2F%2Fimglf4.nosdn0.126.net%2Fimg%2FN2EzZW5rODJXZDcxWTZhRlFzVTI0MDVKQ1JXa2RyRG9HZTRXdVoyYkZ0VUFJOFB5THRTblVnPT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80114" y="2351314"/>
            <a:ext cx="8011886" cy="45066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60276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8" grpId="0" animBg="1"/>
      <p:bldP spid="19" grpId="0" animBg="1"/>
      <p:bldP spid="20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32" grpId="0" animBg="1"/>
      <p:bldP spid="33" grpId="0" animBg="1"/>
      <p:bldP spid="34" grpId="0" animBg="1"/>
      <p:bldP spid="35" grpId="0" animBg="1"/>
      <p:bldP spid="37" grpId="0" animBg="1"/>
      <p:bldP spid="3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A2F167A3-7C3A-4C6D-984F-50C8C83A4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049" name="图片 100001" descr="figure">
            <a:extLst>
              <a:ext uri="{FF2B5EF4-FFF2-40B4-BE49-F238E27FC236}">
                <a16:creationId xmlns:a16="http://schemas.microsoft.com/office/drawing/2014/main" xmlns="" id="{17CA46A3-7C4D-4F6C-B5A2-0C85674E4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lum bright="-12000" contrast="36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" y="3740734"/>
            <a:ext cx="6835451" cy="3117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D900A8B6-9E7F-4FB4-9E07-79EB0A9D6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" y="61555"/>
            <a:ext cx="12191999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下图示意某国南部沿海部分地区。该地区河流含沙量大，沿海水浅。</a:t>
            </a:r>
            <a:r>
              <a:rPr kumimoji="0" lang="en-US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18</a:t>
            </a: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世纪，随着大规模的土地开发，该地区交通运输需求大增，于是开凿了几乎与沿海平行的沿海运河。</a:t>
            </a:r>
            <a:r>
              <a:rPr kumimoji="0" lang="en-US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M</a:t>
            </a: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河自北向南纵贯该国中部，是该国重要的航道，</a:t>
            </a:r>
            <a:r>
              <a:rPr kumimoji="0" lang="en-US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H</a:t>
            </a: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港为该国南部沿海最大港口。</a:t>
            </a:r>
            <a:endParaRPr kumimoji="0" lang="en-US" altLang="zh-CN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FA8E0C10-0AAB-4213-8041-19529DDC22BC}"/>
              </a:ext>
            </a:extLst>
          </p:cNvPr>
          <p:cNvSpPr txBox="1"/>
          <p:nvPr/>
        </p:nvSpPr>
        <p:spPr>
          <a:xfrm>
            <a:off x="0" y="1561031"/>
            <a:ext cx="8857674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l" fontAlgn="ctr">
              <a:lnSpc>
                <a:spcPct val="150000"/>
              </a:lnSpc>
            </a:pPr>
            <a:r>
              <a:rPr lang="zh-CN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）分析沿海运河开凿工程量较小的原因。（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分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57FA1FDF-9499-4E87-883B-905511D7CA03}"/>
              </a:ext>
            </a:extLst>
          </p:cNvPr>
          <p:cNvSpPr txBox="1"/>
          <p:nvPr/>
        </p:nvSpPr>
        <p:spPr>
          <a:xfrm>
            <a:off x="2447636" y="2812465"/>
            <a:ext cx="13854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defRPr>
            </a:lvl1pPr>
          </a:lstStyle>
          <a:p>
            <a:r>
              <a:rPr lang="zh-CN" altLang="zh-CN" dirty="0"/>
              <a:t>沿海运河</a:t>
            </a:r>
            <a:endParaRPr lang="zh-CN" altLang="en-US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xmlns="" id="{F0C37A90-3FBF-4055-B31B-DC01A73F94C6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3833090" y="2997131"/>
            <a:ext cx="4849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xmlns="" id="{E166B2A1-E529-49CA-9A7A-13806B934F71}"/>
              </a:ext>
            </a:extLst>
          </p:cNvPr>
          <p:cNvSpPr txBox="1"/>
          <p:nvPr/>
        </p:nvSpPr>
        <p:spPr>
          <a:xfrm>
            <a:off x="4318000" y="2812465"/>
            <a:ext cx="1569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开凿工程量小</a:t>
            </a:r>
          </a:p>
        </p:txBody>
      </p:sp>
      <p:sp>
        <p:nvSpPr>
          <p:cNvPr id="14" name="右大括号 13">
            <a:extLst>
              <a:ext uri="{FF2B5EF4-FFF2-40B4-BE49-F238E27FC236}">
                <a16:creationId xmlns:a16="http://schemas.microsoft.com/office/drawing/2014/main" xmlns="" id="{BD6C1EAA-4459-40CA-BDB1-A93F2A4A7B6E}"/>
              </a:ext>
            </a:extLst>
          </p:cNvPr>
          <p:cNvSpPr/>
          <p:nvPr/>
        </p:nvSpPr>
        <p:spPr>
          <a:xfrm>
            <a:off x="2115127" y="2443608"/>
            <a:ext cx="332509" cy="1075447"/>
          </a:xfrm>
          <a:prstGeom prst="rightBrace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xmlns="" id="{0382C77B-E12E-4A5A-A63B-4C3170B67FC0}"/>
              </a:ext>
            </a:extLst>
          </p:cNvPr>
          <p:cNvSpPr txBox="1"/>
          <p:nvPr/>
        </p:nvSpPr>
        <p:spPr>
          <a:xfrm>
            <a:off x="1237964" y="2290541"/>
            <a:ext cx="87716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等高线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B9AD639E-4586-47C3-9892-0327D71ACBC3}"/>
              </a:ext>
            </a:extLst>
          </p:cNvPr>
          <p:cNvSpPr txBox="1"/>
          <p:nvPr/>
        </p:nvSpPr>
        <p:spPr>
          <a:xfrm>
            <a:off x="1464323" y="3302852"/>
            <a:ext cx="6463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沼泽</a:t>
            </a:r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xmlns="" id="{90148A18-2BF7-40B4-AAB8-8F5F6A9AAB9F}"/>
              </a:ext>
            </a:extLst>
          </p:cNvPr>
          <p:cNvSpPr/>
          <p:nvPr/>
        </p:nvSpPr>
        <p:spPr>
          <a:xfrm>
            <a:off x="5887660" y="2431196"/>
            <a:ext cx="341205" cy="1170725"/>
          </a:xfrm>
          <a:prstGeom prst="leftBrace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xmlns="" id="{CAE232DA-2C01-4B16-91DB-A7275357382E}"/>
              </a:ext>
            </a:extLst>
          </p:cNvPr>
          <p:cNvSpPr txBox="1"/>
          <p:nvPr/>
        </p:nvSpPr>
        <p:spPr>
          <a:xfrm>
            <a:off x="6228865" y="2255997"/>
            <a:ext cx="27616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solidFill>
                  <a:srgbClr val="FF0000"/>
                </a:solidFill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为河流冲积平原，低平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xmlns="" id="{9DD5AAC5-FEBE-4F3E-973C-5944B0520C77}"/>
              </a:ext>
            </a:extLst>
          </p:cNvPr>
          <p:cNvSpPr txBox="1"/>
          <p:nvPr/>
        </p:nvSpPr>
        <p:spPr>
          <a:xfrm>
            <a:off x="6220169" y="3429000"/>
            <a:ext cx="27616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solidFill>
                  <a:srgbClr val="FF0000"/>
                </a:solidFill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多沼泽（湿地、海湾）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28223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4" grpId="0" animBg="1"/>
      <p:bldP spid="15" grpId="0" animBg="1"/>
      <p:bldP spid="17" grpId="0" animBg="1"/>
      <p:bldP spid="16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A2F167A3-7C3A-4C6D-984F-50C8C83A4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049" name="图片 100001" descr="figure">
            <a:extLst>
              <a:ext uri="{FF2B5EF4-FFF2-40B4-BE49-F238E27FC236}">
                <a16:creationId xmlns:a16="http://schemas.microsoft.com/office/drawing/2014/main" xmlns="" id="{17CA46A3-7C4D-4F6C-B5A2-0C85674E4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lum bright="-12000" contrast="36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" y="3740734"/>
            <a:ext cx="6835451" cy="3117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D900A8B6-9E7F-4FB4-9E07-79EB0A9D6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" y="61555"/>
            <a:ext cx="12191999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下图示意某国南部沿海部分地区。该地区河流含沙量大，沿海水浅。</a:t>
            </a:r>
            <a:r>
              <a:rPr kumimoji="0" lang="en-US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18</a:t>
            </a: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世纪，随着大规模的土地开发，该地区交通运输需求大增，于是开凿了几乎与沿海平行的沿海运河。</a:t>
            </a:r>
            <a:r>
              <a:rPr kumimoji="0" lang="en-US" altLang="zh-CN" sz="2600" b="0" i="0" u="none" strike="noStrike" cap="none" normalizeH="0" baseline="0" dirty="0">
                <a:ln>
                  <a:noFill/>
                </a:ln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M</a:t>
            </a: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河自北向南纵贯该国中部，是该国重要的航道，</a:t>
            </a:r>
            <a:r>
              <a:rPr kumimoji="0" lang="en-US" altLang="zh-CN" sz="2600" b="0" i="0" u="none" strike="noStrike" cap="none" normalizeH="0" baseline="0" dirty="0">
                <a:ln>
                  <a:noFill/>
                </a:ln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H</a:t>
            </a: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港为该国南部沿海最大港口</a:t>
            </a: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。</a:t>
            </a:r>
            <a:endParaRPr kumimoji="0" lang="en-US" altLang="zh-CN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A9C5E188-43EA-4B18-951E-A44A2E6F8E24}"/>
              </a:ext>
            </a:extLst>
          </p:cNvPr>
          <p:cNvSpPr txBox="1"/>
          <p:nvPr/>
        </p:nvSpPr>
        <p:spPr>
          <a:xfrm>
            <a:off x="341697" y="1589323"/>
            <a:ext cx="7329638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>
              <a:lnSpc>
                <a:spcPct val="150000"/>
              </a:lnSpc>
            </a:pPr>
            <a:r>
              <a:rPr lang="zh-CN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）简述沿海运河航道航运优势。（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分）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11EF2768-A2A4-4571-A3D0-3C429DCCC128}"/>
              </a:ext>
            </a:extLst>
          </p:cNvPr>
          <p:cNvSpPr txBox="1"/>
          <p:nvPr/>
        </p:nvSpPr>
        <p:spPr>
          <a:xfrm>
            <a:off x="650818" y="2714027"/>
            <a:ext cx="1569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CN" altLang="zh-CN" dirty="0"/>
              <a:t>沿海运河航道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xmlns="" id="{22523DC1-EDB8-43C9-89DF-35D107C963AB}"/>
              </a:ext>
            </a:extLst>
          </p:cNvPr>
          <p:cNvSpPr txBox="1"/>
          <p:nvPr/>
        </p:nvSpPr>
        <p:spPr>
          <a:xfrm>
            <a:off x="3084176" y="2714027"/>
            <a:ext cx="11079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CN" altLang="zh-CN" dirty="0"/>
              <a:t>航运优势</a:t>
            </a:r>
            <a:endParaRPr lang="zh-CN" altLang="en-US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xmlns="" id="{DF43494F-B8E3-4BC2-ADBA-B797DB391086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2220478" y="2898693"/>
            <a:ext cx="8636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对象 11">
            <a:hlinkClick r:id="" action="ppaction://ole?verb=0"/>
            <a:extLst>
              <a:ext uri="{FF2B5EF4-FFF2-40B4-BE49-F238E27FC236}">
                <a16:creationId xmlns:a16="http://schemas.microsoft.com/office/drawing/2014/main" xmlns="" id="{61FC5BD1-EE3A-4AF6-998A-8573138377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071644346"/>
              </p:ext>
            </p:extLst>
          </p:nvPr>
        </p:nvGraphicFramePr>
        <p:xfrm>
          <a:off x="6737651" y="1735207"/>
          <a:ext cx="814485" cy="458201"/>
        </p:xfrm>
        <a:graphic>
          <a:graphicData uri="http://schemas.openxmlformats.org/presentationml/2006/ole">
            <p:oleObj spid="_x0000_s3080" name="演示文稿" r:id="rId4" imgW="6088460" imgH="3424369" progId="PowerPoint.Show.8">
              <p:embed/>
            </p:oleObj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xmlns="" id="{04929667-2980-4305-B35B-0688AC53F01F}"/>
              </a:ext>
            </a:extLst>
          </p:cNvPr>
          <p:cNvSpPr txBox="1"/>
          <p:nvPr/>
        </p:nvSpPr>
        <p:spPr>
          <a:xfrm>
            <a:off x="650818" y="3086275"/>
            <a:ext cx="35413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与南北向河流，与海运比较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18" name="左大括号 17">
            <a:extLst>
              <a:ext uri="{FF2B5EF4-FFF2-40B4-BE49-F238E27FC236}">
                <a16:creationId xmlns:a16="http://schemas.microsoft.com/office/drawing/2014/main" xmlns="" id="{1A7EFBFF-1BBA-4C74-A1FE-8500FA4CF77B}"/>
              </a:ext>
            </a:extLst>
          </p:cNvPr>
          <p:cNvSpPr/>
          <p:nvPr/>
        </p:nvSpPr>
        <p:spPr>
          <a:xfrm>
            <a:off x="4192172" y="2329344"/>
            <a:ext cx="481263" cy="1238166"/>
          </a:xfrm>
          <a:prstGeom prst="leftBrace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xmlns="" id="{1D70C954-4CD1-4B54-BEB7-272791124AB4}"/>
              </a:ext>
            </a:extLst>
          </p:cNvPr>
          <p:cNvSpPr txBox="1"/>
          <p:nvPr/>
        </p:nvSpPr>
        <p:spPr>
          <a:xfrm>
            <a:off x="4673435" y="2260783"/>
            <a:ext cx="37689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CN" altLang="zh-CN" dirty="0"/>
              <a:t>运河与海湾及多条河流</a:t>
            </a:r>
            <a:r>
              <a:rPr lang="zh-CN" altLang="zh-CN"/>
              <a:t>相通（</a:t>
            </a:r>
            <a:r>
              <a:rPr lang="en-US" altLang="zh-CN" dirty="0"/>
              <a:t>2</a:t>
            </a:r>
            <a:r>
              <a:rPr lang="zh-CN" altLang="zh-CN" dirty="0"/>
              <a:t>分）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xmlns="" id="{AEC679F6-1982-4490-9D5B-E1C90BF7A851}"/>
              </a:ext>
            </a:extLst>
          </p:cNvPr>
          <p:cNvSpPr txBox="1"/>
          <p:nvPr/>
        </p:nvSpPr>
        <p:spPr>
          <a:xfrm>
            <a:off x="4653836" y="2856838"/>
            <a:ext cx="23839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CN" altLang="zh-CN" sz="1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水位相对稳定（</a:t>
            </a:r>
            <a:r>
              <a:rPr lang="en-US" altLang="zh-CN" sz="1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zh-CN" sz="1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分）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xmlns="" id="{28916CEB-E0B4-4B39-AE53-3E4BF0877EB6}"/>
              </a:ext>
            </a:extLst>
          </p:cNvPr>
          <p:cNvSpPr txBox="1"/>
          <p:nvPr/>
        </p:nvSpPr>
        <p:spPr>
          <a:xfrm>
            <a:off x="4673435" y="3382844"/>
            <a:ext cx="30764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CN" altLang="zh-CN" sz="1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避免海浪和海风影响（</a:t>
            </a:r>
            <a:r>
              <a:rPr lang="en-US" altLang="zh-CN" sz="1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zh-CN" sz="1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分）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3295621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3" grpId="0" animBg="1"/>
      <p:bldP spid="18" grpId="0" animBg="1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A2F167A3-7C3A-4C6D-984F-50C8C83A4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049" name="图片 100001" descr="figure">
            <a:extLst>
              <a:ext uri="{FF2B5EF4-FFF2-40B4-BE49-F238E27FC236}">
                <a16:creationId xmlns:a16="http://schemas.microsoft.com/office/drawing/2014/main" xmlns="" id="{17CA46A3-7C4D-4F6C-B5A2-0C85674E4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lum bright="-12000" contrast="36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" y="3740734"/>
            <a:ext cx="6835451" cy="3117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D900A8B6-9E7F-4FB4-9E07-79EB0A9D6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" y="61555"/>
            <a:ext cx="12191999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下图示意某国南部沿海部分地区。该地区河流含沙量大，沿海水浅。</a:t>
            </a:r>
            <a:r>
              <a:rPr kumimoji="0" lang="en-US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18</a:t>
            </a: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世纪，随着大规模的土地开发，</a:t>
            </a: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该地区交通运输需求大增</a:t>
            </a: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，于是开凿了几乎与沿海平行的沿海运河。</a:t>
            </a:r>
            <a:r>
              <a:rPr lang="en-US" altLang="zh-CN" sz="2600" dirty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600" dirty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河自北向南纵贯该国中部，是该国重要的航道</a:t>
            </a: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，</a:t>
            </a:r>
            <a:r>
              <a:rPr lang="en-US" altLang="zh-CN" sz="2600" dirty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zh-CN" altLang="en-US" sz="2600" dirty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港为该国南部沿海最大港口</a:t>
            </a: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楷体" panose="02010609060101010101" pitchFamily="49" charset="-122"/>
              </a:rPr>
              <a:t>。</a:t>
            </a:r>
            <a:endParaRPr kumimoji="0" lang="en-US" altLang="zh-CN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B6881F1C-2F17-4A09-B991-991A0BCB4958}"/>
              </a:ext>
            </a:extLst>
          </p:cNvPr>
          <p:cNvSpPr txBox="1"/>
          <p:nvPr/>
        </p:nvSpPr>
        <p:spPr>
          <a:xfrm>
            <a:off x="380198" y="1561965"/>
            <a:ext cx="10438598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>
              <a:lnSpc>
                <a:spcPct val="150000"/>
              </a:lnSpc>
            </a:pPr>
            <a:r>
              <a:rPr lang="zh-CN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）说明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zh-CN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港发展成为该国南部沿海最大港口的地理条件。（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r>
            <a:r>
              <a:rPr lang="zh-CN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分）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1762CE02-85E5-46E4-829F-629D97E4459F}"/>
              </a:ext>
            </a:extLst>
          </p:cNvPr>
          <p:cNvSpPr txBox="1"/>
          <p:nvPr/>
        </p:nvSpPr>
        <p:spPr>
          <a:xfrm>
            <a:off x="1679609" y="2866925"/>
            <a:ext cx="5757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 altLang="zh-CN" dirty="0"/>
              <a:t>H</a:t>
            </a:r>
            <a:r>
              <a:rPr lang="zh-CN" altLang="zh-CN" dirty="0"/>
              <a:t>港</a:t>
            </a:r>
            <a:endParaRPr lang="zh-CN" altLang="en-US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xmlns="" id="{6A277976-D937-4ADF-8631-38C8F00B5EBF}"/>
              </a:ext>
            </a:extLst>
          </p:cNvPr>
          <p:cNvCxnSpPr>
            <a:stCxn id="8" idx="3"/>
          </p:cNvCxnSpPr>
          <p:nvPr/>
        </p:nvCxnSpPr>
        <p:spPr>
          <a:xfrm>
            <a:off x="2255408" y="3051591"/>
            <a:ext cx="4107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43972B51-9DD5-4A94-89DD-2C7B07D50787}"/>
              </a:ext>
            </a:extLst>
          </p:cNvPr>
          <p:cNvSpPr txBox="1"/>
          <p:nvPr/>
        </p:nvSpPr>
        <p:spPr>
          <a:xfrm>
            <a:off x="2666198" y="2866925"/>
            <a:ext cx="11079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CN" altLang="zh-CN" dirty="0"/>
              <a:t>南部沿海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xmlns="" id="{221C20EE-BA60-4BFE-B86E-27B247AC9330}"/>
              </a:ext>
            </a:extLst>
          </p:cNvPr>
          <p:cNvCxnSpPr>
            <a:stCxn id="12" idx="3"/>
          </p:cNvCxnSpPr>
          <p:nvPr/>
        </p:nvCxnSpPr>
        <p:spPr>
          <a:xfrm>
            <a:off x="3774194" y="3051591"/>
            <a:ext cx="52829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xmlns="" id="{97FBA63C-E5B8-4869-8DF6-FCD1E905C58D}"/>
              </a:ext>
            </a:extLst>
          </p:cNvPr>
          <p:cNvSpPr txBox="1"/>
          <p:nvPr/>
        </p:nvSpPr>
        <p:spPr>
          <a:xfrm>
            <a:off x="4302493" y="2866925"/>
            <a:ext cx="11079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最大港口</a:t>
            </a:r>
          </a:p>
        </p:txBody>
      </p:sp>
      <p:sp>
        <p:nvSpPr>
          <p:cNvPr id="15" name="左大括号 14">
            <a:extLst>
              <a:ext uri="{FF2B5EF4-FFF2-40B4-BE49-F238E27FC236}">
                <a16:creationId xmlns:a16="http://schemas.microsoft.com/office/drawing/2014/main" xmlns="" id="{54285ECB-7C4F-487C-BAD9-784E0AADFBEC}"/>
              </a:ext>
            </a:extLst>
          </p:cNvPr>
          <p:cNvSpPr/>
          <p:nvPr/>
        </p:nvSpPr>
        <p:spPr>
          <a:xfrm>
            <a:off x="5410489" y="2344329"/>
            <a:ext cx="575799" cy="1414524"/>
          </a:xfrm>
          <a:prstGeom prst="leftBrace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xmlns="" id="{D7F42405-28A0-495A-9688-1F0A6E0FF1A1}"/>
              </a:ext>
            </a:extLst>
          </p:cNvPr>
          <p:cNvSpPr txBox="1"/>
          <p:nvPr/>
        </p:nvSpPr>
        <p:spPr>
          <a:xfrm>
            <a:off x="5986288" y="2220594"/>
            <a:ext cx="3013334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运河：</a:t>
            </a:r>
            <a:r>
              <a:rPr lang="en-US" altLang="zh-CN" dirty="0"/>
              <a:t> (</a:t>
            </a:r>
            <a:r>
              <a:rPr lang="zh-CN" altLang="zh-CN" dirty="0"/>
              <a:t>该国南部沿海少港口</a:t>
            </a:r>
            <a:r>
              <a:rPr lang="en-US" altLang="zh-CN" dirty="0"/>
              <a:t>)H</a:t>
            </a:r>
            <a:r>
              <a:rPr lang="zh-CN" altLang="zh-CN" dirty="0"/>
              <a:t>港依托沿海运河，成为南部沿海地区的贸易港口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xmlns="" id="{02190BC4-BD1A-49C8-BD91-D41AF2ED96EA}"/>
              </a:ext>
            </a:extLst>
          </p:cNvPr>
          <p:cNvSpPr txBox="1"/>
          <p:nvPr/>
        </p:nvSpPr>
        <p:spPr>
          <a:xfrm>
            <a:off x="5986288" y="3325235"/>
            <a:ext cx="301333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 altLang="zh-CN" dirty="0"/>
              <a:t>M</a:t>
            </a:r>
            <a:r>
              <a:rPr lang="zh-CN" altLang="en-US" dirty="0"/>
              <a:t>河：</a:t>
            </a:r>
            <a:r>
              <a:rPr lang="en-US" altLang="zh-CN" dirty="0"/>
              <a:t>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zh-CN" altLang="zh-CN" sz="1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河流域广阔，腹地广，河道航运繁忙（</a:t>
            </a:r>
            <a:r>
              <a:rPr lang="en-US" altLang="zh-CN" sz="1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zh-CN" sz="1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分）；</a:t>
            </a:r>
            <a:endParaRPr lang="zh-CN" altLang="en-US" dirty="0"/>
          </a:p>
        </p:txBody>
      </p:sp>
      <p:sp>
        <p:nvSpPr>
          <p:cNvPr id="17" name="右大括号 16">
            <a:extLst>
              <a:ext uri="{FF2B5EF4-FFF2-40B4-BE49-F238E27FC236}">
                <a16:creationId xmlns:a16="http://schemas.microsoft.com/office/drawing/2014/main" xmlns="" id="{BC308AB7-7FB1-42A1-8D74-5DFD6D912C18}"/>
              </a:ext>
            </a:extLst>
          </p:cNvPr>
          <p:cNvSpPr/>
          <p:nvPr/>
        </p:nvSpPr>
        <p:spPr>
          <a:xfrm>
            <a:off x="9045510" y="2436662"/>
            <a:ext cx="575799" cy="1414524"/>
          </a:xfrm>
          <a:prstGeom prst="rightBrace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xmlns="" id="{4AE6910B-95A7-42F2-BA37-192FC1F6CB87}"/>
              </a:ext>
            </a:extLst>
          </p:cNvPr>
          <p:cNvSpPr txBox="1"/>
          <p:nvPr/>
        </p:nvSpPr>
        <p:spPr>
          <a:xfrm>
            <a:off x="9667197" y="2707945"/>
            <a:ext cx="188173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CN" altLang="zh-CN" dirty="0"/>
              <a:t>是</a:t>
            </a:r>
            <a:r>
              <a:rPr lang="en-US" altLang="zh-CN" dirty="0"/>
              <a:t>M</a:t>
            </a:r>
            <a:r>
              <a:rPr lang="zh-CN" altLang="zh-CN" dirty="0"/>
              <a:t>河、南部沿海运河航运和海运的枢纽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1670734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7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18D40142-0814-45FE-A13E-BB39AA1695C9}"/>
              </a:ext>
            </a:extLst>
          </p:cNvPr>
          <p:cNvSpPr txBox="1"/>
          <p:nvPr/>
        </p:nvSpPr>
        <p:spPr>
          <a:xfrm>
            <a:off x="0" y="0"/>
            <a:ext cx="121920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l" fontAlgn="ctr">
              <a:lnSpc>
                <a:spcPct val="150000"/>
              </a:lnSpc>
            </a:pPr>
            <a:r>
              <a:rPr lang="zh-CN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油菜是我国最为重要的油料作物，种植面积世界第一，集观赏、蜜源等于一身。油菜茎叶可消肿解毒，种子可活血化瘀、降血脂、宽肠通便，花粉可护肝排毒，具有防癌、抗癌等功效。油菜耐贫瘠、可肥田。目前，我国油菜生产主要是手工操作，整地、育苗、移栽、除草、施肥、收割、脱粒等生产环节需要投入大量劳动力。油菜成熟后易裂荚，难以机械化收割。青海和长江流域是我国两个重要的油菜种植基地，</a:t>
            </a:r>
            <a:r>
              <a:rPr lang="zh-CN" altLang="zh-CN" sz="2000" kern="1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但两地花期有很大的差异，青海油菜</a:t>
            </a:r>
            <a:r>
              <a:rPr lang="en-US" altLang="zh-CN" sz="2000" kern="1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7</a:t>
            </a:r>
            <a:r>
              <a:rPr lang="zh-CN" altLang="zh-CN" sz="2000" kern="1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月初开花，长江流域油菜</a:t>
            </a:r>
            <a:r>
              <a:rPr lang="en-US" altLang="zh-CN" sz="2000" kern="1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3</a:t>
            </a:r>
            <a:r>
              <a:rPr lang="zh-CN" altLang="zh-CN" sz="2000" kern="1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月上旬开花。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如图为我国油菜优势种植区域分布示意图。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" name="图片 3" descr="figure">
            <a:extLst>
              <a:ext uri="{FF2B5EF4-FFF2-40B4-BE49-F238E27FC236}">
                <a16:creationId xmlns:a16="http://schemas.microsoft.com/office/drawing/2014/main" xmlns="" id="{F29FD725-1642-40E5-ABDB-C7DE712550D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618073"/>
            <a:ext cx="7064943" cy="423992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3DF08010-DD2B-47F1-ACAC-FDEE54A2D8D8}"/>
              </a:ext>
            </a:extLst>
          </p:cNvPr>
          <p:cNvSpPr txBox="1"/>
          <p:nvPr/>
        </p:nvSpPr>
        <p:spPr>
          <a:xfrm>
            <a:off x="4466122" y="2505670"/>
            <a:ext cx="7725877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fontAlgn="ctr">
              <a:lnSpc>
                <a:spcPct val="150000"/>
              </a:lnSpc>
              <a:buFont typeface="+mj-lt"/>
              <a:buAutoNum type="arabicPeriod"/>
            </a:pPr>
            <a:r>
              <a:rPr lang="zh-CN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试推测我国北方油菜与长江流域油菜种植与收获季节的不同。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(4</a:t>
            </a:r>
            <a:r>
              <a:rPr lang="zh-CN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分）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0CC93F72-139E-4BC3-8E73-398C4ADC92DF}"/>
              </a:ext>
            </a:extLst>
          </p:cNvPr>
          <p:cNvSpPr txBox="1"/>
          <p:nvPr/>
        </p:nvSpPr>
        <p:spPr>
          <a:xfrm>
            <a:off x="4783755" y="4015748"/>
            <a:ext cx="74082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>
              <a:lnSpc>
                <a:spcPct val="150000"/>
              </a:lnSpc>
            </a:pPr>
            <a:r>
              <a:rPr lang="zh-CN" altLang="zh-CN" dirty="0">
                <a:solidFill>
                  <a:srgbClr val="FF0000"/>
                </a:solidFill>
              </a:rPr>
              <a:t>北方油菜是春油菜</a:t>
            </a:r>
            <a:r>
              <a:rPr lang="zh-CN" altLang="zh-CN" u="sng" dirty="0">
                <a:solidFill>
                  <a:srgbClr val="FF0000"/>
                </a:solidFill>
              </a:rPr>
              <a:t>，春播秋收</a:t>
            </a:r>
            <a:r>
              <a:rPr lang="zh-CN" altLang="zh-CN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zh-CN" dirty="0">
                <a:solidFill>
                  <a:srgbClr val="FF0000"/>
                </a:solidFill>
              </a:rPr>
              <a:t>分）；</a:t>
            </a:r>
            <a:endParaRPr lang="en-US" altLang="zh-CN" dirty="0">
              <a:solidFill>
                <a:srgbClr val="FF0000"/>
              </a:solidFill>
            </a:endParaRPr>
          </a:p>
          <a:p>
            <a:pPr algn="l" fontAlgn="ctr">
              <a:lnSpc>
                <a:spcPct val="150000"/>
              </a:lnSpc>
            </a:pPr>
            <a:r>
              <a:rPr lang="zh-CN" altLang="zh-CN" dirty="0">
                <a:solidFill>
                  <a:srgbClr val="FF0000"/>
                </a:solidFill>
              </a:rPr>
              <a:t>长江流域油菜是冬油菜，</a:t>
            </a:r>
            <a:r>
              <a:rPr lang="zh-CN" altLang="zh-CN" u="sng" dirty="0">
                <a:solidFill>
                  <a:srgbClr val="FF0000"/>
                </a:solidFill>
              </a:rPr>
              <a:t>秋天播种，越冬后来年春末夏初收获</a:t>
            </a:r>
            <a:r>
              <a:rPr lang="zh-CN" altLang="zh-CN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zh-CN" dirty="0">
                <a:solidFill>
                  <a:srgbClr val="FF0000"/>
                </a:solidFill>
              </a:rPr>
              <a:t>分）。</a:t>
            </a:r>
          </a:p>
        </p:txBody>
      </p:sp>
    </p:spTree>
    <p:extLst>
      <p:ext uri="{BB962C8B-B14F-4D97-AF65-F5344CB8AC3E}">
        <p14:creationId xmlns:p14="http://schemas.microsoft.com/office/powerpoint/2010/main" xmlns="" val="3862444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18D40142-0814-45FE-A13E-BB39AA1695C9}"/>
              </a:ext>
            </a:extLst>
          </p:cNvPr>
          <p:cNvSpPr txBox="1"/>
          <p:nvPr/>
        </p:nvSpPr>
        <p:spPr>
          <a:xfrm>
            <a:off x="0" y="0"/>
            <a:ext cx="121920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l" fontAlgn="ctr">
              <a:lnSpc>
                <a:spcPct val="150000"/>
              </a:lnSpc>
            </a:pPr>
            <a:r>
              <a:rPr lang="zh-CN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油菜是我国最为重要的油料作物，种植面积世界第一，集观赏、蜜源等于一身。油菜茎叶可消肿解毒，种子可活血化瘀、降血脂、宽肠通便，花粉可护肝排毒，具有防癌、抗癌等功效。油菜耐贫瘠、可肥田。目前，我国油菜生产主要是手工操作，整地、育苗、移栽、除草、施肥、收割、脱粒等生产环节需要投入大量劳动力。油菜成熟后易裂荚，难以机械化收割。青海和长江流域是我国两个重要</a:t>
            </a:r>
            <a:r>
              <a:rPr lang="zh-CN" altLang="zh-CN" sz="2000" kern="100" dirty="0"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的油菜种植基地，但两地花期有很大的差异，青海油菜</a:t>
            </a:r>
            <a:r>
              <a:rPr lang="en-US" altLang="zh-CN" sz="2000" kern="100" dirty="0"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7</a:t>
            </a:r>
            <a:r>
              <a:rPr lang="zh-CN" altLang="zh-CN" sz="2000" kern="100" dirty="0"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月初开花，长江流域油菜</a:t>
            </a:r>
            <a:r>
              <a:rPr lang="en-US" altLang="zh-CN" sz="2000" kern="100" dirty="0"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3</a:t>
            </a:r>
            <a:r>
              <a:rPr lang="zh-CN" altLang="zh-CN" sz="2000" kern="100" dirty="0"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月上旬开花。如图为我国油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菜优势种植区域分布示意图。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" name="图片 3" descr="figure">
            <a:extLst>
              <a:ext uri="{FF2B5EF4-FFF2-40B4-BE49-F238E27FC236}">
                <a16:creationId xmlns:a16="http://schemas.microsoft.com/office/drawing/2014/main" xmlns="" id="{F29FD725-1642-40E5-ABDB-C7DE712550D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618073"/>
            <a:ext cx="7064943" cy="423992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A0685351-C4A6-489D-831E-89E89BCADDAD}"/>
              </a:ext>
            </a:extLst>
          </p:cNvPr>
          <p:cNvSpPr txBox="1"/>
          <p:nvPr/>
        </p:nvSpPr>
        <p:spPr>
          <a:xfrm>
            <a:off x="4543124" y="2505670"/>
            <a:ext cx="7575082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fontAlgn="ctr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请说明与长江流域油菜开花时间相比，青海油菜开花较晚的原因。（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分）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A1049631-6D47-4E04-B338-8184F582F8D0}"/>
              </a:ext>
            </a:extLst>
          </p:cNvPr>
          <p:cNvSpPr txBox="1"/>
          <p:nvPr/>
        </p:nvSpPr>
        <p:spPr>
          <a:xfrm>
            <a:off x="4812631" y="4015748"/>
            <a:ext cx="66991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>
              <a:lnSpc>
                <a:spcPct val="150000"/>
              </a:lnSpc>
            </a:pPr>
            <a:r>
              <a:rPr lang="zh-CN" altLang="zh-CN" dirty="0">
                <a:solidFill>
                  <a:srgbClr val="FF0000"/>
                </a:solidFill>
              </a:rPr>
              <a:t>青海油菜种植区纬度高，气温较长江流域回升慢（</a:t>
            </a:r>
            <a:r>
              <a:rPr lang="en-US" altLang="zh-CN" dirty="0">
                <a:solidFill>
                  <a:srgbClr val="FF0000"/>
                </a:solidFill>
              </a:rPr>
              <a:t>4</a:t>
            </a:r>
            <a:r>
              <a:rPr lang="zh-CN" altLang="zh-CN" dirty="0">
                <a:solidFill>
                  <a:srgbClr val="FF0000"/>
                </a:solidFill>
              </a:rPr>
              <a:t>分）；</a:t>
            </a:r>
            <a:endParaRPr lang="en-US" altLang="zh-CN" dirty="0">
              <a:solidFill>
                <a:srgbClr val="FF0000"/>
              </a:solidFill>
            </a:endParaRPr>
          </a:p>
          <a:p>
            <a:pPr algn="l" fontAlgn="ctr">
              <a:lnSpc>
                <a:spcPct val="150000"/>
              </a:lnSpc>
            </a:pPr>
            <a:r>
              <a:rPr lang="zh-CN" altLang="zh-CN" dirty="0">
                <a:solidFill>
                  <a:srgbClr val="FF0000"/>
                </a:solidFill>
              </a:rPr>
              <a:t>青海位于青藏高原地区，海拔高，气温较长江流域低（</a:t>
            </a:r>
            <a:r>
              <a:rPr lang="en-US" altLang="zh-CN" dirty="0">
                <a:solidFill>
                  <a:srgbClr val="FF0000"/>
                </a:solidFill>
              </a:rPr>
              <a:t>4</a:t>
            </a:r>
            <a:r>
              <a:rPr lang="zh-CN" altLang="zh-CN" dirty="0">
                <a:solidFill>
                  <a:srgbClr val="FF0000"/>
                </a:solidFill>
              </a:rPr>
              <a:t>分）。</a:t>
            </a:r>
          </a:p>
        </p:txBody>
      </p:sp>
    </p:spTree>
    <p:extLst>
      <p:ext uri="{BB962C8B-B14F-4D97-AF65-F5344CB8AC3E}">
        <p14:creationId xmlns:p14="http://schemas.microsoft.com/office/powerpoint/2010/main" xmlns="" val="3856502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18D40142-0814-45FE-A13E-BB39AA1695C9}"/>
              </a:ext>
            </a:extLst>
          </p:cNvPr>
          <p:cNvSpPr txBox="1"/>
          <p:nvPr/>
        </p:nvSpPr>
        <p:spPr>
          <a:xfrm>
            <a:off x="0" y="0"/>
            <a:ext cx="121920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l" fontAlgn="ctr">
              <a:lnSpc>
                <a:spcPct val="150000"/>
              </a:lnSpc>
            </a:pPr>
            <a:r>
              <a:rPr lang="zh-CN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油菜是我国最为重要的油料作物，种植面积世界第一，集观赏、蜜源等于一身。油菜茎叶可消肿解毒，种子可活血化瘀、降血脂、宽肠通便，花粉可护肝排毒，具有防癌、抗癌等功效。油菜耐贫瘠、可肥田。目前，我国油菜生产主要是手工操作，整地、育苗、移栽、除草、施肥、收割、脱粒等生产环节需要投入大量劳动力。油菜成熟后易裂荚，难以机械化收割。青海和长江流域是我国两个重要</a:t>
            </a:r>
            <a:r>
              <a:rPr lang="zh-CN" altLang="zh-CN" sz="2000" kern="100" dirty="0"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的油菜种植基地，但两地花期有很大的差异，青海油菜</a:t>
            </a:r>
            <a:r>
              <a:rPr lang="en-US" altLang="zh-CN" sz="2000" kern="100" dirty="0"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7</a:t>
            </a:r>
            <a:r>
              <a:rPr lang="zh-CN" altLang="zh-CN" sz="2000" kern="100" dirty="0"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月初开花，长江流域油菜</a:t>
            </a:r>
            <a:r>
              <a:rPr lang="en-US" altLang="zh-CN" sz="2000" kern="100" dirty="0"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3</a:t>
            </a:r>
            <a:r>
              <a:rPr lang="zh-CN" altLang="zh-CN" sz="2000" kern="100" dirty="0"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月上旬开花。如图为我国油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菜优势种植区域分布示意图。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" name="图片 3" descr="figure">
            <a:extLst>
              <a:ext uri="{FF2B5EF4-FFF2-40B4-BE49-F238E27FC236}">
                <a16:creationId xmlns:a16="http://schemas.microsoft.com/office/drawing/2014/main" xmlns="" id="{F29FD725-1642-40E5-ABDB-C7DE712550D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618073"/>
            <a:ext cx="7064943" cy="423992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A0685351-C4A6-489D-831E-89E89BCADDAD}"/>
              </a:ext>
            </a:extLst>
          </p:cNvPr>
          <p:cNvSpPr txBox="1"/>
          <p:nvPr/>
        </p:nvSpPr>
        <p:spPr>
          <a:xfrm>
            <a:off x="4543124" y="2505670"/>
            <a:ext cx="757508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fontAlgn="ctr">
              <a:lnSpc>
                <a:spcPct val="150000"/>
              </a:lnSpc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3.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说明我国内蒙古、甘肃油菜种植区的有利自然条件。（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分）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3B83DFAA-7ADA-4125-BEF5-04246DD042DF}"/>
              </a:ext>
            </a:extLst>
          </p:cNvPr>
          <p:cNvSpPr txBox="1"/>
          <p:nvPr/>
        </p:nvSpPr>
        <p:spPr>
          <a:xfrm>
            <a:off x="4543123" y="3187899"/>
            <a:ext cx="7648877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lnSpc>
                <a:spcPct val="150000"/>
              </a:lnSpc>
              <a:defRPr>
                <a:solidFill>
                  <a:srgbClr val="FF0000"/>
                </a:solidFill>
              </a:defRPr>
            </a:lvl1pPr>
          </a:lstStyle>
          <a:p>
            <a:r>
              <a:rPr lang="zh-CN" altLang="zh-CN" dirty="0" smtClean="0"/>
              <a:t>晴天</a:t>
            </a:r>
            <a:r>
              <a:rPr lang="zh-CN" altLang="zh-CN" dirty="0"/>
              <a:t>多，日照强，昼夜温差大，有利于油菜养分积累（</a:t>
            </a:r>
            <a:r>
              <a:rPr lang="en-US" altLang="zh-CN" dirty="0"/>
              <a:t>4</a:t>
            </a:r>
            <a:r>
              <a:rPr lang="zh-CN" altLang="zh-CN" dirty="0"/>
              <a:t>分）</a:t>
            </a:r>
            <a:r>
              <a:rPr lang="zh-CN" altLang="zh-CN" dirty="0" smtClean="0"/>
              <a:t>；</a:t>
            </a:r>
            <a:endParaRPr lang="en-US" altLang="zh-CN" dirty="0" smtClean="0"/>
          </a:p>
          <a:p>
            <a:r>
              <a:rPr lang="zh-CN" altLang="zh-CN" dirty="0" smtClean="0"/>
              <a:t>生长期</a:t>
            </a:r>
            <a:r>
              <a:rPr lang="zh-CN" altLang="zh-CN" dirty="0"/>
              <a:t>长，菜籽含油量高（</a:t>
            </a:r>
            <a:r>
              <a:rPr lang="en-US" altLang="zh-CN" dirty="0"/>
              <a:t>4</a:t>
            </a:r>
            <a:r>
              <a:rPr lang="zh-CN" altLang="zh-CN" dirty="0"/>
              <a:t>分）</a:t>
            </a:r>
            <a:r>
              <a:rPr lang="zh-CN" altLang="zh-CN" dirty="0" smtClean="0"/>
              <a:t>；</a:t>
            </a:r>
            <a:endParaRPr lang="en-US" altLang="zh-CN" dirty="0" smtClean="0"/>
          </a:p>
          <a:p>
            <a:r>
              <a:rPr lang="zh-CN" altLang="zh-CN" dirty="0" smtClean="0"/>
              <a:t>土地面积</a:t>
            </a:r>
            <a:r>
              <a:rPr lang="zh-CN" altLang="zh-CN" dirty="0"/>
              <a:t>广，种植区地形较为平坦（</a:t>
            </a:r>
            <a:r>
              <a:rPr lang="en-US" altLang="zh-CN" dirty="0"/>
              <a:t>4</a:t>
            </a:r>
            <a:r>
              <a:rPr lang="zh-CN" altLang="zh-CN" dirty="0"/>
              <a:t>分）。</a:t>
            </a:r>
          </a:p>
        </p:txBody>
      </p:sp>
      <p:sp>
        <p:nvSpPr>
          <p:cNvPr id="6" name="矩形 5"/>
          <p:cNvSpPr/>
          <p:nvPr/>
        </p:nvSpPr>
        <p:spPr>
          <a:xfrm>
            <a:off x="4586852" y="4753820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0033CC"/>
                </a:solidFill>
              </a:rPr>
              <a:t>纬度高、冬季寒冷，病虫害少。</a:t>
            </a:r>
            <a:endParaRPr lang="zh-CN" altLang="en-US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31426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18D40142-0814-45FE-A13E-BB39AA1695C9}"/>
              </a:ext>
            </a:extLst>
          </p:cNvPr>
          <p:cNvSpPr txBox="1"/>
          <p:nvPr/>
        </p:nvSpPr>
        <p:spPr>
          <a:xfrm>
            <a:off x="0" y="0"/>
            <a:ext cx="121920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l" fontAlgn="ctr">
              <a:lnSpc>
                <a:spcPct val="150000"/>
              </a:lnSpc>
            </a:pPr>
            <a:r>
              <a:rPr lang="zh-CN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油菜是我国最为重要的</a:t>
            </a:r>
            <a:r>
              <a:rPr lang="zh-CN" altLang="zh-CN" sz="2000" kern="1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油料作物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，种植面积世界第一，</a:t>
            </a:r>
            <a:r>
              <a:rPr lang="zh-CN" altLang="zh-CN" sz="2000" kern="1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集观赏、蜜源等于一身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。油菜茎叶可消肿解毒，种子可活血化瘀、降血脂、宽肠通便，花粉可护肝排毒，具有防癌、抗癌等</a:t>
            </a:r>
            <a:r>
              <a:rPr lang="zh-CN" altLang="zh-CN" sz="2000" kern="1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功效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。油菜</a:t>
            </a:r>
            <a:r>
              <a:rPr lang="zh-CN" altLang="zh-CN" sz="2000" kern="1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耐贫瘠、可肥田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。目前，我国油菜生产主要是</a:t>
            </a:r>
            <a:r>
              <a:rPr lang="zh-CN" altLang="zh-CN" sz="2000" kern="1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手工操作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，整地、育苗、移栽、除草、施肥、收割、脱粒等生产环节需要</a:t>
            </a:r>
            <a:r>
              <a:rPr lang="zh-CN" altLang="zh-CN" sz="2000" kern="1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投入大量劳动力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r>
              <a:rPr lang="zh-CN" altLang="zh-CN" sz="2000" kern="1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油菜成熟后易裂荚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，</a:t>
            </a:r>
            <a:r>
              <a:rPr lang="zh-CN" altLang="zh-CN" sz="2000" kern="1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难以机械化收割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。青海和长江流域是我国两个重要</a:t>
            </a:r>
            <a:r>
              <a:rPr lang="zh-CN" altLang="zh-CN" sz="2000" kern="100" dirty="0"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的油菜种植基地，但两地花期有很大的差异，青海油菜</a:t>
            </a:r>
            <a:r>
              <a:rPr lang="en-US" altLang="zh-CN" sz="2000" kern="100" dirty="0"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7</a:t>
            </a:r>
            <a:r>
              <a:rPr lang="zh-CN" altLang="zh-CN" sz="2000" kern="100" dirty="0"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月初开花，长江流域油菜</a:t>
            </a:r>
            <a:r>
              <a:rPr lang="en-US" altLang="zh-CN" sz="2000" kern="100" dirty="0"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3</a:t>
            </a:r>
            <a:r>
              <a:rPr lang="zh-CN" altLang="zh-CN" sz="2000" kern="100" dirty="0"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月上旬开花。如图为我国油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菜优势种植区域分布示意图。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" name="图片 3" descr="figure">
            <a:extLst>
              <a:ext uri="{FF2B5EF4-FFF2-40B4-BE49-F238E27FC236}">
                <a16:creationId xmlns:a16="http://schemas.microsoft.com/office/drawing/2014/main" xmlns="" id="{F29FD725-1642-40E5-ABDB-C7DE712550D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618073"/>
            <a:ext cx="7064943" cy="423992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A0685351-C4A6-489D-831E-89E89BCADDAD}"/>
              </a:ext>
            </a:extLst>
          </p:cNvPr>
          <p:cNvSpPr txBox="1"/>
          <p:nvPr/>
        </p:nvSpPr>
        <p:spPr>
          <a:xfrm>
            <a:off x="4543124" y="2505670"/>
            <a:ext cx="757508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）试提出提高油菜</a:t>
            </a:r>
            <a:r>
              <a:rPr lang="zh-CN" altLang="zh-CN" sz="1800" kern="1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种植效益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的可行性措施。（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分）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3B83DFAA-7ADA-4125-BEF5-04246DD042DF}"/>
              </a:ext>
            </a:extLst>
          </p:cNvPr>
          <p:cNvSpPr txBox="1"/>
          <p:nvPr/>
        </p:nvSpPr>
        <p:spPr>
          <a:xfrm>
            <a:off x="4742428" y="3096659"/>
            <a:ext cx="7648877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lnSpc>
                <a:spcPct val="150000"/>
              </a:lnSpc>
              <a:defRPr>
                <a:solidFill>
                  <a:srgbClr val="FF0000"/>
                </a:solidFill>
              </a:defRPr>
            </a:lvl1pPr>
          </a:lstStyle>
          <a:p>
            <a:r>
              <a:rPr lang="zh-CN" altLang="zh-CN" sz="1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发展观光农业；</a:t>
            </a:r>
            <a:endParaRPr lang="en-US" altLang="zh-CN" sz="1800" kern="1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sz="1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推广蜂业养殖；</a:t>
            </a:r>
            <a:endParaRPr lang="en-US" altLang="zh-CN" sz="1800" kern="1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sz="1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研发药用、保健产品；</a:t>
            </a:r>
            <a:endParaRPr lang="en-US" altLang="zh-CN" sz="1800" kern="1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sz="1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培育良种；</a:t>
            </a:r>
            <a:endParaRPr lang="en-US" altLang="zh-CN" sz="1800" kern="1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sz="1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研制耕作、收获农机，推广机械化，提高生产效率。（任答</a:t>
            </a:r>
            <a:r>
              <a:rPr lang="en-US" altLang="zh-CN" sz="1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zh-CN" sz="1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点，</a:t>
            </a:r>
            <a:r>
              <a:rPr lang="en-US" altLang="zh-CN" sz="1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zh-CN" altLang="zh-CN" sz="1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分）</a:t>
            </a:r>
            <a:endParaRPr lang="zh-CN" altLang="zh-CN" dirty="0"/>
          </a:p>
        </p:txBody>
      </p:sp>
      <p:sp>
        <p:nvSpPr>
          <p:cNvPr id="6" name="文本框 7">
            <a:extLst>
              <a:ext uri="{FF2B5EF4-FFF2-40B4-BE49-F238E27FC236}">
                <a16:creationId xmlns:a16="http://schemas.microsoft.com/office/drawing/2014/main" xmlns="" id="{3B83DFAA-7ADA-4125-BEF5-04246DD042DF}"/>
              </a:ext>
            </a:extLst>
          </p:cNvPr>
          <p:cNvSpPr txBox="1"/>
          <p:nvPr/>
        </p:nvSpPr>
        <p:spPr>
          <a:xfrm>
            <a:off x="4771456" y="5389917"/>
            <a:ext cx="764887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lnSpc>
                <a:spcPct val="150000"/>
              </a:lnSpc>
              <a:defRPr>
                <a:solidFill>
                  <a:srgbClr val="FF0000"/>
                </a:solidFill>
              </a:defRPr>
            </a:lvl1pPr>
          </a:lstStyle>
          <a:p>
            <a:r>
              <a:rPr lang="zh-CN" altLang="en-US" dirty="0" smtClean="0">
                <a:solidFill>
                  <a:srgbClr val="0033CC"/>
                </a:solidFill>
              </a:rPr>
              <a:t>发展油料深加工产业，提高产品附加值。</a:t>
            </a:r>
            <a:endParaRPr lang="zh-CN" altLang="zh-CN" dirty="0">
              <a:solidFill>
                <a:srgbClr val="0033CC"/>
              </a:solidFill>
            </a:endParaRPr>
          </a:p>
        </p:txBody>
      </p:sp>
      <p:pic>
        <p:nvPicPr>
          <p:cNvPr id="1843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3060" y="624114"/>
            <a:ext cx="11701342" cy="58057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260064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1396</Words>
  <Application>Microsoft Office PowerPoint</Application>
  <PresentationFormat>自定义</PresentationFormat>
  <Paragraphs>61</Paragraphs>
  <Slides>8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0" baseType="lpstr">
      <vt:lpstr>Office 主题​​</vt:lpstr>
      <vt:lpstr>Microsoft Office PowerPoint 97-2003 演示文稿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江 周祥</dc:creator>
  <cp:lastModifiedBy>Administrator</cp:lastModifiedBy>
  <cp:revision>14</cp:revision>
  <dcterms:created xsi:type="dcterms:W3CDTF">2020-12-03T11:38:11Z</dcterms:created>
  <dcterms:modified xsi:type="dcterms:W3CDTF">2020-12-04T02:51:27Z</dcterms:modified>
</cp:coreProperties>
</file>