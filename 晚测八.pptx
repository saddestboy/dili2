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2020-11-27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188640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西太平洋副高是副热带高气压带保留在太平洋的一部分，其位置变化和势力强弱对我国的夏季风有重要影响。下图示意我国不同区域受夏季风影响时段（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5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天为一候）。据此完成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4-5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9217" name="图片 278724202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40768"/>
            <a:ext cx="5440907" cy="2971800"/>
          </a:xfrm>
          <a:prstGeom prst="rect">
            <a:avLst/>
          </a:prstGeom>
          <a:noFill/>
        </p:spPr>
      </p:pic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0" y="4797152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81150" algn="l"/>
                <a:tab pos="2905125" algn="l"/>
                <a:tab pos="42862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根据图中信息可以判断甲、乙两地的（   ）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81150" algn="l"/>
                <a:tab pos="2905125" algn="l"/>
                <a:tab pos="42862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海拔差异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纬度差异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	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海陆差异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风向差异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81150" algn="l"/>
                <a:tab pos="2905125" algn="l"/>
                <a:tab pos="42862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以下四个年份中，西太平洋副高北移最早的是（   ）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81150" algn="l"/>
                <a:tab pos="2905125" algn="l"/>
                <a:tab pos="42862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1999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年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2001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年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	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2005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年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	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2006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年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5796136" y="1340768"/>
            <a:ext cx="334786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夏季风最先从我国南方登陆，依次向北推移；消失时从北向南撤退，北方受夏季风影响时间短，南方受夏季风影响时间长。读图可知，在各年份中，甲地受夏季影响均早于乙地，因此甲地位于乙地以南，即纬度较低，因此根据图中信息可以判断甲、乙两地纬度差异，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符合题意；图中信息判断不出甲、乙两地海拔、海陆和风向的差异，排除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。故选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5.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材料信息表明，西太平洋副高是副热带高气压带保留在太平洋的一部分，其位置变化和势力强弱对我国的夏季风有重要影响。读图可知，在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1999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年、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2001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年、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2004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年、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2006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年中，甲地最早受夏季风影响的日期分别约为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30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15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20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15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日，乙地最早受夏季风影响的日期分别约为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25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20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日，综合起来，四个年份中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2006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年夏季风开始影响我国甲、乙两地的时间最早，说明西太平洋副热带高压北移最早，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符合题意，排除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。故选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19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193" name="图片 1827995096"/>
          <p:cNvPicPr>
            <a:picLocks noChangeAspect="1" noChangeArrowheads="1"/>
          </p:cNvPicPr>
          <p:nvPr/>
        </p:nvPicPr>
        <p:blipFill>
          <a:blip r:embed="rId2" cstate="print">
            <a:lum bright="-54000" contrast="70000"/>
          </a:blip>
          <a:srcRect/>
          <a:stretch>
            <a:fillRect/>
          </a:stretch>
        </p:blipFill>
        <p:spPr bwMode="auto">
          <a:xfrm>
            <a:off x="0" y="3573016"/>
            <a:ext cx="5409924" cy="3284984"/>
          </a:xfrm>
          <a:prstGeom prst="rect">
            <a:avLst/>
          </a:prstGeom>
          <a:noFill/>
        </p:spPr>
      </p:pic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负积温是冬季日平均气温小于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0℃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的累加，是重要的农业气候生态据标之一。一个地区负积温的高低，制约着当地农作物和果树的安全越冬，影响农业病虫害的发生蔓延和农药施用量。下图示意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1961-2008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年我国北方局部地区负积温空间分布。据此完成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6-7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影响图示陆地区域负积温值东西差异的主导因素是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(  )</a:t>
            </a: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纬度位置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距海远近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地形地势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大气环流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．甲地负积温等值线明显弯曲可能给当地带来的影响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(  )</a:t>
            </a: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．缩短农作物生长周期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         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．利于果树的安全越冬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．减少农药使用量              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．改变耕作制度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5724128" y="4003993"/>
            <a:ext cx="341987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读图分析可知，同纬度西部负积温等值线南凸，说明其西部较东部冷，主要是由于东部华北平原地形平坦，地势低，西部黄土高原，地势高。据此分析结合选项选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ce"/>
              </a:rPr>
              <a:t>C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ce"/>
              </a:rPr>
              <a:t>。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甲处负积温等值线向高值凸出，说明该处负积温值较同纬度偏低，积温低，会导致农作物生长周期延长，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ce"/>
              </a:rPr>
              <a:t>A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错误；积温低，农作物和果树容易遭受冻害，不利于安全越冬，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ce"/>
              </a:rPr>
              <a:t>B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错；因气温低，病虫害少，农药使用量下降，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ce"/>
              </a:rPr>
              <a:t>C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对；等值线的弯曲不会改变耕作制度，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ce"/>
              </a:rPr>
              <a:t>D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错。据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此分析选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2687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19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55679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X2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83568" y="0"/>
            <a:ext cx="8280078" cy="646331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 smtClean="0">
                <a:latin typeface="华文琥珀" pitchFamily="2" charset="-122"/>
                <a:ea typeface="华文琥珀" pitchFamily="2" charset="-122"/>
              </a:rPr>
              <a:t>等温线</a:t>
            </a:r>
            <a:r>
              <a:rPr lang="zh-CN" altLang="en-US" sz="3600" b="1" dirty="0">
                <a:latin typeface="华文琥珀" pitchFamily="2" charset="-122"/>
                <a:ea typeface="华文琥珀" pitchFamily="2" charset="-122"/>
              </a:rPr>
              <a:t>的分布和走向规律及其影响因素</a:t>
            </a:r>
          </a:p>
        </p:txBody>
      </p:sp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087" y="881038"/>
            <a:ext cx="28892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7452320" y="2492896"/>
            <a:ext cx="1435100" cy="492125"/>
          </a:xfrm>
          <a:prstGeom prst="rect">
            <a:avLst/>
          </a:prstGeom>
          <a:noFill/>
          <a:ln w="349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北半球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179512" y="620688"/>
            <a:ext cx="693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400" b="1"/>
              <a:t>①</a:t>
            </a:r>
            <a:r>
              <a:rPr lang="zh-CN" altLang="en-US" sz="2400" b="1"/>
              <a:t>某地区等温线的走向大致与纬线延伸方向一致</a:t>
            </a:r>
            <a:r>
              <a:rPr lang="zh-CN" altLang="en-US" sz="2400"/>
              <a:t> </a:t>
            </a:r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395412" y="1305090"/>
            <a:ext cx="8839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sz="3200" b="1" dirty="0">
                <a:ea typeface="楷体_GB2312" pitchFamily="49" charset="-122"/>
              </a:rPr>
              <a:t>影响因素：</a:t>
            </a: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太阳辐射由低纬向</a:t>
            </a:r>
          </a:p>
          <a:p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                    </a:t>
            </a:r>
            <a:r>
              <a:rPr lang="zh-CN" altLang="en-US" sz="3200" b="1" dirty="0" smtClean="0">
                <a:solidFill>
                  <a:srgbClr val="FF3300"/>
                </a:solidFill>
                <a:ea typeface="楷体_GB2312" pitchFamily="49" charset="-122"/>
              </a:rPr>
              <a:t>   高</a:t>
            </a: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纬递减</a:t>
            </a:r>
          </a:p>
          <a:p>
            <a:r>
              <a:rPr lang="zh-CN" altLang="en-US" sz="3200" b="1" dirty="0">
                <a:solidFill>
                  <a:srgbClr val="FF3300"/>
                </a:solidFill>
                <a:ea typeface="华文行楷" pitchFamily="2" charset="-122"/>
              </a:rPr>
              <a:t>                  </a:t>
            </a:r>
            <a:r>
              <a:rPr lang="zh-CN" altLang="en-US" sz="3200" b="1" dirty="0" smtClean="0">
                <a:solidFill>
                  <a:srgbClr val="FF3300"/>
                </a:solidFill>
                <a:ea typeface="华文行楷" pitchFamily="2" charset="-122"/>
              </a:rPr>
              <a:t>  （纬度</a:t>
            </a:r>
            <a:r>
              <a:rPr lang="zh-CN" altLang="en-US" sz="3200" b="1" dirty="0">
                <a:solidFill>
                  <a:srgbClr val="FF3300"/>
                </a:solidFill>
                <a:ea typeface="华文行楷" pitchFamily="2" charset="-122"/>
              </a:rPr>
              <a:t>差异）</a:t>
            </a: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251520" y="3140968"/>
            <a:ext cx="5327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 ②</a:t>
            </a:r>
            <a:r>
              <a:rPr lang="zh-CN" altLang="en-US" sz="2400" b="1" dirty="0"/>
              <a:t>某地区等温线大致与海岸线平行， </a:t>
            </a:r>
          </a:p>
        </p:txBody>
      </p:sp>
      <p:pic>
        <p:nvPicPr>
          <p:cNvPr id="12303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5963" y="3810000"/>
            <a:ext cx="2895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611560" y="3933056"/>
            <a:ext cx="5060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ea typeface="楷体_GB2312" pitchFamily="49" charset="-122"/>
              </a:rPr>
              <a:t>影响因素：</a:t>
            </a: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受</a:t>
            </a:r>
            <a:r>
              <a:rPr lang="zh-CN" altLang="en-US" sz="3200" b="1" dirty="0">
                <a:solidFill>
                  <a:srgbClr val="FF3300"/>
                </a:solidFill>
                <a:ea typeface="华文行楷" pitchFamily="2" charset="-122"/>
              </a:rPr>
              <a:t>海陆分布影响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  <p:bldP spid="12299" grpId="0" animBg="1"/>
      <p:bldP spid="12300" grpId="0"/>
      <p:bldP spid="12301" grpId="0"/>
      <p:bldP spid="12302" grpId="0"/>
      <p:bldP spid="123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323850" y="333375"/>
            <a:ext cx="73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400" b="1"/>
              <a:t>③</a:t>
            </a:r>
            <a:r>
              <a:rPr lang="zh-CN" altLang="en-US" sz="2400" b="1"/>
              <a:t>等温线与等高线平行或与山脉走向平行：</a:t>
            </a:r>
          </a:p>
        </p:txBody>
      </p:sp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0"/>
            <a:ext cx="3048000" cy="307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755650" y="1125538"/>
            <a:ext cx="51117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sz="3200" b="1">
                <a:ea typeface="楷体_GB2312" pitchFamily="49" charset="-122"/>
              </a:rPr>
              <a:t>影响因素：</a:t>
            </a:r>
            <a:r>
              <a:rPr lang="zh-CN" altLang="en-US" sz="3200" b="1">
                <a:solidFill>
                  <a:srgbClr val="FF3300"/>
                </a:solidFill>
                <a:ea typeface="楷体_GB2312" pitchFamily="49" charset="-122"/>
              </a:rPr>
              <a:t>受地形的影响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395288" y="1700213"/>
            <a:ext cx="46085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④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827088" y="1773238"/>
            <a:ext cx="4029075" cy="2641600"/>
            <a:chOff x="1020" y="1872"/>
            <a:chExt cx="4057" cy="2240"/>
          </a:xfrm>
        </p:grpSpPr>
        <p:sp>
          <p:nvSpPr>
            <p:cNvPr id="13347" name="Rectangle 35"/>
            <p:cNvSpPr>
              <a:spLocks noChangeArrowheads="1"/>
            </p:cNvSpPr>
            <p:nvPr/>
          </p:nvSpPr>
          <p:spPr bwMode="auto">
            <a:xfrm>
              <a:off x="1020" y="1888"/>
              <a:ext cx="3810" cy="2116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8" name="Line 36"/>
            <p:cNvSpPr>
              <a:spLocks noChangeShapeType="1"/>
            </p:cNvSpPr>
            <p:nvPr/>
          </p:nvSpPr>
          <p:spPr bwMode="auto">
            <a:xfrm>
              <a:off x="2372" y="1888"/>
              <a:ext cx="0" cy="211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37"/>
            <p:cNvGrpSpPr>
              <a:grpSpLocks/>
            </p:cNvGrpSpPr>
            <p:nvPr/>
          </p:nvGrpSpPr>
          <p:grpSpPr bwMode="auto">
            <a:xfrm>
              <a:off x="1056" y="1872"/>
              <a:ext cx="4021" cy="2124"/>
              <a:chOff x="1066" y="1752"/>
              <a:chExt cx="4021" cy="2124"/>
            </a:xfrm>
          </p:grpSpPr>
          <p:sp>
            <p:nvSpPr>
              <p:cNvPr id="13350" name="Rectangle 38"/>
              <p:cNvSpPr>
                <a:spLocks noChangeArrowheads="1"/>
              </p:cNvSpPr>
              <p:nvPr/>
            </p:nvSpPr>
            <p:spPr bwMode="auto">
              <a:xfrm>
                <a:off x="1066" y="1752"/>
                <a:ext cx="3810" cy="2116"/>
              </a:xfrm>
              <a:prstGeom prst="rect">
                <a:avLst/>
              </a:prstGeom>
              <a:gradFill rotWithShape="1">
                <a:gsLst>
                  <a:gs pos="0">
                    <a:srgbClr val="347832"/>
                  </a:gs>
                  <a:gs pos="100000">
                    <a:srgbClr val="9EE50F"/>
                  </a:gs>
                </a:gsLst>
                <a:lin ang="0" scaled="1"/>
              </a:gradFill>
              <a:ln w="3810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zh-CN" altLang="zh-CN"/>
              </a:p>
            </p:txBody>
          </p:sp>
          <p:sp>
            <p:nvSpPr>
              <p:cNvPr id="13351" name="Text Box 39"/>
              <p:cNvSpPr txBox="1">
                <a:spLocks noChangeArrowheads="1"/>
              </p:cNvSpPr>
              <p:nvPr/>
            </p:nvSpPr>
            <p:spPr bwMode="auto">
              <a:xfrm>
                <a:off x="3969" y="3385"/>
                <a:ext cx="1118" cy="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3200" b="1" i="1"/>
                  <a:t>平 原</a:t>
                </a:r>
              </a:p>
            </p:txBody>
          </p:sp>
          <p:sp>
            <p:nvSpPr>
              <p:cNvPr id="13352" name="Text Box 40"/>
              <p:cNvSpPr txBox="1">
                <a:spLocks noChangeArrowheads="1"/>
              </p:cNvSpPr>
              <p:nvPr/>
            </p:nvSpPr>
            <p:spPr bwMode="auto">
              <a:xfrm>
                <a:off x="4188" y="3051"/>
                <a:ext cx="836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400" b="1">
                    <a:solidFill>
                      <a:srgbClr val="FF0000"/>
                    </a:solidFill>
                  </a:rPr>
                  <a:t>12℃</a:t>
                </a:r>
              </a:p>
            </p:txBody>
          </p:sp>
          <p:sp>
            <p:nvSpPr>
              <p:cNvPr id="13353" name="Text Box 41"/>
              <p:cNvSpPr txBox="1">
                <a:spLocks noChangeArrowheads="1"/>
              </p:cNvSpPr>
              <p:nvPr/>
            </p:nvSpPr>
            <p:spPr bwMode="auto">
              <a:xfrm>
                <a:off x="4105" y="2294"/>
                <a:ext cx="836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400" b="1">
                    <a:solidFill>
                      <a:srgbClr val="FF0000"/>
                    </a:solidFill>
                  </a:rPr>
                  <a:t>10℃</a:t>
                </a:r>
              </a:p>
            </p:txBody>
          </p:sp>
          <p:sp>
            <p:nvSpPr>
              <p:cNvPr id="13354" name="Text Box 42"/>
              <p:cNvSpPr txBox="1">
                <a:spLocks noChangeArrowheads="1"/>
              </p:cNvSpPr>
              <p:nvPr/>
            </p:nvSpPr>
            <p:spPr bwMode="auto">
              <a:xfrm>
                <a:off x="4150" y="1888"/>
                <a:ext cx="665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400" b="1">
                    <a:solidFill>
                      <a:srgbClr val="FF0000"/>
                    </a:solidFill>
                  </a:rPr>
                  <a:t>8℃</a:t>
                </a:r>
              </a:p>
            </p:txBody>
          </p:sp>
          <p:sp>
            <p:nvSpPr>
              <p:cNvPr id="13355" name="Freeform 43"/>
              <p:cNvSpPr>
                <a:spLocks/>
              </p:cNvSpPr>
              <p:nvPr/>
            </p:nvSpPr>
            <p:spPr bwMode="auto">
              <a:xfrm>
                <a:off x="1066" y="1752"/>
                <a:ext cx="1825" cy="2112"/>
              </a:xfrm>
              <a:custGeom>
                <a:avLst/>
                <a:gdLst/>
                <a:ahLst/>
                <a:cxnLst>
                  <a:cxn ang="0">
                    <a:pos x="1750" y="0"/>
                  </a:cxn>
                  <a:cxn ang="0">
                    <a:pos x="1694" y="152"/>
                  </a:cxn>
                  <a:cxn ang="0">
                    <a:pos x="1718" y="368"/>
                  </a:cxn>
                  <a:cxn ang="0">
                    <a:pos x="1726" y="392"/>
                  </a:cxn>
                  <a:cxn ang="0">
                    <a:pos x="1750" y="400"/>
                  </a:cxn>
                  <a:cxn ang="0">
                    <a:pos x="1790" y="424"/>
                  </a:cxn>
                  <a:cxn ang="0">
                    <a:pos x="1822" y="488"/>
                  </a:cxn>
                  <a:cxn ang="0">
                    <a:pos x="1710" y="760"/>
                  </a:cxn>
                  <a:cxn ang="0">
                    <a:pos x="1598" y="880"/>
                  </a:cxn>
                  <a:cxn ang="0">
                    <a:pos x="1590" y="1424"/>
                  </a:cxn>
                  <a:cxn ang="0">
                    <a:pos x="1574" y="1448"/>
                  </a:cxn>
                  <a:cxn ang="0">
                    <a:pos x="1622" y="1648"/>
                  </a:cxn>
                  <a:cxn ang="0">
                    <a:pos x="1566" y="1912"/>
                  </a:cxn>
                  <a:cxn ang="0">
                    <a:pos x="1494" y="1960"/>
                  </a:cxn>
                  <a:cxn ang="0">
                    <a:pos x="1422" y="2024"/>
                  </a:cxn>
                  <a:cxn ang="0">
                    <a:pos x="1382" y="2096"/>
                  </a:cxn>
                  <a:cxn ang="0">
                    <a:pos x="1374" y="2120"/>
                  </a:cxn>
                  <a:cxn ang="0">
                    <a:pos x="0" y="2120"/>
                  </a:cxn>
                  <a:cxn ang="0">
                    <a:pos x="0" y="8"/>
                  </a:cxn>
                  <a:cxn ang="0">
                    <a:pos x="1750" y="0"/>
                  </a:cxn>
                </a:cxnLst>
                <a:rect l="0" t="0" r="r" b="b"/>
                <a:pathLst>
                  <a:path w="1825" h="2120">
                    <a:moveTo>
                      <a:pt x="1750" y="0"/>
                    </a:moveTo>
                    <a:cubicBezTo>
                      <a:pt x="1739" y="55"/>
                      <a:pt x="1715" y="100"/>
                      <a:pt x="1694" y="152"/>
                    </a:cubicBezTo>
                    <a:cubicBezTo>
                      <a:pt x="1685" y="230"/>
                      <a:pt x="1683" y="299"/>
                      <a:pt x="1718" y="368"/>
                    </a:cubicBezTo>
                    <a:cubicBezTo>
                      <a:pt x="1722" y="376"/>
                      <a:pt x="1720" y="386"/>
                      <a:pt x="1726" y="392"/>
                    </a:cubicBezTo>
                    <a:cubicBezTo>
                      <a:pt x="1732" y="398"/>
                      <a:pt x="1742" y="396"/>
                      <a:pt x="1750" y="400"/>
                    </a:cubicBezTo>
                    <a:cubicBezTo>
                      <a:pt x="1764" y="407"/>
                      <a:pt x="1777" y="416"/>
                      <a:pt x="1790" y="424"/>
                    </a:cubicBezTo>
                    <a:cubicBezTo>
                      <a:pt x="1798" y="447"/>
                      <a:pt x="1821" y="464"/>
                      <a:pt x="1822" y="488"/>
                    </a:cubicBezTo>
                    <a:cubicBezTo>
                      <a:pt x="1825" y="568"/>
                      <a:pt x="1808" y="727"/>
                      <a:pt x="1710" y="760"/>
                    </a:cubicBezTo>
                    <a:cubicBezTo>
                      <a:pt x="1670" y="800"/>
                      <a:pt x="1624" y="827"/>
                      <a:pt x="1598" y="880"/>
                    </a:cubicBezTo>
                    <a:cubicBezTo>
                      <a:pt x="1595" y="1061"/>
                      <a:pt x="1598" y="1243"/>
                      <a:pt x="1590" y="1424"/>
                    </a:cubicBezTo>
                    <a:cubicBezTo>
                      <a:pt x="1590" y="1434"/>
                      <a:pt x="1574" y="1438"/>
                      <a:pt x="1574" y="1448"/>
                    </a:cubicBezTo>
                    <a:cubicBezTo>
                      <a:pt x="1580" y="1603"/>
                      <a:pt x="1569" y="1577"/>
                      <a:pt x="1622" y="1648"/>
                    </a:cubicBezTo>
                    <a:cubicBezTo>
                      <a:pt x="1613" y="1890"/>
                      <a:pt x="1659" y="1819"/>
                      <a:pt x="1566" y="1912"/>
                    </a:cubicBezTo>
                    <a:cubicBezTo>
                      <a:pt x="1541" y="1937"/>
                      <a:pt x="1529" y="1948"/>
                      <a:pt x="1494" y="1960"/>
                    </a:cubicBezTo>
                    <a:cubicBezTo>
                      <a:pt x="1439" y="2015"/>
                      <a:pt x="1465" y="1995"/>
                      <a:pt x="1422" y="2024"/>
                    </a:cubicBezTo>
                    <a:cubicBezTo>
                      <a:pt x="1407" y="2047"/>
                      <a:pt x="1394" y="2072"/>
                      <a:pt x="1382" y="2096"/>
                    </a:cubicBezTo>
                    <a:cubicBezTo>
                      <a:pt x="1378" y="2104"/>
                      <a:pt x="1374" y="2120"/>
                      <a:pt x="1374" y="2120"/>
                    </a:cubicBezTo>
                    <a:lnTo>
                      <a:pt x="0" y="2120"/>
                    </a:lnTo>
                    <a:lnTo>
                      <a:pt x="0" y="8"/>
                    </a:lnTo>
                    <a:lnTo>
                      <a:pt x="175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4603C"/>
                  </a:gs>
                  <a:gs pos="100000">
                    <a:srgbClr val="94603C">
                      <a:gamma/>
                      <a:tint val="54510"/>
                      <a:invGamma/>
                    </a:srgbClr>
                  </a:gs>
                </a:gsLst>
                <a:lin ang="0" scaled="1"/>
              </a:gradFill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" name="Text Box 44"/>
              <p:cNvSpPr txBox="1">
                <a:spLocks noChangeArrowheads="1"/>
              </p:cNvSpPr>
              <p:nvPr/>
            </p:nvSpPr>
            <p:spPr bwMode="auto">
              <a:xfrm>
                <a:off x="1202" y="1842"/>
                <a:ext cx="1117" cy="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3200" b="1" i="1"/>
                  <a:t>山 地</a:t>
                </a:r>
              </a:p>
            </p:txBody>
          </p:sp>
        </p:grpSp>
        <p:sp>
          <p:nvSpPr>
            <p:cNvPr id="13357" name="Text Box 45"/>
            <p:cNvSpPr txBox="1">
              <a:spLocks noChangeArrowheads="1"/>
            </p:cNvSpPr>
            <p:nvPr/>
          </p:nvSpPr>
          <p:spPr bwMode="auto">
            <a:xfrm>
              <a:off x="1313" y="2639"/>
              <a:ext cx="569" cy="1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 wrap="none">
              <a:spAutoFit/>
            </a:bodyPr>
            <a:lstStyle/>
            <a:p>
              <a:pPr eaLnBrk="0" hangingPunct="0"/>
              <a:r>
                <a:rPr lang="zh-CN" altLang="en-US" sz="2500" b="1"/>
                <a:t>气    温    低</a:t>
              </a:r>
            </a:p>
          </p:txBody>
        </p:sp>
        <p:grpSp>
          <p:nvGrpSpPr>
            <p:cNvPr id="4" name="Group 46"/>
            <p:cNvGrpSpPr>
              <a:grpSpLocks/>
            </p:cNvGrpSpPr>
            <p:nvPr/>
          </p:nvGrpSpPr>
          <p:grpSpPr bwMode="auto">
            <a:xfrm>
              <a:off x="1020" y="2159"/>
              <a:ext cx="3828" cy="1525"/>
              <a:chOff x="1020" y="2159"/>
              <a:chExt cx="3828" cy="1525"/>
            </a:xfrm>
          </p:grpSpPr>
          <p:sp>
            <p:nvSpPr>
              <p:cNvPr id="13359" name="Freeform 47"/>
              <p:cNvSpPr>
                <a:spLocks/>
              </p:cNvSpPr>
              <p:nvPr/>
            </p:nvSpPr>
            <p:spPr bwMode="auto">
              <a:xfrm>
                <a:off x="1020" y="2159"/>
                <a:ext cx="3828" cy="662"/>
              </a:xfrm>
              <a:custGeom>
                <a:avLst/>
                <a:gdLst/>
                <a:ahLst/>
                <a:cxnLst>
                  <a:cxn ang="0">
                    <a:pos x="0" y="111"/>
                  </a:cxn>
                  <a:cxn ang="0">
                    <a:pos x="635" y="655"/>
                  </a:cxn>
                  <a:cxn ang="0">
                    <a:pos x="1361" y="156"/>
                  </a:cxn>
                  <a:cxn ang="0">
                    <a:pos x="2586" y="20"/>
                  </a:cxn>
                  <a:cxn ang="0">
                    <a:pos x="3828" y="276"/>
                  </a:cxn>
                </a:cxnLst>
                <a:rect l="0" t="0" r="r" b="b"/>
                <a:pathLst>
                  <a:path w="3828" h="662">
                    <a:moveTo>
                      <a:pt x="0" y="111"/>
                    </a:moveTo>
                    <a:cubicBezTo>
                      <a:pt x="204" y="379"/>
                      <a:pt x="408" y="648"/>
                      <a:pt x="635" y="655"/>
                    </a:cubicBezTo>
                    <a:cubicBezTo>
                      <a:pt x="862" y="662"/>
                      <a:pt x="1036" y="262"/>
                      <a:pt x="1361" y="156"/>
                    </a:cubicBezTo>
                    <a:cubicBezTo>
                      <a:pt x="1686" y="50"/>
                      <a:pt x="2175" y="0"/>
                      <a:pt x="2586" y="20"/>
                    </a:cubicBezTo>
                    <a:cubicBezTo>
                      <a:pt x="2997" y="40"/>
                      <a:pt x="3569" y="223"/>
                      <a:pt x="3828" y="276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" name="Freeform 48"/>
              <p:cNvSpPr>
                <a:spLocks/>
              </p:cNvSpPr>
              <p:nvPr/>
            </p:nvSpPr>
            <p:spPr bwMode="auto">
              <a:xfrm>
                <a:off x="1020" y="2633"/>
                <a:ext cx="3828" cy="662"/>
              </a:xfrm>
              <a:custGeom>
                <a:avLst/>
                <a:gdLst/>
                <a:ahLst/>
                <a:cxnLst>
                  <a:cxn ang="0">
                    <a:pos x="0" y="111"/>
                  </a:cxn>
                  <a:cxn ang="0">
                    <a:pos x="635" y="655"/>
                  </a:cxn>
                  <a:cxn ang="0">
                    <a:pos x="1361" y="156"/>
                  </a:cxn>
                  <a:cxn ang="0">
                    <a:pos x="2586" y="20"/>
                  </a:cxn>
                  <a:cxn ang="0">
                    <a:pos x="3828" y="276"/>
                  </a:cxn>
                </a:cxnLst>
                <a:rect l="0" t="0" r="r" b="b"/>
                <a:pathLst>
                  <a:path w="3828" h="662">
                    <a:moveTo>
                      <a:pt x="0" y="111"/>
                    </a:moveTo>
                    <a:cubicBezTo>
                      <a:pt x="204" y="379"/>
                      <a:pt x="408" y="648"/>
                      <a:pt x="635" y="655"/>
                    </a:cubicBezTo>
                    <a:cubicBezTo>
                      <a:pt x="862" y="662"/>
                      <a:pt x="1036" y="262"/>
                      <a:pt x="1361" y="156"/>
                    </a:cubicBezTo>
                    <a:cubicBezTo>
                      <a:pt x="1686" y="50"/>
                      <a:pt x="2175" y="0"/>
                      <a:pt x="2586" y="20"/>
                    </a:cubicBezTo>
                    <a:cubicBezTo>
                      <a:pt x="2997" y="40"/>
                      <a:pt x="3569" y="223"/>
                      <a:pt x="3828" y="276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" name="Freeform 49"/>
              <p:cNvSpPr>
                <a:spLocks/>
              </p:cNvSpPr>
              <p:nvPr/>
            </p:nvSpPr>
            <p:spPr bwMode="auto">
              <a:xfrm>
                <a:off x="1020" y="3022"/>
                <a:ext cx="3828" cy="662"/>
              </a:xfrm>
              <a:custGeom>
                <a:avLst/>
                <a:gdLst/>
                <a:ahLst/>
                <a:cxnLst>
                  <a:cxn ang="0">
                    <a:pos x="0" y="111"/>
                  </a:cxn>
                  <a:cxn ang="0">
                    <a:pos x="635" y="655"/>
                  </a:cxn>
                  <a:cxn ang="0">
                    <a:pos x="1361" y="156"/>
                  </a:cxn>
                  <a:cxn ang="0">
                    <a:pos x="2586" y="20"/>
                  </a:cxn>
                  <a:cxn ang="0">
                    <a:pos x="3828" y="276"/>
                  </a:cxn>
                </a:cxnLst>
                <a:rect l="0" t="0" r="r" b="b"/>
                <a:pathLst>
                  <a:path w="3828" h="662">
                    <a:moveTo>
                      <a:pt x="0" y="111"/>
                    </a:moveTo>
                    <a:cubicBezTo>
                      <a:pt x="204" y="379"/>
                      <a:pt x="408" y="648"/>
                      <a:pt x="635" y="655"/>
                    </a:cubicBezTo>
                    <a:cubicBezTo>
                      <a:pt x="862" y="662"/>
                      <a:pt x="1036" y="262"/>
                      <a:pt x="1361" y="156"/>
                    </a:cubicBezTo>
                    <a:cubicBezTo>
                      <a:pt x="1686" y="50"/>
                      <a:pt x="2175" y="0"/>
                      <a:pt x="2586" y="20"/>
                    </a:cubicBezTo>
                    <a:cubicBezTo>
                      <a:pt x="2997" y="40"/>
                      <a:pt x="3569" y="223"/>
                      <a:pt x="3828" y="276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373" name="Text Box 61"/>
          <p:cNvSpPr txBox="1">
            <a:spLocks noChangeArrowheads="1"/>
          </p:cNvSpPr>
          <p:nvPr/>
        </p:nvSpPr>
        <p:spPr bwMode="auto">
          <a:xfrm>
            <a:off x="0" y="4392613"/>
            <a:ext cx="9144000" cy="246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某地区等温线向低纬凸出．说明气</a:t>
            </a:r>
          </a:p>
          <a:p>
            <a:pPr>
              <a:spcBef>
                <a:spcPct val="50000"/>
              </a:spcBef>
            </a:pPr>
            <a:r>
              <a:rPr lang="zh-CN" altLang="en-US" sz="2400" b="1"/>
              <a:t>温比同纬度低．若该地区在陆地上</a:t>
            </a:r>
          </a:p>
          <a:p>
            <a:pPr>
              <a:spcBef>
                <a:spcPct val="50000"/>
              </a:spcBef>
            </a:pPr>
            <a:r>
              <a:rPr lang="zh-CN" altLang="en-US" sz="2400" b="1"/>
              <a:t>则</a:t>
            </a:r>
            <a:r>
              <a:rPr lang="zh-CN" altLang="en-US" sz="2400" b="1">
                <a:solidFill>
                  <a:srgbClr val="FF0066"/>
                </a:solidFill>
              </a:rPr>
              <a:t>地势</a:t>
            </a:r>
            <a:r>
              <a:rPr lang="zh-CN" altLang="en-US" sz="2400" b="1"/>
              <a:t>较高，若该地区在海洋上则有</a:t>
            </a:r>
            <a:r>
              <a:rPr lang="zh-CN" altLang="en-US" sz="2400" b="1">
                <a:solidFill>
                  <a:srgbClr val="FF0066"/>
                </a:solidFill>
              </a:rPr>
              <a:t>寒流</a:t>
            </a:r>
            <a:r>
              <a:rPr lang="zh-CN" altLang="en-US" sz="2400" b="1"/>
              <a:t>经过；等温线向高纬凸出时正好相反．</a:t>
            </a:r>
          </a:p>
          <a:p>
            <a:pPr>
              <a:spcBef>
                <a:spcPct val="50000"/>
              </a:spcBef>
            </a:pPr>
            <a:endParaRPr lang="en-US" altLang="zh-CN" sz="2400" b="1"/>
          </a:p>
        </p:txBody>
      </p:sp>
      <p:sp>
        <p:nvSpPr>
          <p:cNvPr id="13375" name="Rectangle 63"/>
          <p:cNvSpPr>
            <a:spLocks noChangeArrowheads="1"/>
          </p:cNvSpPr>
          <p:nvPr/>
        </p:nvSpPr>
        <p:spPr bwMode="auto">
          <a:xfrm>
            <a:off x="683568" y="6278563"/>
            <a:ext cx="65516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sz="3200" b="1" dirty="0">
                <a:ea typeface="楷体_GB2312" pitchFamily="49" charset="-122"/>
              </a:rPr>
              <a:t>影响因素：</a:t>
            </a: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受地形和洋流的影响</a:t>
            </a:r>
          </a:p>
        </p:txBody>
      </p: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4787900" y="3068638"/>
            <a:ext cx="3887788" cy="2520950"/>
            <a:chOff x="3016" y="2432"/>
            <a:chExt cx="2449" cy="1588"/>
          </a:xfrm>
        </p:grpSpPr>
        <p:grpSp>
          <p:nvGrpSpPr>
            <p:cNvPr id="6" name="Group 66"/>
            <p:cNvGrpSpPr>
              <a:grpSpLocks/>
            </p:cNvGrpSpPr>
            <p:nvPr/>
          </p:nvGrpSpPr>
          <p:grpSpPr bwMode="auto">
            <a:xfrm>
              <a:off x="3016" y="2432"/>
              <a:ext cx="2449" cy="1588"/>
              <a:chOff x="3016" y="2432"/>
              <a:chExt cx="2449" cy="1588"/>
            </a:xfrm>
          </p:grpSpPr>
          <p:sp>
            <p:nvSpPr>
              <p:cNvPr id="13379" name="Rectangle 67"/>
              <p:cNvSpPr>
                <a:spLocks noChangeArrowheads="1"/>
              </p:cNvSpPr>
              <p:nvPr/>
            </p:nvSpPr>
            <p:spPr bwMode="auto">
              <a:xfrm>
                <a:off x="3016" y="2432"/>
                <a:ext cx="2449" cy="1588"/>
              </a:xfrm>
              <a:prstGeom prst="rect">
                <a:avLst/>
              </a:prstGeom>
              <a:gradFill rotWithShape="1">
                <a:gsLst>
                  <a:gs pos="0">
                    <a:srgbClr val="3366FF"/>
                  </a:gs>
                  <a:gs pos="100000">
                    <a:srgbClr val="3366FF">
                      <a:gamma/>
                      <a:tint val="75686"/>
                      <a:invGamma/>
                    </a:srgbClr>
                  </a:gs>
                </a:gsLst>
                <a:lin ang="5400000" scaled="1"/>
              </a:gradFill>
              <a:ln w="2540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zh-CN"/>
              </a:p>
            </p:txBody>
          </p:sp>
          <p:sp>
            <p:nvSpPr>
              <p:cNvPr id="13380" name="Freeform 68"/>
              <p:cNvSpPr>
                <a:spLocks/>
              </p:cNvSpPr>
              <p:nvPr/>
            </p:nvSpPr>
            <p:spPr bwMode="auto">
              <a:xfrm>
                <a:off x="3016" y="2788"/>
                <a:ext cx="2449" cy="196"/>
              </a:xfrm>
              <a:custGeom>
                <a:avLst/>
                <a:gdLst/>
                <a:ahLst/>
                <a:cxnLst>
                  <a:cxn ang="0">
                    <a:pos x="0" y="52"/>
                  </a:cxn>
                  <a:cxn ang="0">
                    <a:pos x="590" y="188"/>
                  </a:cxn>
                  <a:cxn ang="0">
                    <a:pos x="1225" y="98"/>
                  </a:cxn>
                  <a:cxn ang="0">
                    <a:pos x="1814" y="7"/>
                  </a:cxn>
                  <a:cxn ang="0">
                    <a:pos x="2449" y="143"/>
                  </a:cxn>
                </a:cxnLst>
                <a:rect l="0" t="0" r="r" b="b"/>
                <a:pathLst>
                  <a:path w="2449" h="196">
                    <a:moveTo>
                      <a:pt x="0" y="52"/>
                    </a:moveTo>
                    <a:cubicBezTo>
                      <a:pt x="193" y="116"/>
                      <a:pt x="386" y="180"/>
                      <a:pt x="590" y="188"/>
                    </a:cubicBezTo>
                    <a:cubicBezTo>
                      <a:pt x="794" y="196"/>
                      <a:pt x="1021" y="128"/>
                      <a:pt x="1225" y="98"/>
                    </a:cubicBezTo>
                    <a:cubicBezTo>
                      <a:pt x="1429" y="68"/>
                      <a:pt x="1610" y="0"/>
                      <a:pt x="1814" y="7"/>
                    </a:cubicBezTo>
                    <a:cubicBezTo>
                      <a:pt x="2018" y="14"/>
                      <a:pt x="2233" y="78"/>
                      <a:pt x="2449" y="143"/>
                    </a:cubicBezTo>
                  </a:path>
                </a:pathLst>
              </a:custGeom>
              <a:noFill/>
              <a:ln w="508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" name="Freeform 69"/>
              <p:cNvSpPr>
                <a:spLocks/>
              </p:cNvSpPr>
              <p:nvPr/>
            </p:nvSpPr>
            <p:spPr bwMode="auto">
              <a:xfrm>
                <a:off x="3016" y="3143"/>
                <a:ext cx="2449" cy="196"/>
              </a:xfrm>
              <a:custGeom>
                <a:avLst/>
                <a:gdLst/>
                <a:ahLst/>
                <a:cxnLst>
                  <a:cxn ang="0">
                    <a:pos x="0" y="52"/>
                  </a:cxn>
                  <a:cxn ang="0">
                    <a:pos x="590" y="188"/>
                  </a:cxn>
                  <a:cxn ang="0">
                    <a:pos x="1225" y="98"/>
                  </a:cxn>
                  <a:cxn ang="0">
                    <a:pos x="1814" y="7"/>
                  </a:cxn>
                  <a:cxn ang="0">
                    <a:pos x="2449" y="143"/>
                  </a:cxn>
                </a:cxnLst>
                <a:rect l="0" t="0" r="r" b="b"/>
                <a:pathLst>
                  <a:path w="2449" h="196">
                    <a:moveTo>
                      <a:pt x="0" y="52"/>
                    </a:moveTo>
                    <a:cubicBezTo>
                      <a:pt x="193" y="116"/>
                      <a:pt x="386" y="180"/>
                      <a:pt x="590" y="188"/>
                    </a:cubicBezTo>
                    <a:cubicBezTo>
                      <a:pt x="794" y="196"/>
                      <a:pt x="1021" y="128"/>
                      <a:pt x="1225" y="98"/>
                    </a:cubicBezTo>
                    <a:cubicBezTo>
                      <a:pt x="1429" y="68"/>
                      <a:pt x="1610" y="0"/>
                      <a:pt x="1814" y="7"/>
                    </a:cubicBezTo>
                    <a:cubicBezTo>
                      <a:pt x="2018" y="14"/>
                      <a:pt x="2233" y="78"/>
                      <a:pt x="2449" y="143"/>
                    </a:cubicBezTo>
                  </a:path>
                </a:pathLst>
              </a:custGeom>
              <a:noFill/>
              <a:ln w="508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" name="Freeform 70"/>
              <p:cNvSpPr>
                <a:spLocks/>
              </p:cNvSpPr>
              <p:nvPr/>
            </p:nvSpPr>
            <p:spPr bwMode="auto">
              <a:xfrm>
                <a:off x="3016" y="3521"/>
                <a:ext cx="2449" cy="196"/>
              </a:xfrm>
              <a:custGeom>
                <a:avLst/>
                <a:gdLst/>
                <a:ahLst/>
                <a:cxnLst>
                  <a:cxn ang="0">
                    <a:pos x="0" y="52"/>
                  </a:cxn>
                  <a:cxn ang="0">
                    <a:pos x="590" y="188"/>
                  </a:cxn>
                  <a:cxn ang="0">
                    <a:pos x="1225" y="98"/>
                  </a:cxn>
                  <a:cxn ang="0">
                    <a:pos x="1814" y="7"/>
                  </a:cxn>
                  <a:cxn ang="0">
                    <a:pos x="2449" y="143"/>
                  </a:cxn>
                </a:cxnLst>
                <a:rect l="0" t="0" r="r" b="b"/>
                <a:pathLst>
                  <a:path w="2449" h="196">
                    <a:moveTo>
                      <a:pt x="0" y="52"/>
                    </a:moveTo>
                    <a:cubicBezTo>
                      <a:pt x="193" y="116"/>
                      <a:pt x="386" y="180"/>
                      <a:pt x="590" y="188"/>
                    </a:cubicBezTo>
                    <a:cubicBezTo>
                      <a:pt x="794" y="196"/>
                      <a:pt x="1021" y="128"/>
                      <a:pt x="1225" y="98"/>
                    </a:cubicBezTo>
                    <a:cubicBezTo>
                      <a:pt x="1429" y="68"/>
                      <a:pt x="1610" y="0"/>
                      <a:pt x="1814" y="7"/>
                    </a:cubicBezTo>
                    <a:cubicBezTo>
                      <a:pt x="2018" y="14"/>
                      <a:pt x="2233" y="78"/>
                      <a:pt x="2449" y="143"/>
                    </a:cubicBezTo>
                  </a:path>
                </a:pathLst>
              </a:custGeom>
              <a:noFill/>
              <a:ln w="508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83" name="Text Box 71"/>
            <p:cNvSpPr txBox="1">
              <a:spLocks noChangeArrowheads="1"/>
            </p:cNvSpPr>
            <p:nvPr/>
          </p:nvSpPr>
          <p:spPr bwMode="auto">
            <a:xfrm>
              <a:off x="5012" y="2614"/>
              <a:ext cx="4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24℃</a:t>
              </a:r>
            </a:p>
          </p:txBody>
        </p:sp>
        <p:sp>
          <p:nvSpPr>
            <p:cNvPr id="13384" name="Text Box 72"/>
            <p:cNvSpPr txBox="1">
              <a:spLocks noChangeArrowheads="1"/>
            </p:cNvSpPr>
            <p:nvPr/>
          </p:nvSpPr>
          <p:spPr bwMode="auto">
            <a:xfrm>
              <a:off x="5012" y="2972"/>
              <a:ext cx="4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22℃</a:t>
              </a:r>
            </a:p>
          </p:txBody>
        </p:sp>
        <p:sp>
          <p:nvSpPr>
            <p:cNvPr id="13385" name="Text Box 73"/>
            <p:cNvSpPr txBox="1">
              <a:spLocks noChangeArrowheads="1"/>
            </p:cNvSpPr>
            <p:nvPr/>
          </p:nvSpPr>
          <p:spPr bwMode="auto">
            <a:xfrm>
              <a:off x="5000" y="3339"/>
              <a:ext cx="4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20℃</a:t>
              </a:r>
            </a:p>
          </p:txBody>
        </p:sp>
      </p:grpSp>
      <p:sp>
        <p:nvSpPr>
          <p:cNvPr id="13387" name="Line 75"/>
          <p:cNvSpPr>
            <a:spLocks noChangeShapeType="1"/>
          </p:cNvSpPr>
          <p:nvPr/>
        </p:nvSpPr>
        <p:spPr bwMode="auto">
          <a:xfrm>
            <a:off x="7669213" y="3284538"/>
            <a:ext cx="0" cy="2232025"/>
          </a:xfrm>
          <a:prstGeom prst="line">
            <a:avLst/>
          </a:prstGeom>
          <a:noFill/>
          <a:ln w="127000">
            <a:solidFill>
              <a:srgbClr val="0000FF"/>
            </a:solidFill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  <p:bldP spid="13320" grpId="0"/>
      <p:bldP spid="13321" grpId="0"/>
      <p:bldP spid="13373" grpId="0"/>
      <p:bldP spid="13375" grpId="0"/>
      <p:bldP spid="1338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0" y="113192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000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1958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年竺可桢在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《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中国的亚热带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》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一文中指出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: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我国亚热带北界接近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34°N,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即淮河、秦岭、白龙江一线直至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104°E;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南界横贯台湾中部和雷州半岛南部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……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。完成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8-9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</a:p>
          <a:p>
            <a:pPr marL="0" marR="0" lvl="0" indent="2000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8.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我国亚热带在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34°N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以南、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104°E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以西分布范围小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,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主要影响因素是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A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纬度位置    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地形    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C.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季风    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海陆位置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9. 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北半球亚热带在我国分布总体偏南，是因为我国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A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冬季气温南高北低          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地形阻挡了夏季风深入西北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C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夏季南北普遍高温          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冬季风势力强且影响范围广</a:t>
            </a:r>
          </a:p>
        </p:txBody>
      </p:sp>
      <p:pic>
        <p:nvPicPr>
          <p:cNvPr id="7171" name="Picture 3" descr="https://timgsa.baidu.com/timg?image&amp;quality=80&amp;size=b9999_10000&amp;sec=1606454818944&amp;di=4d1697239e298b7b45f99779cb2bb009&amp;imgtype=0&amp;src=http%3A%2F%2Fgss0.baidu.com%2F94o3dSag_xI4khGko9WTAnF6hhy%2Fzhidao%2Fpic%2Fitem%2Fa71ea8d3fd1f4134cf3d62e22f1f95cad1c85e2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681056"/>
            <a:ext cx="5544616" cy="4176944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0" y="1628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19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83553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X2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2"/>
          <p:cNvSpPr>
            <a:spLocks noChangeAspect="1" noChangeArrowheads="1"/>
          </p:cNvSpPr>
          <p:nvPr/>
        </p:nvSpPr>
        <p:spPr bwMode="auto">
          <a:xfrm>
            <a:off x="0" y="4572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145" name="图片 9" descr="http://www.weikao.com/images/200709/15193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412776"/>
            <a:ext cx="3445044" cy="2016224"/>
          </a:xfrm>
          <a:prstGeom prst="rect">
            <a:avLst/>
          </a:prstGeom>
          <a:noFill/>
        </p:spPr>
      </p:pic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巢湖平原某地人多地少，原来种植双季稻，越冬作物以油莱为主，</a:t>
            </a: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近年来随着城镇化的发展、机械化的普及和青壮年劳动力外出务工</a:t>
            </a: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，这里多种植单季稻，收割后</a:t>
            </a: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多不经翻耕播种收益较低的越冬作物小麦</a:t>
            </a: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。图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为该地收割水稻后播种了小麦的农田景观，其中浅色的为稻茬。据此完成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15-17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3501008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16.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推测这里不经翻耕播种小麦的主要目的是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A.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提高产量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B.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减少水土流失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C.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降低生产成本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D.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减少蒸发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17. 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近年来，该地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A.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种植结构复杂化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B.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复种指数提高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C.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田间管理精细化 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D.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种田大户增多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    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5158353"/>
            <a:ext cx="91440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16.C </a:t>
            </a:r>
            <a:r>
              <a:rPr kumimoji="0" lang="en-US" altLang="zh-CN" sz="1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  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按照我们课本所学的知识，不经翻耕（免耕）播种小麦的主要目的是为了保护耕地，减少土壤侵蚀。到了这里为什么是为了降低生产成本了呢？这里要特别注意题干中的“收益较低的越冬作物小麦”。收益较低就自然要降低生产成本了。此题启示我们，当所学知识与题目信息冲突时，应以题目信息为准。切勿死记硬背和生搬硬套！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17.D</a:t>
            </a:r>
            <a:r>
              <a:rPr kumimoji="0" lang="en-US" altLang="zh-CN" sz="1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 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此题要注意题干中的“近年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……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，机械化的普及和青壮年劳动力外出务工”信息。“机械化”“劳动力减少”对应的应该就是“种田大户增多”。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此题如果结合近几年我国的“土地流转”和“适度规模经营”政策，就更容易理解了。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14908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19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0" y="332656"/>
            <a:ext cx="91440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乌龙茶，亦称青茶、半发酵茶及全发酵茶，品种较多，为中国特有的茶类。乌龙茶</a:t>
            </a: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起源于福建，制作工艺复杂</a:t>
            </a: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，至今已有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1 000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多年的历史，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一直以来主要以家庭生产经营为主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。目前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乌龙茶热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方兴未艾，茶产品远销国内外，发展前景十分广阔。据此完成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20-22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福建乌龙茶产业发展的特点是	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　　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企业规模小，数量多                      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茶叶加工以全手工为主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销售网络遍布全球各地                  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出口贸易以原茶为主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4437112"/>
            <a:ext cx="9144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20.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据材料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乌龙茶产业一直以来主要以家庭生产经营为主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，可见其企业规模小，数量多；乌龙茶制作工艺复杂，发展历史悠久，已经由全手工向半自动化、自动化方向发展；加工的乌龙茶产品主要销往内地和日本东南亚地区，销售网络不会遍布全球；出口贸易中茶产品包括青茶、半发酵茶及全发酵茶，品种较多。故选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2768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19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492896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X2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  2016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年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月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25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日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,《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国务院关于依托黄金水道推动长江经济带发展的指导意见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》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正式发布。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“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生态优先、绿色发展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不鼓励新一轮的大开发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”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这是长江经济带战略最重要的要求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是制定规划的出发点和立足点。读长江经济带示意图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回答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题。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24577" name="21dlqy163.jpg" descr="id:2147491118;FounderC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628800"/>
            <a:ext cx="5619139" cy="2683768"/>
          </a:xfrm>
          <a:prstGeom prst="rect">
            <a:avLst/>
          </a:prstGeom>
          <a:noFill/>
        </p:spPr>
      </p:pic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0" y="4581128"/>
            <a:ext cx="9144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3.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下列关于图中节点城市的说法正确的是	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　　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)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A.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一级节点城市都位于长江与支流的交汇处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成都与合肥两城市的城市形态相同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节点城市都是省级行政中心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服务范围相同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节点城市通过河流连接成网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160" y="2708920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https://map.51240.com/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s://timgsa.baidu.com/timg?image&amp;quality=80&amp;size=b9999_10000&amp;sec=1606455933899&amp;di=1c977e0169563d2739e12c99d95412d9&amp;imgtype=0&amp;src=http%3A%2F%2Fi0.hdslb.com%2Fbfs%2Farticle%2F4c04f2a457cfe8a809721d0e827f2a2d9a7a5fd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80" y="12714"/>
            <a:ext cx="9126221" cy="6728654"/>
          </a:xfrm>
          <a:prstGeom prst="rect">
            <a:avLst/>
          </a:prstGeom>
          <a:noFill/>
        </p:spPr>
      </p:pic>
      <p:sp>
        <p:nvSpPr>
          <p:cNvPr id="3" name="椭圆 2"/>
          <p:cNvSpPr/>
          <p:nvPr/>
        </p:nvSpPr>
        <p:spPr>
          <a:xfrm>
            <a:off x="4355976" y="4293096"/>
            <a:ext cx="648072" cy="5760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940152" y="3861048"/>
            <a:ext cx="648072" cy="5760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　　下图为我国西部地区综合产业带的空间分布示意图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读图回答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8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题。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22529" name="21dlqy164.jpg" descr="id:2147491125;FounderC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908720"/>
            <a:ext cx="3344723" cy="3259832"/>
          </a:xfrm>
          <a:prstGeom prst="rect">
            <a:avLst/>
          </a:prstGeom>
          <a:noFill/>
        </p:spPr>
      </p:pic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467544" y="4293096"/>
            <a:ext cx="712879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6.A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地区的重点产业可能是	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　　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)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A.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以钢铁工业为龙头的冶金业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以蔬菜、水果为中心的新型农业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C.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以旅游业为导向的第三产业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以能源开发为主导的采掘业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22535" name="Picture 7" descr="https://timgsa.baidu.com/timg?image&amp;quality=80&amp;size=b9999_10000&amp;sec=1606456243718&amp;di=0c540771ea29c07e7036749620e75771&amp;imgtype=0&amp;src=http%3A%2F%2Fimg3.jiemian.com%2Fjiemian%2Foriginal%2F20170218%2F148739798794920700_a580x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476672"/>
            <a:ext cx="4582869" cy="38164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　　下图为我国著名的高新技术产业区</a:t>
            </a: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——</a:t>
            </a: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北京海淀区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目前全球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500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强的跨国公司有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50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多家在此登记注册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其中包括西门子公司、微软公司等世界著名大企业。读图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回答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题。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28673" name="21dlqyx30.jpg" descr="id:2147491132;FounderC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266130"/>
            <a:ext cx="3744415" cy="3262461"/>
          </a:xfrm>
          <a:prstGeom prst="rect">
            <a:avLst/>
          </a:prstGeom>
          <a:noFill/>
        </p:spPr>
      </p:pic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0" y="4509120"/>
            <a:ext cx="9144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9.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世界著名公司纷纷落户此地的主要原因是	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　　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)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①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劳动力和地价便宜		②优惠的政策条件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③环境优美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大气质量好	④人才优势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信息高效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 A.①②	     B.①④	             C.③④	    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D.②④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20072" y="2276872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https://map.51240.com/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1211</Words>
  <Application>Microsoft Office PowerPoint</Application>
  <PresentationFormat>全屏显示(4:3)</PresentationFormat>
  <Paragraphs>85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Administrator</cp:lastModifiedBy>
  <cp:revision>12</cp:revision>
  <dcterms:created xsi:type="dcterms:W3CDTF">2020-11-27T02:33:16Z</dcterms:created>
  <dcterms:modified xsi:type="dcterms:W3CDTF">2020-11-27T03:05:57Z</dcterms:modified>
</cp:coreProperties>
</file>