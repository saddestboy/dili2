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193" name="图片 2080480881" descr="fig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132263"/>
            <a:ext cx="4811713" cy="2725737"/>
          </a:xfrm>
          <a:prstGeom prst="rect">
            <a:avLst/>
          </a:prstGeom>
          <a:noFill/>
        </p:spPr>
      </p:pic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0"/>
            <a:ext cx="9144000" cy="389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位于</a:t>
            </a:r>
            <a:r>
              <a:rPr kumimoji="0" lang="zh-CN" sz="19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河北西南部的涉县，西靠太行山，具有特有的石堰梯田景观</a:t>
            </a:r>
            <a:r>
              <a:rPr kumimoji="0" 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，</a:t>
            </a:r>
            <a:r>
              <a:rPr kumimoji="0" lang="zh-CN" sz="19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处于半湿润偏旱区，年蒸发能力大于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1700mm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，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2019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年，该地的旱作梯田系统被列入中国的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全球重要农业文化遗产预备名单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。但近年来，当地梯田景观缩减，石堰坍塌现象频发且十分集中。如图为当地村民在石堰局部坍塌的梯田内耕作，下图中农民耕作的农作物为玉米。</a:t>
            </a:r>
            <a:endParaRPr kumimoji="0" lang="zh-CN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材料中石堰梯田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集中坍塌现象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发生的主要原因为</a:t>
            </a:r>
            <a:endParaRPr kumimoji="0" lang="zh-CN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A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植物根系深入，生物风化坍塌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人畜梯田耕作，石堰损坏坍塌</a:t>
            </a:r>
            <a:endParaRPr kumimoji="0" lang="zh-CN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C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昼夜温差较大，物理风化坍塌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暴雨冲刷石堰，水流冲击坍塌</a:t>
            </a:r>
            <a:endParaRPr kumimoji="0" lang="zh-CN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石堰集中坍塌的时间最有可能为</a:t>
            </a:r>
            <a:endParaRPr kumimoji="0" lang="zh-CN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A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3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～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4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5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～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6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7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～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8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11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～次年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2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</a:t>
            </a:r>
            <a:endParaRPr kumimoji="0" lang="zh-CN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若农民正对石堰时恰好面向西南方，则图中农民耕作的时间约为</a:t>
            </a:r>
            <a:endParaRPr kumimoji="0" lang="zh-CN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A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4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月中旬，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16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：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00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                B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4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月中旬，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9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：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00</a:t>
            </a:r>
            <a:endParaRPr kumimoji="0" lang="en-US" altLang="zh-CN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C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9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月中旬，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15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：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00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                D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9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月中旬，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10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：</a:t>
            </a:r>
            <a:r>
              <a:rPr kumimoji="0" lang="en-US" altLang="zh-CN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00</a:t>
            </a:r>
            <a:endParaRPr kumimoji="0" lang="en-US" altLang="zh-CN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60032" y="4395787"/>
            <a:ext cx="428396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altLang="zh-CN" sz="1100" b="1" dirty="0" smtClean="0">
                <a:solidFill>
                  <a:srgbClr val="FF0000"/>
                </a:solidFill>
              </a:rPr>
              <a:t>4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．结合材料信息，涉县西靠太行山，地势起伏较大，位于季风气候区，年降水总量较少，但是夏季降雨集中，多暴雨，所以石堰集中坍塌的原因可能是夏季暴雨冲刷，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D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正确；石堰梯田主要种植玉米等农作物，间有杂草，根系造成的生物风化坍塌可能性很小，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A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错误；当地修梯田的目的是增加耕地面积，方便耕作，减轻水土流失，所以梯田耕作需要经常对梯田进行维护，而不会损坏石堰，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B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错误；昼夜温差造成的物理风化不会在短时间内体现出来，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C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错误。故选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D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。</a:t>
            </a:r>
          </a:p>
          <a:p>
            <a:pPr fontAlgn="ctr"/>
            <a:r>
              <a:rPr lang="en-US" altLang="zh-CN" sz="1100" b="1" dirty="0" smtClean="0">
                <a:solidFill>
                  <a:srgbClr val="FF0000"/>
                </a:solidFill>
              </a:rPr>
              <a:t>5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．结合上题分析，石堰集中坍塌是夏季暴雨冲刷造成的，石堰位于华北地区，降水集中在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7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～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8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月份，故选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C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。</a:t>
            </a:r>
          </a:p>
          <a:p>
            <a:pPr fontAlgn="ctr"/>
            <a:r>
              <a:rPr lang="en-US" altLang="zh-CN" sz="1100" b="1" dirty="0" smtClean="0">
                <a:solidFill>
                  <a:srgbClr val="FF0000"/>
                </a:solidFill>
              </a:rPr>
              <a:t>6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．此时农民正在种植玉米，再结合照片中的景观可以判断此时应为春季，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C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D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错误；根据农民正对石堰时恰好面向西南方，可判断此时农民的影子大致朝向西北，即太阳此时应在东南方天空，所以此时应是上午，不是下午，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A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错误，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B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正确。故选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B</a:t>
            </a:r>
            <a:r>
              <a:rPr lang="zh-CN" altLang="zh-CN" sz="1100" b="1" dirty="0" smtClean="0">
                <a:solidFill>
                  <a:srgbClr val="FF0000"/>
                </a:solidFill>
              </a:rPr>
              <a:t>。</a:t>
            </a:r>
            <a:endParaRPr lang="zh-CN" altLang="zh-CN" sz="11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中国最大内陆淡水湖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—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新疆博斯腾湖，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位于天山中段南缘及塔克拉玛干沙漠北缘，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每年某个季节湖泊的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水面昼化夜冻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,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在风和湖水的作用下出现了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推冰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自然奇观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(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下左图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),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其中以湖区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西岸大河口景区和南岸白鹭洲景区最为壮观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。读博斯腾湖区域图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(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下右图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)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，回答下列各题。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7169" name="图片 1" descr="figure"/>
          <p:cNvPicPr>
            <a:picLocks noChangeAspect="1" noChangeArrowheads="1"/>
          </p:cNvPicPr>
          <p:nvPr/>
        </p:nvPicPr>
        <p:blipFill>
          <a:blip r:embed="rId2" cstate="print">
            <a:lum bright="-24000" contrast="42000"/>
          </a:blip>
          <a:srcRect/>
          <a:stretch>
            <a:fillRect/>
          </a:stretch>
        </p:blipFill>
        <p:spPr bwMode="auto">
          <a:xfrm>
            <a:off x="539552" y="1267006"/>
            <a:ext cx="7593374" cy="2469497"/>
          </a:xfrm>
          <a:prstGeom prst="rect">
            <a:avLst/>
          </a:prstGeom>
          <a:noFill/>
        </p:spPr>
      </p:pic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0" y="3717032"/>
            <a:ext cx="9144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7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一年中，博斯腾湖最有可能发生推冰奇观的季节是</a:t>
            </a:r>
            <a:endParaRPr kumimoji="0" lang="zh-CN" altLang="en-US" sz="1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A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冬季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秋季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</a:t>
            </a: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夏季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</a:t>
            </a: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春季</a:t>
            </a:r>
            <a:endParaRPr kumimoji="0" lang="zh-CN" altLang="en-US" sz="1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8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博斯腾湖沿岸的大河口景区和白鹭洲景区推冰奇观最为壮观，影响其的风力主要是</a:t>
            </a:r>
            <a:endParaRPr kumimoji="0" lang="zh-CN" altLang="en-US" sz="1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A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东南风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西南风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东北风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西北风</a:t>
            </a:r>
            <a:endParaRPr kumimoji="0" lang="zh-CN" altLang="en-US" sz="1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地处塔克拉玛干沙漠北缘的博斯腾湖能成为淡水湖的主要原因是</a:t>
            </a:r>
            <a:endParaRPr kumimoji="0" lang="zh-CN" altLang="en-US" sz="1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A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冰雪融水补给量大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</a:t>
            </a: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纬度高，蒸发量小</a:t>
            </a:r>
            <a:endParaRPr kumimoji="0" lang="zh-CN" altLang="en-US" sz="1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C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多地形雨，降水量大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</a:t>
            </a:r>
            <a:r>
              <a:rPr kumimoji="0" lang="en-US" altLang="zh-CN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属于外流区域</a:t>
            </a:r>
            <a:endParaRPr kumimoji="0" lang="zh-CN" altLang="en-US" sz="1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04664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altLang="zh-CN" b="1" dirty="0" smtClean="0">
                <a:solidFill>
                  <a:srgbClr val="FF0000"/>
                </a:solidFill>
              </a:rPr>
              <a:t>7</a:t>
            </a:r>
            <a:r>
              <a:rPr lang="zh-CN" altLang="zh-CN" b="1" dirty="0" smtClean="0">
                <a:solidFill>
                  <a:srgbClr val="FF0000"/>
                </a:solidFill>
              </a:rPr>
              <a:t>．材料提示每年某个季节湖泊的水面昼化夜冻，在风和湖水的作用下出现了</a:t>
            </a:r>
            <a:r>
              <a:rPr lang="en-US" altLang="zh-CN" b="1" dirty="0" smtClean="0">
                <a:solidFill>
                  <a:srgbClr val="FF0000"/>
                </a:solidFill>
              </a:rPr>
              <a:t>“</a:t>
            </a:r>
            <a:r>
              <a:rPr lang="zh-CN" altLang="zh-CN" b="1" dirty="0" smtClean="0">
                <a:solidFill>
                  <a:srgbClr val="FF0000"/>
                </a:solidFill>
              </a:rPr>
              <a:t>推冰</a:t>
            </a:r>
            <a:r>
              <a:rPr lang="en-US" altLang="zh-CN" b="1" dirty="0" smtClean="0">
                <a:solidFill>
                  <a:srgbClr val="FF0000"/>
                </a:solidFill>
              </a:rPr>
              <a:t>”</a:t>
            </a:r>
            <a:r>
              <a:rPr lang="zh-CN" altLang="zh-CN" b="1" dirty="0" smtClean="0">
                <a:solidFill>
                  <a:srgbClr val="FF0000"/>
                </a:solidFill>
              </a:rPr>
              <a:t>自然奇观，该季节湖面上白天冰开始融化，晚上气温低又结冻，说明气温是逐渐升高阶段，但气温还不是很高，所以最可能的季节是春季。故选</a:t>
            </a:r>
            <a:r>
              <a:rPr lang="en-US" altLang="zh-CN" b="1" dirty="0" smtClean="0">
                <a:solidFill>
                  <a:srgbClr val="FF0000"/>
                </a:solidFill>
              </a:rPr>
              <a:t>D</a:t>
            </a:r>
            <a:r>
              <a:rPr lang="zh-CN" altLang="zh-CN" b="1" dirty="0" smtClean="0">
                <a:solidFill>
                  <a:srgbClr val="FF0000"/>
                </a:solidFill>
              </a:rPr>
              <a:t>。</a:t>
            </a:r>
          </a:p>
          <a:p>
            <a:pPr fontAlgn="ctr"/>
            <a:r>
              <a:rPr lang="en-US" altLang="zh-CN" b="1" dirty="0" smtClean="0">
                <a:solidFill>
                  <a:srgbClr val="FF0000"/>
                </a:solidFill>
              </a:rPr>
              <a:t>8</a:t>
            </a:r>
            <a:r>
              <a:rPr lang="zh-CN" altLang="zh-CN" b="1" dirty="0" smtClean="0">
                <a:solidFill>
                  <a:srgbClr val="FF0000"/>
                </a:solidFill>
              </a:rPr>
              <a:t>．博斯腾湖沿岸的大河口景区和白鹭洲景区推冰奇观最为壮观，大河口景区和白鹭洲景区位于湖泊的西岸和南岸，说明风吹向西岸和南岸，所以影响推冰奇观的风力是东北风。</a:t>
            </a:r>
          </a:p>
          <a:p>
            <a:pPr fontAlgn="ctr"/>
            <a:r>
              <a:rPr lang="en-US" altLang="zh-CN" b="1" dirty="0" smtClean="0">
                <a:solidFill>
                  <a:srgbClr val="FF0000"/>
                </a:solidFill>
              </a:rPr>
              <a:t>9</a:t>
            </a:r>
            <a:r>
              <a:rPr lang="zh-CN" altLang="zh-CN" b="1" dirty="0" smtClean="0">
                <a:solidFill>
                  <a:srgbClr val="FF0000"/>
                </a:solidFill>
              </a:rPr>
              <a:t>．博斯腾湖属于内流区域，来自海洋的水汽难以达到，降水量小，晴天多，蒸发量大，湖泊水主要来自冰雪融水补给，冰雪融水补给量大，使得地处塔克拉玛干沙漠北缘的博斯腾湖能成为淡水湖。故选</a:t>
            </a:r>
            <a:r>
              <a:rPr lang="en-US" altLang="zh-CN" b="1" dirty="0" smtClean="0">
                <a:solidFill>
                  <a:srgbClr val="FF0000"/>
                </a:solidFill>
              </a:rPr>
              <a:t>A</a:t>
            </a:r>
            <a:r>
              <a:rPr lang="zh-CN" altLang="zh-CN" b="1" dirty="0" smtClean="0">
                <a:solidFill>
                  <a:srgbClr val="FF0000"/>
                </a:solidFill>
              </a:rPr>
              <a:t>。</a:t>
            </a:r>
            <a:endParaRPr lang="zh-CN" altLang="zh-CN" b="1" dirty="0">
              <a:solidFill>
                <a:srgbClr val="FF0000"/>
              </a:solidFill>
            </a:endParaRPr>
          </a:p>
        </p:txBody>
      </p:sp>
      <p:pic>
        <p:nvPicPr>
          <p:cNvPr id="6146" name="Picture 2" descr="https://timgsa.baidu.com/timg?image&amp;quality=80&amp;size=b9999_10000&amp;sec=1606100571891&amp;di=dbc7a61bd770ec8594bce3ad8b25fe8b&amp;imgtype=0&amp;src=http%3A%2F%2Fwww.ecologica.cn%2Fstxb%2Fch%2Fhtml%2F2018%2F19%2FPIC%2Fstxb-38-19-6921-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232198"/>
            <a:ext cx="4499992" cy="2734841"/>
          </a:xfrm>
          <a:prstGeom prst="rect">
            <a:avLst/>
          </a:prstGeom>
          <a:noFill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 l="21063" t="16534" r="19482" b="22567"/>
          <a:stretch>
            <a:fillRect/>
          </a:stretch>
        </p:blipFill>
        <p:spPr bwMode="auto">
          <a:xfrm>
            <a:off x="4283968" y="3284984"/>
            <a:ext cx="4860032" cy="28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椭圆 4"/>
          <p:cNvSpPr/>
          <p:nvPr/>
        </p:nvSpPr>
        <p:spPr>
          <a:xfrm>
            <a:off x="7380312" y="4149080"/>
            <a:ext cx="648072" cy="50405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5" idx="0"/>
          </p:cNvCxnSpPr>
          <p:nvPr/>
        </p:nvCxnSpPr>
        <p:spPr>
          <a:xfrm flipH="1" flipV="1">
            <a:off x="4139952" y="3284984"/>
            <a:ext cx="3564396" cy="86409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5" idx="4"/>
          </p:cNvCxnSpPr>
          <p:nvPr/>
        </p:nvCxnSpPr>
        <p:spPr>
          <a:xfrm flipH="1">
            <a:off x="4139952" y="4653136"/>
            <a:ext cx="3564396" cy="11521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0" y="366192"/>
            <a:ext cx="91440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10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近年来，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哈尔滨利用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"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寒地黑土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"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的自然生态环境优势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，从粮食种植转向大力发展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"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北菜南运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"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产业，番茄、黄瓜、木耳、青梗散花菜等蔬菜打入上海、浙江、广州、深圳等市场。哈尔滨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"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北菜南运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"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市场竞争力的最主要优势是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土地面积广大，机械水平较高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化肥、农药使用少，绿色环保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土壤肥力充足，蔬菜单产较高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生长期长，温差大，品质优良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306896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altLang="zh-CN" b="1" dirty="0" smtClean="0">
                <a:solidFill>
                  <a:srgbClr val="FF0000"/>
                </a:solidFill>
              </a:rPr>
              <a:t>10.</a:t>
            </a:r>
            <a:r>
              <a:rPr lang="zh-CN" altLang="zh-CN" b="1" dirty="0" smtClean="0">
                <a:solidFill>
                  <a:srgbClr val="FF0000"/>
                </a:solidFill>
              </a:rPr>
              <a:t>由材料可知，哈尔滨利用</a:t>
            </a:r>
            <a:r>
              <a:rPr lang="en-US" altLang="zh-CN" b="1" dirty="0" smtClean="0">
                <a:solidFill>
                  <a:srgbClr val="FF0000"/>
                </a:solidFill>
              </a:rPr>
              <a:t>"</a:t>
            </a:r>
            <a:r>
              <a:rPr lang="zh-CN" altLang="zh-CN" b="1" dirty="0" smtClean="0">
                <a:solidFill>
                  <a:srgbClr val="FF0000"/>
                </a:solidFill>
              </a:rPr>
              <a:t>寒地黑土</a:t>
            </a:r>
            <a:r>
              <a:rPr lang="en-US" altLang="zh-CN" b="1" dirty="0" smtClean="0">
                <a:solidFill>
                  <a:srgbClr val="FF0000"/>
                </a:solidFill>
              </a:rPr>
              <a:t>"</a:t>
            </a:r>
            <a:r>
              <a:rPr lang="zh-CN" altLang="zh-CN" b="1" dirty="0" smtClean="0">
                <a:solidFill>
                  <a:srgbClr val="FF0000"/>
                </a:solidFill>
              </a:rPr>
              <a:t>的自然生态环境优势，从粮食种植转向大力发展</a:t>
            </a:r>
            <a:r>
              <a:rPr lang="en-US" altLang="zh-CN" b="1" dirty="0" smtClean="0">
                <a:solidFill>
                  <a:srgbClr val="FF0000"/>
                </a:solidFill>
              </a:rPr>
              <a:t>"</a:t>
            </a:r>
            <a:r>
              <a:rPr lang="zh-CN" altLang="zh-CN" b="1" dirty="0" smtClean="0">
                <a:solidFill>
                  <a:srgbClr val="FF0000"/>
                </a:solidFill>
              </a:rPr>
              <a:t>北菜南运</a:t>
            </a:r>
            <a:r>
              <a:rPr lang="en-US" altLang="zh-CN" b="1" dirty="0" smtClean="0">
                <a:solidFill>
                  <a:srgbClr val="FF0000"/>
                </a:solidFill>
              </a:rPr>
              <a:t>"</a:t>
            </a:r>
            <a:r>
              <a:rPr lang="zh-CN" altLang="zh-CN" b="1" dirty="0" smtClean="0">
                <a:solidFill>
                  <a:srgbClr val="FF0000"/>
                </a:solidFill>
              </a:rPr>
              <a:t>产业，所以其竞争优势在于纬度高，气温低，病虫害少，土壤肥沃，化肥使用量少，</a:t>
            </a:r>
            <a:r>
              <a:rPr lang="en-US" altLang="zh-CN" b="1" dirty="0" smtClean="0">
                <a:solidFill>
                  <a:srgbClr val="FF0000"/>
                </a:solidFill>
              </a:rPr>
              <a:t>B</a:t>
            </a:r>
            <a:r>
              <a:rPr lang="zh-CN" altLang="zh-CN" b="1" dirty="0" smtClean="0">
                <a:solidFill>
                  <a:srgbClr val="FF0000"/>
                </a:solidFill>
              </a:rPr>
              <a:t>对。与土地面积大小、蔬菜单产及生长期温差大小关系不大，</a:t>
            </a:r>
            <a:r>
              <a:rPr lang="en-US" altLang="zh-CN" b="1" dirty="0" smtClean="0">
                <a:solidFill>
                  <a:srgbClr val="FF0000"/>
                </a:solidFill>
              </a:rPr>
              <a:t>ACD</a:t>
            </a:r>
            <a:r>
              <a:rPr lang="zh-CN" altLang="zh-CN" b="1" dirty="0" smtClean="0">
                <a:solidFill>
                  <a:srgbClr val="FF0000"/>
                </a:solidFill>
              </a:rPr>
              <a:t>错。故选</a:t>
            </a:r>
            <a:r>
              <a:rPr lang="en-US" altLang="zh-CN" b="1" dirty="0" smtClean="0">
                <a:solidFill>
                  <a:srgbClr val="FF0000"/>
                </a:solidFill>
              </a:rPr>
              <a:t>B</a:t>
            </a:r>
            <a:r>
              <a:rPr lang="zh-CN" altLang="zh-CN" b="1" dirty="0" smtClean="0">
                <a:solidFill>
                  <a:srgbClr val="FF0000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读我国华北平原西部某区域等高线图，图中低山、丘陵地带以荒山草坡为主，正在打造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太阳山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——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建设大型山坡集中式光伏发电站。光伏发电站的发电效率主要与日照强度、日照时间和太阳能面板清洁度有关。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据此完成下列小题。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4097" name="图片 3" descr="fig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564904"/>
            <a:ext cx="5581025" cy="4293096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251520" y="1340768"/>
            <a:ext cx="856895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13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在甲、乙、丙、丁四个荒山草坡安置太阳能板，发电效率最高的是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甲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乙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丙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丁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80112" y="2413338"/>
            <a:ext cx="356388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altLang="zh-CN" sz="1700" b="1" dirty="0" smtClean="0">
                <a:solidFill>
                  <a:srgbClr val="FF0000"/>
                </a:solidFill>
              </a:rPr>
              <a:t>A</a:t>
            </a:r>
            <a:r>
              <a:rPr lang="zh-CN" altLang="zh-CN" sz="1700" b="1" dirty="0" smtClean="0">
                <a:solidFill>
                  <a:srgbClr val="FF0000"/>
                </a:solidFill>
              </a:rPr>
              <a:t>、光伏发电站的发电效率主要与日照强度、日照时间和太阳能面板清洁度有关。甲坡向朝东，光照时间少，</a:t>
            </a:r>
            <a:r>
              <a:rPr lang="en-US" altLang="zh-CN" sz="1700" b="1" dirty="0" smtClean="0">
                <a:solidFill>
                  <a:srgbClr val="FF0000"/>
                </a:solidFill>
              </a:rPr>
              <a:t>A</a:t>
            </a:r>
            <a:r>
              <a:rPr lang="zh-CN" altLang="zh-CN" sz="1700" b="1" dirty="0" smtClean="0">
                <a:solidFill>
                  <a:srgbClr val="FF0000"/>
                </a:solidFill>
              </a:rPr>
              <a:t>错误；</a:t>
            </a:r>
          </a:p>
          <a:p>
            <a:pPr fontAlgn="ctr"/>
            <a:r>
              <a:rPr lang="en-US" altLang="zh-CN" sz="1700" b="1" dirty="0" smtClean="0">
                <a:solidFill>
                  <a:srgbClr val="FF0000"/>
                </a:solidFill>
              </a:rPr>
              <a:t>B</a:t>
            </a:r>
            <a:r>
              <a:rPr lang="zh-CN" altLang="zh-CN" sz="1700" b="1" dirty="0" smtClean="0">
                <a:solidFill>
                  <a:srgbClr val="FF0000"/>
                </a:solidFill>
              </a:rPr>
              <a:t>、乙是阳坡，坡向朝南，光照强度大，时间较长，</a:t>
            </a:r>
            <a:r>
              <a:rPr lang="en-US" altLang="zh-CN" sz="1700" b="1" dirty="0" smtClean="0">
                <a:solidFill>
                  <a:srgbClr val="FF0000"/>
                </a:solidFill>
              </a:rPr>
              <a:t>B</a:t>
            </a:r>
            <a:r>
              <a:rPr lang="zh-CN" altLang="zh-CN" sz="1700" b="1" dirty="0" smtClean="0">
                <a:solidFill>
                  <a:srgbClr val="FF0000"/>
                </a:solidFill>
              </a:rPr>
              <a:t>正确；</a:t>
            </a:r>
          </a:p>
          <a:p>
            <a:pPr fontAlgn="ctr"/>
            <a:r>
              <a:rPr lang="en-US" altLang="zh-CN" sz="1700" b="1" dirty="0" smtClean="0">
                <a:solidFill>
                  <a:srgbClr val="FF0000"/>
                </a:solidFill>
              </a:rPr>
              <a:t>C</a:t>
            </a:r>
            <a:r>
              <a:rPr lang="zh-CN" altLang="zh-CN" sz="1700" b="1" dirty="0" smtClean="0">
                <a:solidFill>
                  <a:srgbClr val="FF0000"/>
                </a:solidFill>
              </a:rPr>
              <a:t>、丙是阴坡，光照强度小，</a:t>
            </a:r>
            <a:r>
              <a:rPr lang="en-US" altLang="zh-CN" sz="1700" b="1" dirty="0" smtClean="0">
                <a:solidFill>
                  <a:srgbClr val="FF0000"/>
                </a:solidFill>
              </a:rPr>
              <a:t>C</a:t>
            </a:r>
            <a:r>
              <a:rPr lang="zh-CN" altLang="zh-CN" sz="1700" b="1" dirty="0" smtClean="0">
                <a:solidFill>
                  <a:srgbClr val="FF0000"/>
                </a:solidFill>
              </a:rPr>
              <a:t>错误；</a:t>
            </a:r>
          </a:p>
          <a:p>
            <a:pPr fontAlgn="ctr"/>
            <a:r>
              <a:rPr lang="en-US" altLang="zh-CN" sz="1700" b="1" dirty="0" smtClean="0">
                <a:solidFill>
                  <a:srgbClr val="FF0000"/>
                </a:solidFill>
              </a:rPr>
              <a:t>D</a:t>
            </a:r>
            <a:r>
              <a:rPr lang="zh-CN" altLang="zh-CN" sz="1700" b="1" dirty="0" smtClean="0">
                <a:solidFill>
                  <a:srgbClr val="FF0000"/>
                </a:solidFill>
              </a:rPr>
              <a:t>、丁是阴坡，光照强度小，</a:t>
            </a:r>
            <a:r>
              <a:rPr lang="en-US" altLang="zh-CN" sz="1700" b="1" dirty="0" smtClean="0">
                <a:solidFill>
                  <a:srgbClr val="FF0000"/>
                </a:solidFill>
              </a:rPr>
              <a:t>D</a:t>
            </a:r>
            <a:r>
              <a:rPr lang="zh-CN" altLang="zh-CN" sz="1700" b="1" dirty="0" smtClean="0">
                <a:solidFill>
                  <a:srgbClr val="FF0000"/>
                </a:solidFill>
              </a:rPr>
              <a:t>错误；</a:t>
            </a:r>
            <a:endParaRPr lang="zh-CN" altLang="zh-CN" sz="17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figure"/>
          <p:cNvPicPr>
            <a:picLocks noChangeAspect="1" noChangeArrowheads="1"/>
          </p:cNvPicPr>
          <p:nvPr/>
        </p:nvPicPr>
        <p:blipFill>
          <a:blip r:embed="rId2" cstate="print">
            <a:lum bright="-24000" contrast="30000"/>
          </a:blip>
          <a:srcRect/>
          <a:stretch>
            <a:fillRect/>
          </a:stretch>
        </p:blipFill>
        <p:spPr bwMode="auto">
          <a:xfrm>
            <a:off x="179512" y="1340768"/>
            <a:ext cx="5329317" cy="2971800"/>
          </a:xfrm>
          <a:prstGeom prst="rect">
            <a:avLst/>
          </a:prstGeom>
          <a:noFill/>
        </p:spPr>
      </p:pic>
      <p:pic>
        <p:nvPicPr>
          <p:cNvPr id="3073" name="图片 3" descr="figure"/>
          <p:cNvPicPr>
            <a:picLocks noChangeAspect="1" noChangeArrowheads="1"/>
          </p:cNvPicPr>
          <p:nvPr/>
        </p:nvPicPr>
        <p:blipFill>
          <a:blip r:embed="rId3" cstate="print">
            <a:lum bright="-18000" contrast="36000"/>
          </a:blip>
          <a:srcRect/>
          <a:stretch>
            <a:fillRect/>
          </a:stretch>
        </p:blipFill>
        <p:spPr bwMode="auto">
          <a:xfrm>
            <a:off x="5580112" y="1700808"/>
            <a:ext cx="3191135" cy="2664296"/>
          </a:xfrm>
          <a:prstGeom prst="rect">
            <a:avLst/>
          </a:prstGeom>
          <a:noFill/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下左图为我国北方某城市一住宅小区示意图及当地盛行风频图，右图中四个方向的阴影分别为小区内某栋住宅楼二至日日出、日落楼影。为获得冬季防风、夏季通风的效果，该小区规划建筑物为高层（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T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层以上）和多层（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7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层或以下）。据此完成下面小题。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4437112"/>
            <a:ext cx="878497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17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．右图所示阴影中，最可能表示夏至日日落的楼影的是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．①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．②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．③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．④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551723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altLang="zh-CN" b="1" dirty="0" smtClean="0">
                <a:solidFill>
                  <a:srgbClr val="FF0000"/>
                </a:solidFill>
              </a:rPr>
              <a:t>17.</a:t>
            </a:r>
            <a:r>
              <a:rPr lang="zh-CN" altLang="zh-CN" b="1" dirty="0" smtClean="0">
                <a:solidFill>
                  <a:srgbClr val="FF0000"/>
                </a:solidFill>
              </a:rPr>
              <a:t>该小区位于我国北方，夏至日日出东北、日落西北，夏至日日落时太阳位于西北天空，楼影为东南方向。</a:t>
            </a:r>
            <a:endParaRPr lang="zh-CN" altLang="zh-C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s://ss1.bdstatic.com/70cFuXSh_Q1YnxGkpoWK1HF6hhy/it/u=2757873778,2679474407&amp;fm=26&amp;gp=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668011" cy="3501008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573518" y="0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注意区分三个时间点：日出、日落与正午！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508104" y="836712"/>
            <a:ext cx="314701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太阳直射点在北半球：</a:t>
            </a:r>
            <a:endParaRPr lang="en-US" altLang="zh-CN" dirty="0" smtClean="0"/>
          </a:p>
          <a:p>
            <a:r>
              <a:rPr lang="en-US" altLang="zh-CN" dirty="0" smtClean="0"/>
              <a:t>       </a:t>
            </a:r>
            <a:r>
              <a:rPr lang="zh-CN" altLang="en-US" dirty="0" smtClean="0"/>
              <a:t>全球日出东北，日落西北</a:t>
            </a:r>
            <a:endParaRPr lang="en-US" altLang="zh-CN" dirty="0" smtClean="0"/>
          </a:p>
          <a:p>
            <a:r>
              <a:rPr lang="zh-CN" altLang="en-US" dirty="0" smtClean="0"/>
              <a:t>太阳直射点在南半球：</a:t>
            </a:r>
            <a:endParaRPr lang="en-US" altLang="zh-CN" dirty="0" smtClean="0"/>
          </a:p>
          <a:p>
            <a:r>
              <a:rPr lang="en-US" altLang="zh-CN" dirty="0" smtClean="0"/>
              <a:t>       </a:t>
            </a:r>
            <a:r>
              <a:rPr lang="zh-CN" altLang="en-US" dirty="0" smtClean="0"/>
              <a:t>全球日出东南，日落西南</a:t>
            </a:r>
            <a:endParaRPr lang="en-US" altLang="zh-CN" dirty="0" smtClean="0"/>
          </a:p>
          <a:p>
            <a:r>
              <a:rPr lang="zh-CN" altLang="en-US" dirty="0" smtClean="0"/>
              <a:t>太阳直射点在迟到：</a:t>
            </a:r>
            <a:endParaRPr lang="en-US" altLang="zh-CN" dirty="0" smtClean="0"/>
          </a:p>
          <a:p>
            <a:r>
              <a:rPr lang="en-US" altLang="zh-CN" dirty="0" smtClean="0"/>
              <a:t>        </a:t>
            </a:r>
            <a:r>
              <a:rPr lang="zh-CN" altLang="en-US" dirty="0" smtClean="0"/>
              <a:t>全球正东日出，正西日落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139952" y="33265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日出、日落：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11960" y="285712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正午：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076056" y="285293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位于折射点以北：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092280" y="285293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太阳位于正南方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076056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位于折射点以南：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092280" y="357301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太阳位于正北方</a:t>
            </a:r>
            <a:endParaRPr lang="zh-CN" altLang="en-US" dirty="0"/>
          </a:p>
        </p:txBody>
      </p:sp>
      <p:pic>
        <p:nvPicPr>
          <p:cNvPr id="21508" name="Picture 4" descr="https://ss3.bdstatic.com/70cFv8Sh_Q1YnxGkpoWK1HF6hhy/it/u=3458665591,374716844&amp;fm=26&amp;gp=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4005064"/>
            <a:ext cx="7379546" cy="28529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581128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altLang="zh-CN" dirty="0" smtClean="0">
                <a:solidFill>
                  <a:srgbClr val="FF0000"/>
                </a:solidFill>
              </a:rPr>
              <a:t>21</a:t>
            </a:r>
            <a:r>
              <a:rPr lang="zh-CN" altLang="zh-CN" dirty="0" smtClean="0">
                <a:solidFill>
                  <a:srgbClr val="FF0000"/>
                </a:solidFill>
              </a:rPr>
              <a:t>．由题干可知</a:t>
            </a:r>
            <a:r>
              <a:rPr lang="en-US" altLang="zh-CN" dirty="0" smtClean="0">
                <a:solidFill>
                  <a:srgbClr val="FF0000"/>
                </a:solidFill>
              </a:rPr>
              <a:t>“</a:t>
            </a:r>
            <a:r>
              <a:rPr lang="zh-CN" altLang="zh-CN" dirty="0" smtClean="0">
                <a:solidFill>
                  <a:srgbClr val="FF0000"/>
                </a:solidFill>
              </a:rPr>
              <a:t>鸟粪土</a:t>
            </a:r>
            <a:r>
              <a:rPr lang="en-US" altLang="zh-CN" dirty="0" smtClean="0">
                <a:solidFill>
                  <a:srgbClr val="FF0000"/>
                </a:solidFill>
              </a:rPr>
              <a:t>”</a:t>
            </a:r>
            <a:r>
              <a:rPr lang="zh-CN" altLang="zh-CN" dirty="0" smtClean="0">
                <a:solidFill>
                  <a:srgbClr val="FF0000"/>
                </a:solidFill>
              </a:rPr>
              <a:t>富含钙、磷等矿物质，土壤肥沃。与其土壤构成类似的是：</a:t>
            </a:r>
          </a:p>
          <a:p>
            <a:pPr fontAlgn="ctr"/>
            <a:r>
              <a:rPr lang="en-US" altLang="zh-CN" dirty="0" smtClean="0">
                <a:solidFill>
                  <a:srgbClr val="FF0000"/>
                </a:solidFill>
              </a:rPr>
              <a:t>    A. </a:t>
            </a:r>
            <a:r>
              <a:rPr lang="zh-CN" altLang="zh-CN" dirty="0" smtClean="0">
                <a:solidFill>
                  <a:srgbClr val="FF0000"/>
                </a:solidFill>
              </a:rPr>
              <a:t>紫色土富含矿物质，土壤肥沃，</a:t>
            </a:r>
            <a:r>
              <a:rPr lang="en-US" altLang="zh-CN" dirty="0" smtClean="0">
                <a:solidFill>
                  <a:srgbClr val="FF0000"/>
                </a:solidFill>
              </a:rPr>
              <a:t>A</a:t>
            </a:r>
            <a:r>
              <a:rPr lang="zh-CN" altLang="zh-CN" dirty="0" smtClean="0">
                <a:solidFill>
                  <a:srgbClr val="FF0000"/>
                </a:solidFill>
              </a:rPr>
              <a:t>项正确；</a:t>
            </a:r>
          </a:p>
          <a:p>
            <a:pPr fontAlgn="ctr"/>
            <a:r>
              <a:rPr lang="en-US" altLang="zh-CN" dirty="0" smtClean="0">
                <a:solidFill>
                  <a:srgbClr val="FF0000"/>
                </a:solidFill>
              </a:rPr>
              <a:t>    B. </a:t>
            </a:r>
            <a:r>
              <a:rPr lang="zh-CN" altLang="zh-CN" dirty="0" smtClean="0">
                <a:solidFill>
                  <a:srgbClr val="FF0000"/>
                </a:solidFill>
              </a:rPr>
              <a:t>黑土富含有机质，土壤肥沃，</a:t>
            </a:r>
            <a:r>
              <a:rPr lang="en-US" altLang="zh-CN" dirty="0" smtClean="0">
                <a:solidFill>
                  <a:srgbClr val="FF0000"/>
                </a:solidFill>
              </a:rPr>
              <a:t>B</a:t>
            </a:r>
            <a:r>
              <a:rPr lang="zh-CN" altLang="zh-CN" dirty="0" smtClean="0">
                <a:solidFill>
                  <a:srgbClr val="FF0000"/>
                </a:solidFill>
              </a:rPr>
              <a:t>项错误；</a:t>
            </a:r>
          </a:p>
          <a:p>
            <a:pPr fontAlgn="ctr"/>
            <a:r>
              <a:rPr lang="en-US" altLang="zh-CN" dirty="0" smtClean="0">
                <a:solidFill>
                  <a:srgbClr val="FF0000"/>
                </a:solidFill>
              </a:rPr>
              <a:t>    C. </a:t>
            </a:r>
            <a:r>
              <a:rPr lang="zh-CN" altLang="zh-CN" dirty="0" smtClean="0">
                <a:solidFill>
                  <a:srgbClr val="FF0000"/>
                </a:solidFill>
              </a:rPr>
              <a:t>水稻土富含有机质，土壤肥沃，</a:t>
            </a:r>
            <a:r>
              <a:rPr lang="en-US" altLang="zh-CN" dirty="0" smtClean="0">
                <a:solidFill>
                  <a:srgbClr val="FF0000"/>
                </a:solidFill>
              </a:rPr>
              <a:t>C</a:t>
            </a:r>
            <a:r>
              <a:rPr lang="zh-CN" altLang="zh-CN" dirty="0" smtClean="0">
                <a:solidFill>
                  <a:srgbClr val="FF0000"/>
                </a:solidFill>
              </a:rPr>
              <a:t>项错误；</a:t>
            </a:r>
            <a:r>
              <a:rPr lang="en-US" altLang="zh-CN" dirty="0" smtClean="0">
                <a:solidFill>
                  <a:srgbClr val="FF0000"/>
                </a:solidFill>
              </a:rPr>
              <a:t>    </a:t>
            </a:r>
            <a:endParaRPr lang="zh-CN" altLang="zh-CN" dirty="0" smtClean="0">
              <a:solidFill>
                <a:srgbClr val="FF0000"/>
              </a:solidFill>
            </a:endParaRPr>
          </a:p>
          <a:p>
            <a:pPr fontAlgn="ctr"/>
            <a:r>
              <a:rPr lang="en-US" altLang="zh-CN" dirty="0" smtClean="0">
                <a:solidFill>
                  <a:srgbClr val="FF0000"/>
                </a:solidFill>
              </a:rPr>
              <a:t>     D. </a:t>
            </a:r>
            <a:r>
              <a:rPr lang="zh-CN" altLang="zh-CN" dirty="0" smtClean="0">
                <a:solidFill>
                  <a:srgbClr val="FF0000"/>
                </a:solidFill>
              </a:rPr>
              <a:t>红壤酸性强，土壤贫瘠，</a:t>
            </a:r>
            <a:r>
              <a:rPr lang="en-US" altLang="zh-CN" dirty="0" smtClean="0">
                <a:solidFill>
                  <a:srgbClr val="FF0000"/>
                </a:solidFill>
              </a:rPr>
              <a:t>D</a:t>
            </a:r>
            <a:r>
              <a:rPr lang="zh-CN" altLang="zh-CN" dirty="0" smtClean="0">
                <a:solidFill>
                  <a:srgbClr val="FF0000"/>
                </a:solidFill>
              </a:rPr>
              <a:t>项错误。</a:t>
            </a:r>
          </a:p>
          <a:p>
            <a:pPr fontAlgn="ctr"/>
            <a:r>
              <a:rPr lang="zh-CN" altLang="zh-CN" dirty="0" smtClean="0">
                <a:solidFill>
                  <a:srgbClr val="FF0000"/>
                </a:solidFill>
              </a:rPr>
              <a:t>综合分析，</a:t>
            </a:r>
            <a:r>
              <a:rPr lang="en-US" altLang="zh-CN" dirty="0" smtClean="0">
                <a:solidFill>
                  <a:srgbClr val="FF0000"/>
                </a:solidFill>
              </a:rPr>
              <a:t>A</a:t>
            </a:r>
            <a:r>
              <a:rPr lang="zh-CN" altLang="zh-CN" dirty="0" smtClean="0">
                <a:solidFill>
                  <a:srgbClr val="FF0000"/>
                </a:solidFill>
              </a:rPr>
              <a:t>项正确。</a:t>
            </a:r>
            <a:endParaRPr lang="zh-CN" altLang="zh-CN" dirty="0">
              <a:solidFill>
                <a:srgbClr val="FF0000"/>
              </a:solidFill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54868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中国的南海大量散布珊瑚礁群，它是由造礁珊瑚的石灰质遗骸和石灰质藻类堆积而成的一种礁石，岛礁上的土壤很特殊，它的成土母质主要是珊瑚礁与贝壳的风化物，在海鸟粪与珊瑚沙互相作用下，形成了富含磷素和钙质的鸟粪土。五氧化二磷的含量高达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20%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～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30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％，可以用作磷肥，还含有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40%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～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50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％的氧化钙，现在已定名为磷质石灰土。我国的土壤大都缺磷，但是这种土壤却能用作磷肥。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据此回答下题。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21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“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鸟粪土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”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的土壤肥沃，与其土壤构成类似的是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紫色土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黑土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水稻土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 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红壤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1378</Words>
  <Application>Microsoft Office PowerPoint</Application>
  <PresentationFormat>全屏显示(4:3)</PresentationFormat>
  <Paragraphs>62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Administrator</cp:lastModifiedBy>
  <cp:revision>11</cp:revision>
  <dcterms:created xsi:type="dcterms:W3CDTF">2020-11-22T23:59:24Z</dcterms:created>
  <dcterms:modified xsi:type="dcterms:W3CDTF">2020-11-24T23:35:18Z</dcterms:modified>
</cp:coreProperties>
</file>