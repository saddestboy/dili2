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2020-11-09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217" name="图片 100001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484409"/>
            <a:ext cx="4644008" cy="3373592"/>
          </a:xfrm>
          <a:prstGeom prst="rect">
            <a:avLst/>
          </a:prstGeom>
          <a:noFill/>
        </p:spPr>
      </p:pic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0" y="217520"/>
            <a:ext cx="9144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下图为我国东北某地区</a:t>
            </a: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等坡度线（地表坡度值相等的点连成</a:t>
            </a:r>
            <a:r>
              <a:rPr lang="zh-CN" sz="24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的线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)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图，图中数字代表坡度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(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坡面与水平面的夹角）。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读图，完成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1-2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题。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图中甲乙丙丁四河段描述正确的是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A.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甲处河流最不易结冰                      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乙处坡度最陡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36838" algn="l"/>
              </a:tabLst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C.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丙处多峡谷                                      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D.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丁处河流含沙量最大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572000" y="2132856"/>
            <a:ext cx="4572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A  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图示为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“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我国东北某地区等坡度线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/>
                <a:ea typeface="宋体" pitchFamily="2" charset="-122"/>
                <a:cs typeface="宋体" pitchFamily="2" charset="-122"/>
              </a:rPr>
              <a:t>”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，坡度越大，河流的流速越快，根据图中坡度数值可以判断出，图中甲地坡度最大，所以流速最快，河流流速能够影响到河流的结冰程度，水流速度快，河流不容易结冰，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正确，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错误。</a:t>
            </a:r>
            <a:endParaRPr kumimoji="0" lang="en-US" altLang="zh-CN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丙处坡度较两侧小，说明丙处河道较为宽阔，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错。</a:t>
            </a:r>
            <a:endParaRPr kumimoji="0" lang="en-US" altLang="zh-CN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丁处坡度最小，河流流速慢，泥沙容易沉积，河流含沙量小，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错。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116632"/>
            <a:ext cx="91440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岷山为强烈隆升的褶皱山地，主峰雪宝顶海拔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5588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米，有现代冰川分布。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岷江上游主要流经岷山山区，属于干旱河谷地带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林树下线指森林带的最低海拔高度线，岷江上游林树下线主要分布在海拔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2500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米以上的干旱河谷上部地带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。岷江上游山区是四川省退耕还林工程的主要实施区域。下图为岷江上游山区林树下线与坡向的关系示意图。读图，完成</a:t>
            </a: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3-4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楷体" pitchFamily="49" charset="-122"/>
              </a:rPr>
              <a:t>题。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font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林树下线的分布说明北坡比南坡</a:t>
            </a:r>
            <a:endParaRPr lang="zh-CN" altLang="en-US" sz="24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lvl="0" indent="26670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A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冷湿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冷干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 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暖湿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</a:t>
            </a:r>
            <a:r>
              <a:rPr lang="en-US" altLang="zh-CN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暖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干</a:t>
            </a:r>
            <a:endParaRPr lang="zh-CN" altLang="en-US" sz="24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8193" name="图片 5" descr="图片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140968"/>
            <a:ext cx="3789201" cy="2492896"/>
          </a:xfrm>
          <a:prstGeom prst="rect">
            <a:avLst/>
          </a:prstGeom>
          <a:noFill/>
        </p:spPr>
      </p:pic>
      <p:grpSp>
        <p:nvGrpSpPr>
          <p:cNvPr id="10" name="组合 9"/>
          <p:cNvGrpSpPr/>
          <p:nvPr/>
        </p:nvGrpSpPr>
        <p:grpSpPr>
          <a:xfrm>
            <a:off x="3824654" y="3140968"/>
            <a:ext cx="5372100" cy="2415513"/>
            <a:chOff x="3824654" y="3140968"/>
            <a:chExt cx="5372100" cy="2415513"/>
          </a:xfrm>
        </p:grpSpPr>
        <p:pic>
          <p:nvPicPr>
            <p:cNvPr id="8197" name="Picture 5" descr="https://ss3.bdstatic.com/70cFv8Sh_Q1YnxGkpoWK1HF6hhy/it/u=2287293831,3059208820&amp;fm=26&amp;gp=0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51920" y="3140968"/>
              <a:ext cx="5292080" cy="2415513"/>
            </a:xfrm>
            <a:prstGeom prst="rect">
              <a:avLst/>
            </a:prstGeom>
            <a:noFill/>
          </p:spPr>
        </p:pic>
        <p:sp>
          <p:nvSpPr>
            <p:cNvPr id="6" name="任意多边形 5"/>
            <p:cNvSpPr/>
            <p:nvPr/>
          </p:nvSpPr>
          <p:spPr>
            <a:xfrm>
              <a:off x="3921369" y="4283426"/>
              <a:ext cx="5275385" cy="429251"/>
            </a:xfrm>
            <a:custGeom>
              <a:avLst/>
              <a:gdLst>
                <a:gd name="connsiteX0" fmla="*/ 0 w 5275385"/>
                <a:gd name="connsiteY0" fmla="*/ 139105 h 429251"/>
                <a:gd name="connsiteX1" fmla="*/ 70339 w 5275385"/>
                <a:gd name="connsiteY1" fmla="*/ 121520 h 429251"/>
                <a:gd name="connsiteX2" fmla="*/ 193431 w 5275385"/>
                <a:gd name="connsiteY2" fmla="*/ 103936 h 429251"/>
                <a:gd name="connsiteX3" fmla="*/ 228600 w 5275385"/>
                <a:gd name="connsiteY3" fmla="*/ 95143 h 429251"/>
                <a:gd name="connsiteX4" fmla="*/ 334108 w 5275385"/>
                <a:gd name="connsiteY4" fmla="*/ 68766 h 429251"/>
                <a:gd name="connsiteX5" fmla="*/ 615462 w 5275385"/>
                <a:gd name="connsiteY5" fmla="*/ 59974 h 429251"/>
                <a:gd name="connsiteX6" fmla="*/ 668216 w 5275385"/>
                <a:gd name="connsiteY6" fmla="*/ 42389 h 429251"/>
                <a:gd name="connsiteX7" fmla="*/ 703385 w 5275385"/>
                <a:gd name="connsiteY7" fmla="*/ 33597 h 429251"/>
                <a:gd name="connsiteX8" fmla="*/ 677008 w 5275385"/>
                <a:gd name="connsiteY8" fmla="*/ 33597 h 429251"/>
                <a:gd name="connsiteX9" fmla="*/ 650631 w 5275385"/>
                <a:gd name="connsiteY9" fmla="*/ 95143 h 429251"/>
                <a:gd name="connsiteX10" fmla="*/ 659423 w 5275385"/>
                <a:gd name="connsiteY10" fmla="*/ 139105 h 429251"/>
                <a:gd name="connsiteX11" fmla="*/ 694593 w 5275385"/>
                <a:gd name="connsiteY11" fmla="*/ 147897 h 429251"/>
                <a:gd name="connsiteX12" fmla="*/ 1072662 w 5275385"/>
                <a:gd name="connsiteY12" fmla="*/ 147897 h 429251"/>
                <a:gd name="connsiteX13" fmla="*/ 1125416 w 5275385"/>
                <a:gd name="connsiteY13" fmla="*/ 156689 h 429251"/>
                <a:gd name="connsiteX14" fmla="*/ 1239716 w 5275385"/>
                <a:gd name="connsiteY14" fmla="*/ 165482 h 429251"/>
                <a:gd name="connsiteX15" fmla="*/ 1433146 w 5275385"/>
                <a:gd name="connsiteY15" fmla="*/ 165482 h 429251"/>
                <a:gd name="connsiteX16" fmla="*/ 1837593 w 5275385"/>
                <a:gd name="connsiteY16" fmla="*/ 174274 h 429251"/>
                <a:gd name="connsiteX17" fmla="*/ 2083777 w 5275385"/>
                <a:gd name="connsiteY17" fmla="*/ 156689 h 429251"/>
                <a:gd name="connsiteX18" fmla="*/ 2118946 w 5275385"/>
                <a:gd name="connsiteY18" fmla="*/ 139105 h 429251"/>
                <a:gd name="connsiteX19" fmla="*/ 2145323 w 5275385"/>
                <a:gd name="connsiteY19" fmla="*/ 112728 h 429251"/>
                <a:gd name="connsiteX20" fmla="*/ 2488223 w 5275385"/>
                <a:gd name="connsiteY20" fmla="*/ 86351 h 429251"/>
                <a:gd name="connsiteX21" fmla="*/ 2655277 w 5275385"/>
                <a:gd name="connsiteY21" fmla="*/ 68766 h 429251"/>
                <a:gd name="connsiteX22" fmla="*/ 2822331 w 5275385"/>
                <a:gd name="connsiteY22" fmla="*/ 59974 h 429251"/>
                <a:gd name="connsiteX23" fmla="*/ 2866293 w 5275385"/>
                <a:gd name="connsiteY23" fmla="*/ 51182 h 429251"/>
                <a:gd name="connsiteX24" fmla="*/ 2989385 w 5275385"/>
                <a:gd name="connsiteY24" fmla="*/ 42389 h 429251"/>
                <a:gd name="connsiteX25" fmla="*/ 3244362 w 5275385"/>
                <a:gd name="connsiteY25" fmla="*/ 51182 h 429251"/>
                <a:gd name="connsiteX26" fmla="*/ 3279531 w 5275385"/>
                <a:gd name="connsiteY26" fmla="*/ 95143 h 429251"/>
                <a:gd name="connsiteX27" fmla="*/ 3314700 w 5275385"/>
                <a:gd name="connsiteY27" fmla="*/ 147897 h 429251"/>
                <a:gd name="connsiteX28" fmla="*/ 3341077 w 5275385"/>
                <a:gd name="connsiteY28" fmla="*/ 165482 h 429251"/>
                <a:gd name="connsiteX29" fmla="*/ 3393831 w 5275385"/>
                <a:gd name="connsiteY29" fmla="*/ 209443 h 429251"/>
                <a:gd name="connsiteX30" fmla="*/ 3402623 w 5275385"/>
                <a:gd name="connsiteY30" fmla="*/ 235820 h 429251"/>
                <a:gd name="connsiteX31" fmla="*/ 3499339 w 5275385"/>
                <a:gd name="connsiteY31" fmla="*/ 227028 h 429251"/>
                <a:gd name="connsiteX32" fmla="*/ 3604846 w 5275385"/>
                <a:gd name="connsiteY32" fmla="*/ 209443 h 429251"/>
                <a:gd name="connsiteX33" fmla="*/ 3631223 w 5275385"/>
                <a:gd name="connsiteY33" fmla="*/ 200651 h 429251"/>
                <a:gd name="connsiteX34" fmla="*/ 3675185 w 5275385"/>
                <a:gd name="connsiteY34" fmla="*/ 191859 h 429251"/>
                <a:gd name="connsiteX35" fmla="*/ 3701562 w 5275385"/>
                <a:gd name="connsiteY35" fmla="*/ 183066 h 429251"/>
                <a:gd name="connsiteX36" fmla="*/ 3851031 w 5275385"/>
                <a:gd name="connsiteY36" fmla="*/ 165482 h 429251"/>
                <a:gd name="connsiteX37" fmla="*/ 3938954 w 5275385"/>
                <a:gd name="connsiteY37" fmla="*/ 147897 h 429251"/>
                <a:gd name="connsiteX38" fmla="*/ 3974123 w 5275385"/>
                <a:gd name="connsiteY38" fmla="*/ 139105 h 429251"/>
                <a:gd name="connsiteX39" fmla="*/ 4070839 w 5275385"/>
                <a:gd name="connsiteY39" fmla="*/ 130312 h 429251"/>
                <a:gd name="connsiteX40" fmla="*/ 4097216 w 5275385"/>
                <a:gd name="connsiteY40" fmla="*/ 112728 h 429251"/>
                <a:gd name="connsiteX41" fmla="*/ 4220308 w 5275385"/>
                <a:gd name="connsiteY41" fmla="*/ 121520 h 429251"/>
                <a:gd name="connsiteX42" fmla="*/ 4246685 w 5275385"/>
                <a:gd name="connsiteY42" fmla="*/ 156689 h 429251"/>
                <a:gd name="connsiteX43" fmla="*/ 4273062 w 5275385"/>
                <a:gd name="connsiteY43" fmla="*/ 165482 h 429251"/>
                <a:gd name="connsiteX44" fmla="*/ 4325816 w 5275385"/>
                <a:gd name="connsiteY44" fmla="*/ 191859 h 429251"/>
                <a:gd name="connsiteX45" fmla="*/ 4334608 w 5275385"/>
                <a:gd name="connsiteY45" fmla="*/ 227028 h 429251"/>
                <a:gd name="connsiteX46" fmla="*/ 4369777 w 5275385"/>
                <a:gd name="connsiteY46" fmla="*/ 235820 h 429251"/>
                <a:gd name="connsiteX47" fmla="*/ 4510454 w 5275385"/>
                <a:gd name="connsiteY47" fmla="*/ 218236 h 429251"/>
                <a:gd name="connsiteX48" fmla="*/ 4642339 w 5275385"/>
                <a:gd name="connsiteY48" fmla="*/ 235820 h 429251"/>
                <a:gd name="connsiteX49" fmla="*/ 4686300 w 5275385"/>
                <a:gd name="connsiteY49" fmla="*/ 244612 h 429251"/>
                <a:gd name="connsiteX50" fmla="*/ 4739054 w 5275385"/>
                <a:gd name="connsiteY50" fmla="*/ 279782 h 429251"/>
                <a:gd name="connsiteX51" fmla="*/ 4747846 w 5275385"/>
                <a:gd name="connsiteY51" fmla="*/ 306159 h 429251"/>
                <a:gd name="connsiteX52" fmla="*/ 4774223 w 5275385"/>
                <a:gd name="connsiteY52" fmla="*/ 332536 h 429251"/>
                <a:gd name="connsiteX53" fmla="*/ 4985239 w 5275385"/>
                <a:gd name="connsiteY53" fmla="*/ 376497 h 429251"/>
                <a:gd name="connsiteX54" fmla="*/ 5037993 w 5275385"/>
                <a:gd name="connsiteY54" fmla="*/ 411666 h 429251"/>
                <a:gd name="connsiteX55" fmla="*/ 5090746 w 5275385"/>
                <a:gd name="connsiteY55" fmla="*/ 429251 h 429251"/>
                <a:gd name="connsiteX56" fmla="*/ 5240216 w 5275385"/>
                <a:gd name="connsiteY56" fmla="*/ 411666 h 429251"/>
                <a:gd name="connsiteX57" fmla="*/ 5275385 w 5275385"/>
                <a:gd name="connsiteY57" fmla="*/ 402874 h 429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275385" h="429251">
                  <a:moveTo>
                    <a:pt x="0" y="139105"/>
                  </a:moveTo>
                  <a:cubicBezTo>
                    <a:pt x="23446" y="133243"/>
                    <a:pt x="46708" y="126584"/>
                    <a:pt x="70339" y="121520"/>
                  </a:cubicBezTo>
                  <a:cubicBezTo>
                    <a:pt x="105831" y="113915"/>
                    <a:pt x="159175" y="108218"/>
                    <a:pt x="193431" y="103936"/>
                  </a:cubicBezTo>
                  <a:cubicBezTo>
                    <a:pt x="205154" y="101005"/>
                    <a:pt x="217026" y="98615"/>
                    <a:pt x="228600" y="95143"/>
                  </a:cubicBezTo>
                  <a:cubicBezTo>
                    <a:pt x="273597" y="81644"/>
                    <a:pt x="286796" y="71256"/>
                    <a:pt x="334108" y="68766"/>
                  </a:cubicBezTo>
                  <a:cubicBezTo>
                    <a:pt x="427809" y="63834"/>
                    <a:pt x="521677" y="62905"/>
                    <a:pt x="615462" y="59974"/>
                  </a:cubicBezTo>
                  <a:cubicBezTo>
                    <a:pt x="633047" y="54112"/>
                    <a:pt x="650234" y="46884"/>
                    <a:pt x="668216" y="42389"/>
                  </a:cubicBezTo>
                  <a:cubicBezTo>
                    <a:pt x="679939" y="39458"/>
                    <a:pt x="691811" y="37069"/>
                    <a:pt x="703385" y="33597"/>
                  </a:cubicBezTo>
                  <a:cubicBezTo>
                    <a:pt x="815374" y="0"/>
                    <a:pt x="725252" y="22876"/>
                    <a:pt x="677008" y="33597"/>
                  </a:cubicBezTo>
                  <a:cubicBezTo>
                    <a:pt x="673573" y="40466"/>
                    <a:pt x="650631" y="82204"/>
                    <a:pt x="650631" y="95143"/>
                  </a:cubicBezTo>
                  <a:cubicBezTo>
                    <a:pt x="650631" y="110087"/>
                    <a:pt x="649856" y="127625"/>
                    <a:pt x="659423" y="139105"/>
                  </a:cubicBezTo>
                  <a:cubicBezTo>
                    <a:pt x="667159" y="148388"/>
                    <a:pt x="682870" y="144966"/>
                    <a:pt x="694593" y="147897"/>
                  </a:cubicBezTo>
                  <a:cubicBezTo>
                    <a:pt x="877270" y="134849"/>
                    <a:pt x="828758" y="133960"/>
                    <a:pt x="1072662" y="147897"/>
                  </a:cubicBezTo>
                  <a:cubicBezTo>
                    <a:pt x="1090460" y="148914"/>
                    <a:pt x="1107687" y="154823"/>
                    <a:pt x="1125416" y="156689"/>
                  </a:cubicBezTo>
                  <a:cubicBezTo>
                    <a:pt x="1163419" y="160689"/>
                    <a:pt x="1201616" y="162551"/>
                    <a:pt x="1239716" y="165482"/>
                  </a:cubicBezTo>
                  <a:cubicBezTo>
                    <a:pt x="1323620" y="193449"/>
                    <a:pt x="1229000" y="165482"/>
                    <a:pt x="1433146" y="165482"/>
                  </a:cubicBezTo>
                  <a:cubicBezTo>
                    <a:pt x="1567994" y="165482"/>
                    <a:pt x="1702777" y="171343"/>
                    <a:pt x="1837593" y="174274"/>
                  </a:cubicBezTo>
                  <a:cubicBezTo>
                    <a:pt x="1880659" y="172551"/>
                    <a:pt x="2011345" y="187731"/>
                    <a:pt x="2083777" y="156689"/>
                  </a:cubicBezTo>
                  <a:cubicBezTo>
                    <a:pt x="2095824" y="151526"/>
                    <a:pt x="2107223" y="144966"/>
                    <a:pt x="2118946" y="139105"/>
                  </a:cubicBezTo>
                  <a:cubicBezTo>
                    <a:pt x="2127738" y="130313"/>
                    <a:pt x="2135771" y="120688"/>
                    <a:pt x="2145323" y="112728"/>
                  </a:cubicBezTo>
                  <a:cubicBezTo>
                    <a:pt x="2235895" y="37251"/>
                    <a:pt x="2397123" y="88881"/>
                    <a:pt x="2488223" y="86351"/>
                  </a:cubicBezTo>
                  <a:cubicBezTo>
                    <a:pt x="2543908" y="80489"/>
                    <a:pt x="2599458" y="73173"/>
                    <a:pt x="2655277" y="68766"/>
                  </a:cubicBezTo>
                  <a:cubicBezTo>
                    <a:pt x="2710866" y="64377"/>
                    <a:pt x="2766762" y="64605"/>
                    <a:pt x="2822331" y="59974"/>
                  </a:cubicBezTo>
                  <a:cubicBezTo>
                    <a:pt x="2837224" y="58733"/>
                    <a:pt x="2851431" y="52746"/>
                    <a:pt x="2866293" y="51182"/>
                  </a:cubicBezTo>
                  <a:cubicBezTo>
                    <a:pt x="2907202" y="46876"/>
                    <a:pt x="2948354" y="45320"/>
                    <a:pt x="2989385" y="42389"/>
                  </a:cubicBezTo>
                  <a:cubicBezTo>
                    <a:pt x="3074377" y="45320"/>
                    <a:pt x="3159690" y="43244"/>
                    <a:pt x="3244362" y="51182"/>
                  </a:cubicBezTo>
                  <a:cubicBezTo>
                    <a:pt x="3276735" y="54217"/>
                    <a:pt x="3268902" y="76010"/>
                    <a:pt x="3279531" y="95143"/>
                  </a:cubicBezTo>
                  <a:cubicBezTo>
                    <a:pt x="3289794" y="113618"/>
                    <a:pt x="3300783" y="131992"/>
                    <a:pt x="3314700" y="147897"/>
                  </a:cubicBezTo>
                  <a:cubicBezTo>
                    <a:pt x="3321658" y="155850"/>
                    <a:pt x="3332736" y="158994"/>
                    <a:pt x="3341077" y="165482"/>
                  </a:cubicBezTo>
                  <a:cubicBezTo>
                    <a:pt x="3359145" y="179535"/>
                    <a:pt x="3376246" y="194789"/>
                    <a:pt x="3393831" y="209443"/>
                  </a:cubicBezTo>
                  <a:cubicBezTo>
                    <a:pt x="3396762" y="218235"/>
                    <a:pt x="3395386" y="230030"/>
                    <a:pt x="3402623" y="235820"/>
                  </a:cubicBezTo>
                  <a:cubicBezTo>
                    <a:pt x="3431114" y="258613"/>
                    <a:pt x="3474513" y="232348"/>
                    <a:pt x="3499339" y="227028"/>
                  </a:cubicBezTo>
                  <a:cubicBezTo>
                    <a:pt x="3603569" y="204694"/>
                    <a:pt x="3520452" y="230542"/>
                    <a:pt x="3604846" y="209443"/>
                  </a:cubicBezTo>
                  <a:cubicBezTo>
                    <a:pt x="3613837" y="207195"/>
                    <a:pt x="3622232" y="202899"/>
                    <a:pt x="3631223" y="200651"/>
                  </a:cubicBezTo>
                  <a:cubicBezTo>
                    <a:pt x="3645721" y="197027"/>
                    <a:pt x="3660687" y="195484"/>
                    <a:pt x="3675185" y="191859"/>
                  </a:cubicBezTo>
                  <a:cubicBezTo>
                    <a:pt x="3684176" y="189611"/>
                    <a:pt x="3692515" y="185077"/>
                    <a:pt x="3701562" y="183066"/>
                  </a:cubicBezTo>
                  <a:cubicBezTo>
                    <a:pt x="3750414" y="172210"/>
                    <a:pt x="3801629" y="169973"/>
                    <a:pt x="3851031" y="165482"/>
                  </a:cubicBezTo>
                  <a:cubicBezTo>
                    <a:pt x="3905199" y="147425"/>
                    <a:pt x="3850052" y="164061"/>
                    <a:pt x="3938954" y="147897"/>
                  </a:cubicBezTo>
                  <a:cubicBezTo>
                    <a:pt x="3950843" y="145735"/>
                    <a:pt x="3962145" y="140702"/>
                    <a:pt x="3974123" y="139105"/>
                  </a:cubicBezTo>
                  <a:cubicBezTo>
                    <a:pt x="4006211" y="134827"/>
                    <a:pt x="4038600" y="133243"/>
                    <a:pt x="4070839" y="130312"/>
                  </a:cubicBezTo>
                  <a:cubicBezTo>
                    <a:pt x="4079631" y="124451"/>
                    <a:pt x="4087095" y="115764"/>
                    <a:pt x="4097216" y="112728"/>
                  </a:cubicBezTo>
                  <a:cubicBezTo>
                    <a:pt x="4157705" y="94582"/>
                    <a:pt x="4161670" y="104767"/>
                    <a:pt x="4220308" y="121520"/>
                  </a:cubicBezTo>
                  <a:cubicBezTo>
                    <a:pt x="4229100" y="133243"/>
                    <a:pt x="4235428" y="147308"/>
                    <a:pt x="4246685" y="156689"/>
                  </a:cubicBezTo>
                  <a:cubicBezTo>
                    <a:pt x="4253805" y="162622"/>
                    <a:pt x="4264772" y="161337"/>
                    <a:pt x="4273062" y="165482"/>
                  </a:cubicBezTo>
                  <a:cubicBezTo>
                    <a:pt x="4341239" y="199571"/>
                    <a:pt x="4259516" y="169757"/>
                    <a:pt x="4325816" y="191859"/>
                  </a:cubicBezTo>
                  <a:cubicBezTo>
                    <a:pt x="4328747" y="203582"/>
                    <a:pt x="4326063" y="218483"/>
                    <a:pt x="4334608" y="227028"/>
                  </a:cubicBezTo>
                  <a:cubicBezTo>
                    <a:pt x="4343153" y="235573"/>
                    <a:pt x="4357693" y="235820"/>
                    <a:pt x="4369777" y="235820"/>
                  </a:cubicBezTo>
                  <a:cubicBezTo>
                    <a:pt x="4412041" y="235820"/>
                    <a:pt x="4467019" y="225475"/>
                    <a:pt x="4510454" y="218236"/>
                  </a:cubicBezTo>
                  <a:lnTo>
                    <a:pt x="4642339" y="235820"/>
                  </a:lnTo>
                  <a:cubicBezTo>
                    <a:pt x="4657118" y="238037"/>
                    <a:pt x="4672696" y="238428"/>
                    <a:pt x="4686300" y="244612"/>
                  </a:cubicBezTo>
                  <a:cubicBezTo>
                    <a:pt x="4705540" y="253358"/>
                    <a:pt x="4739054" y="279782"/>
                    <a:pt x="4739054" y="279782"/>
                  </a:cubicBezTo>
                  <a:cubicBezTo>
                    <a:pt x="4741985" y="288574"/>
                    <a:pt x="4742705" y="298448"/>
                    <a:pt x="4747846" y="306159"/>
                  </a:cubicBezTo>
                  <a:cubicBezTo>
                    <a:pt x="4754743" y="316505"/>
                    <a:pt x="4764105" y="325309"/>
                    <a:pt x="4774223" y="332536"/>
                  </a:cubicBezTo>
                  <a:cubicBezTo>
                    <a:pt x="4828917" y="371602"/>
                    <a:pt x="4947878" y="370893"/>
                    <a:pt x="4985239" y="376497"/>
                  </a:cubicBezTo>
                  <a:cubicBezTo>
                    <a:pt x="5002824" y="388220"/>
                    <a:pt x="5017944" y="404983"/>
                    <a:pt x="5037993" y="411666"/>
                  </a:cubicBezTo>
                  <a:lnTo>
                    <a:pt x="5090746" y="429251"/>
                  </a:lnTo>
                  <a:cubicBezTo>
                    <a:pt x="5140569" y="423389"/>
                    <a:pt x="5190553" y="418761"/>
                    <a:pt x="5240216" y="411666"/>
                  </a:cubicBezTo>
                  <a:cubicBezTo>
                    <a:pt x="5252178" y="409957"/>
                    <a:pt x="5275385" y="402874"/>
                    <a:pt x="5275385" y="402874"/>
                  </a:cubicBezTo>
                </a:path>
              </a:pathLst>
            </a:cu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/>
          </p:nvSpPr>
          <p:spPr>
            <a:xfrm>
              <a:off x="3824654" y="4002303"/>
              <a:ext cx="5328138" cy="281850"/>
            </a:xfrm>
            <a:custGeom>
              <a:avLst/>
              <a:gdLst>
                <a:gd name="connsiteX0" fmla="*/ 0 w 5328138"/>
                <a:gd name="connsiteY0" fmla="*/ 226797 h 281850"/>
                <a:gd name="connsiteX1" fmla="*/ 79131 w 5328138"/>
                <a:gd name="connsiteY1" fmla="*/ 235589 h 281850"/>
                <a:gd name="connsiteX2" fmla="*/ 123092 w 5328138"/>
                <a:gd name="connsiteY2" fmla="*/ 226797 h 281850"/>
                <a:gd name="connsiteX3" fmla="*/ 193431 w 5328138"/>
                <a:gd name="connsiteY3" fmla="*/ 209212 h 281850"/>
                <a:gd name="connsiteX4" fmla="*/ 307731 w 5328138"/>
                <a:gd name="connsiteY4" fmla="*/ 191628 h 281850"/>
                <a:gd name="connsiteX5" fmla="*/ 395654 w 5328138"/>
                <a:gd name="connsiteY5" fmla="*/ 200420 h 281850"/>
                <a:gd name="connsiteX6" fmla="*/ 501161 w 5328138"/>
                <a:gd name="connsiteY6" fmla="*/ 191628 h 281850"/>
                <a:gd name="connsiteX7" fmla="*/ 527538 w 5328138"/>
                <a:gd name="connsiteY7" fmla="*/ 182835 h 281850"/>
                <a:gd name="connsiteX8" fmla="*/ 580292 w 5328138"/>
                <a:gd name="connsiteY8" fmla="*/ 174043 h 281850"/>
                <a:gd name="connsiteX9" fmla="*/ 747346 w 5328138"/>
                <a:gd name="connsiteY9" fmla="*/ 182835 h 281850"/>
                <a:gd name="connsiteX10" fmla="*/ 800100 w 5328138"/>
                <a:gd name="connsiteY10" fmla="*/ 200420 h 281850"/>
                <a:gd name="connsiteX11" fmla="*/ 826477 w 5328138"/>
                <a:gd name="connsiteY11" fmla="*/ 209212 h 281850"/>
                <a:gd name="connsiteX12" fmla="*/ 984738 w 5328138"/>
                <a:gd name="connsiteY12" fmla="*/ 191628 h 281850"/>
                <a:gd name="connsiteX13" fmla="*/ 1011115 w 5328138"/>
                <a:gd name="connsiteY13" fmla="*/ 174043 h 281850"/>
                <a:gd name="connsiteX14" fmla="*/ 1063869 w 5328138"/>
                <a:gd name="connsiteY14" fmla="*/ 156459 h 281850"/>
                <a:gd name="connsiteX15" fmla="*/ 1099038 w 5328138"/>
                <a:gd name="connsiteY15" fmla="*/ 130082 h 281850"/>
                <a:gd name="connsiteX16" fmla="*/ 1125415 w 5328138"/>
                <a:gd name="connsiteY16" fmla="*/ 103705 h 281850"/>
                <a:gd name="connsiteX17" fmla="*/ 1151792 w 5328138"/>
                <a:gd name="connsiteY17" fmla="*/ 94912 h 281850"/>
                <a:gd name="connsiteX18" fmla="*/ 1318846 w 5328138"/>
                <a:gd name="connsiteY18" fmla="*/ 103705 h 281850"/>
                <a:gd name="connsiteX19" fmla="*/ 1336431 w 5328138"/>
                <a:gd name="connsiteY19" fmla="*/ 130082 h 281850"/>
                <a:gd name="connsiteX20" fmla="*/ 1362808 w 5328138"/>
                <a:gd name="connsiteY20" fmla="*/ 138874 h 281850"/>
                <a:gd name="connsiteX21" fmla="*/ 1389184 w 5328138"/>
                <a:gd name="connsiteY21" fmla="*/ 165251 h 281850"/>
                <a:gd name="connsiteX22" fmla="*/ 1424354 w 5328138"/>
                <a:gd name="connsiteY22" fmla="*/ 174043 h 281850"/>
                <a:gd name="connsiteX23" fmla="*/ 1468315 w 5328138"/>
                <a:gd name="connsiteY23" fmla="*/ 191628 h 281850"/>
                <a:gd name="connsiteX24" fmla="*/ 1652954 w 5328138"/>
                <a:gd name="connsiteY24" fmla="*/ 165251 h 281850"/>
                <a:gd name="connsiteX25" fmla="*/ 1679331 w 5328138"/>
                <a:gd name="connsiteY25" fmla="*/ 147666 h 281850"/>
                <a:gd name="connsiteX26" fmla="*/ 1793631 w 5328138"/>
                <a:gd name="connsiteY26" fmla="*/ 112497 h 281850"/>
                <a:gd name="connsiteX27" fmla="*/ 1846384 w 5328138"/>
                <a:gd name="connsiteY27" fmla="*/ 94912 h 281850"/>
                <a:gd name="connsiteX28" fmla="*/ 2215661 w 5328138"/>
                <a:gd name="connsiteY28" fmla="*/ 103705 h 281850"/>
                <a:gd name="connsiteX29" fmla="*/ 2400300 w 5328138"/>
                <a:gd name="connsiteY29" fmla="*/ 112497 h 281850"/>
                <a:gd name="connsiteX30" fmla="*/ 2549769 w 5328138"/>
                <a:gd name="connsiteY30" fmla="*/ 103705 h 281850"/>
                <a:gd name="connsiteX31" fmla="*/ 2620108 w 5328138"/>
                <a:gd name="connsiteY31" fmla="*/ 94912 h 281850"/>
                <a:gd name="connsiteX32" fmla="*/ 2637692 w 5328138"/>
                <a:gd name="connsiteY32" fmla="*/ 68535 h 281850"/>
                <a:gd name="connsiteX33" fmla="*/ 2672861 w 5328138"/>
                <a:gd name="connsiteY33" fmla="*/ 50951 h 281850"/>
                <a:gd name="connsiteX34" fmla="*/ 3147646 w 5328138"/>
                <a:gd name="connsiteY34" fmla="*/ 59743 h 281850"/>
                <a:gd name="connsiteX35" fmla="*/ 3174023 w 5328138"/>
                <a:gd name="connsiteY35" fmla="*/ 68535 h 281850"/>
                <a:gd name="connsiteX36" fmla="*/ 3209192 w 5328138"/>
                <a:gd name="connsiteY36" fmla="*/ 77328 h 281850"/>
                <a:gd name="connsiteX37" fmla="*/ 3385038 w 5328138"/>
                <a:gd name="connsiteY37" fmla="*/ 68535 h 281850"/>
                <a:gd name="connsiteX38" fmla="*/ 3411415 w 5328138"/>
                <a:gd name="connsiteY38" fmla="*/ 59743 h 281850"/>
                <a:gd name="connsiteX39" fmla="*/ 3499338 w 5328138"/>
                <a:gd name="connsiteY39" fmla="*/ 42159 h 281850"/>
                <a:gd name="connsiteX40" fmla="*/ 3596054 w 5328138"/>
                <a:gd name="connsiteY40" fmla="*/ 33366 h 281850"/>
                <a:gd name="connsiteX41" fmla="*/ 3798277 w 5328138"/>
                <a:gd name="connsiteY41" fmla="*/ 24574 h 281850"/>
                <a:gd name="connsiteX42" fmla="*/ 3938954 w 5328138"/>
                <a:gd name="connsiteY42" fmla="*/ 42159 h 281850"/>
                <a:gd name="connsiteX43" fmla="*/ 3991708 w 5328138"/>
                <a:gd name="connsiteY43" fmla="*/ 50951 h 281850"/>
                <a:gd name="connsiteX44" fmla="*/ 4062046 w 5328138"/>
                <a:gd name="connsiteY44" fmla="*/ 103705 h 281850"/>
                <a:gd name="connsiteX45" fmla="*/ 4097215 w 5328138"/>
                <a:gd name="connsiteY45" fmla="*/ 112497 h 281850"/>
                <a:gd name="connsiteX46" fmla="*/ 4237892 w 5328138"/>
                <a:gd name="connsiteY46" fmla="*/ 130082 h 281850"/>
                <a:gd name="connsiteX47" fmla="*/ 4264269 w 5328138"/>
                <a:gd name="connsiteY47" fmla="*/ 138874 h 281850"/>
                <a:gd name="connsiteX48" fmla="*/ 4352192 w 5328138"/>
                <a:gd name="connsiteY48" fmla="*/ 121289 h 281850"/>
                <a:gd name="connsiteX49" fmla="*/ 4457700 w 5328138"/>
                <a:gd name="connsiteY49" fmla="*/ 130082 h 281850"/>
                <a:gd name="connsiteX50" fmla="*/ 4492869 w 5328138"/>
                <a:gd name="connsiteY50" fmla="*/ 147666 h 281850"/>
                <a:gd name="connsiteX51" fmla="*/ 4589584 w 5328138"/>
                <a:gd name="connsiteY51" fmla="*/ 138874 h 281850"/>
                <a:gd name="connsiteX52" fmla="*/ 4615961 w 5328138"/>
                <a:gd name="connsiteY52" fmla="*/ 112497 h 281850"/>
                <a:gd name="connsiteX53" fmla="*/ 4659923 w 5328138"/>
                <a:gd name="connsiteY53" fmla="*/ 103705 h 281850"/>
                <a:gd name="connsiteX54" fmla="*/ 4712677 w 5328138"/>
                <a:gd name="connsiteY54" fmla="*/ 86120 h 281850"/>
                <a:gd name="connsiteX55" fmla="*/ 4783015 w 5328138"/>
                <a:gd name="connsiteY55" fmla="*/ 68535 h 281850"/>
                <a:gd name="connsiteX56" fmla="*/ 4870938 w 5328138"/>
                <a:gd name="connsiteY56" fmla="*/ 86120 h 281850"/>
                <a:gd name="connsiteX57" fmla="*/ 4914900 w 5328138"/>
                <a:gd name="connsiteY57" fmla="*/ 130082 h 281850"/>
                <a:gd name="connsiteX58" fmla="*/ 5064369 w 5328138"/>
                <a:gd name="connsiteY58" fmla="*/ 147666 h 281850"/>
                <a:gd name="connsiteX59" fmla="*/ 5081954 w 5328138"/>
                <a:gd name="connsiteY59" fmla="*/ 200420 h 281850"/>
                <a:gd name="connsiteX60" fmla="*/ 5108331 w 5328138"/>
                <a:gd name="connsiteY60" fmla="*/ 218005 h 281850"/>
                <a:gd name="connsiteX61" fmla="*/ 5134708 w 5328138"/>
                <a:gd name="connsiteY61" fmla="*/ 244382 h 281850"/>
                <a:gd name="connsiteX62" fmla="*/ 5178669 w 5328138"/>
                <a:gd name="connsiteY62" fmla="*/ 253174 h 281850"/>
                <a:gd name="connsiteX63" fmla="*/ 5205046 w 5328138"/>
                <a:gd name="connsiteY63" fmla="*/ 261966 h 281850"/>
                <a:gd name="connsiteX64" fmla="*/ 5328138 w 5328138"/>
                <a:gd name="connsiteY64" fmla="*/ 279551 h 281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328138" h="281850">
                  <a:moveTo>
                    <a:pt x="0" y="226797"/>
                  </a:moveTo>
                  <a:cubicBezTo>
                    <a:pt x="40542" y="253825"/>
                    <a:pt x="17081" y="246871"/>
                    <a:pt x="79131" y="235589"/>
                  </a:cubicBezTo>
                  <a:cubicBezTo>
                    <a:pt x="93834" y="232916"/>
                    <a:pt x="108531" y="230157"/>
                    <a:pt x="123092" y="226797"/>
                  </a:cubicBezTo>
                  <a:cubicBezTo>
                    <a:pt x="146641" y="221363"/>
                    <a:pt x="169544" y="212887"/>
                    <a:pt x="193431" y="209212"/>
                  </a:cubicBezTo>
                  <a:lnTo>
                    <a:pt x="307731" y="191628"/>
                  </a:lnTo>
                  <a:cubicBezTo>
                    <a:pt x="337039" y="194559"/>
                    <a:pt x="366200" y="200420"/>
                    <a:pt x="395654" y="200420"/>
                  </a:cubicBezTo>
                  <a:cubicBezTo>
                    <a:pt x="430945" y="200420"/>
                    <a:pt x="466180" y="196292"/>
                    <a:pt x="501161" y="191628"/>
                  </a:cubicBezTo>
                  <a:cubicBezTo>
                    <a:pt x="510348" y="190403"/>
                    <a:pt x="518491" y="184846"/>
                    <a:pt x="527538" y="182835"/>
                  </a:cubicBezTo>
                  <a:cubicBezTo>
                    <a:pt x="544941" y="178968"/>
                    <a:pt x="562707" y="176974"/>
                    <a:pt x="580292" y="174043"/>
                  </a:cubicBezTo>
                  <a:cubicBezTo>
                    <a:pt x="635977" y="176974"/>
                    <a:pt x="691981" y="176191"/>
                    <a:pt x="747346" y="182835"/>
                  </a:cubicBezTo>
                  <a:cubicBezTo>
                    <a:pt x="765750" y="185043"/>
                    <a:pt x="782515" y="194558"/>
                    <a:pt x="800100" y="200420"/>
                  </a:cubicBezTo>
                  <a:lnTo>
                    <a:pt x="826477" y="209212"/>
                  </a:lnTo>
                  <a:cubicBezTo>
                    <a:pt x="834184" y="208570"/>
                    <a:pt x="955551" y="201357"/>
                    <a:pt x="984738" y="191628"/>
                  </a:cubicBezTo>
                  <a:cubicBezTo>
                    <a:pt x="994763" y="188286"/>
                    <a:pt x="1001459" y="178335"/>
                    <a:pt x="1011115" y="174043"/>
                  </a:cubicBezTo>
                  <a:cubicBezTo>
                    <a:pt x="1028053" y="166515"/>
                    <a:pt x="1063869" y="156459"/>
                    <a:pt x="1063869" y="156459"/>
                  </a:cubicBezTo>
                  <a:cubicBezTo>
                    <a:pt x="1075592" y="147667"/>
                    <a:pt x="1087912" y="139619"/>
                    <a:pt x="1099038" y="130082"/>
                  </a:cubicBezTo>
                  <a:cubicBezTo>
                    <a:pt x="1108479" y="121990"/>
                    <a:pt x="1115069" y="110602"/>
                    <a:pt x="1125415" y="103705"/>
                  </a:cubicBezTo>
                  <a:cubicBezTo>
                    <a:pt x="1133126" y="98564"/>
                    <a:pt x="1143000" y="97843"/>
                    <a:pt x="1151792" y="94912"/>
                  </a:cubicBezTo>
                  <a:cubicBezTo>
                    <a:pt x="1207477" y="97843"/>
                    <a:pt x="1264069" y="93271"/>
                    <a:pt x="1318846" y="103705"/>
                  </a:cubicBezTo>
                  <a:cubicBezTo>
                    <a:pt x="1329226" y="105682"/>
                    <a:pt x="1328179" y="123481"/>
                    <a:pt x="1336431" y="130082"/>
                  </a:cubicBezTo>
                  <a:cubicBezTo>
                    <a:pt x="1343668" y="135872"/>
                    <a:pt x="1354016" y="135943"/>
                    <a:pt x="1362808" y="138874"/>
                  </a:cubicBezTo>
                  <a:cubicBezTo>
                    <a:pt x="1371600" y="147666"/>
                    <a:pt x="1378388" y="159082"/>
                    <a:pt x="1389184" y="165251"/>
                  </a:cubicBezTo>
                  <a:cubicBezTo>
                    <a:pt x="1399676" y="171246"/>
                    <a:pt x="1412890" y="170222"/>
                    <a:pt x="1424354" y="174043"/>
                  </a:cubicBezTo>
                  <a:cubicBezTo>
                    <a:pt x="1439327" y="179034"/>
                    <a:pt x="1453661" y="185766"/>
                    <a:pt x="1468315" y="191628"/>
                  </a:cubicBezTo>
                  <a:cubicBezTo>
                    <a:pt x="1534812" y="186086"/>
                    <a:pt x="1589857" y="186283"/>
                    <a:pt x="1652954" y="165251"/>
                  </a:cubicBezTo>
                  <a:cubicBezTo>
                    <a:pt x="1662979" y="161909"/>
                    <a:pt x="1669577" y="151730"/>
                    <a:pt x="1679331" y="147666"/>
                  </a:cubicBezTo>
                  <a:cubicBezTo>
                    <a:pt x="1766510" y="111341"/>
                    <a:pt x="1732972" y="130695"/>
                    <a:pt x="1793631" y="112497"/>
                  </a:cubicBezTo>
                  <a:cubicBezTo>
                    <a:pt x="1811385" y="107171"/>
                    <a:pt x="1846384" y="94912"/>
                    <a:pt x="1846384" y="94912"/>
                  </a:cubicBezTo>
                  <a:lnTo>
                    <a:pt x="2215661" y="103705"/>
                  </a:lnTo>
                  <a:cubicBezTo>
                    <a:pt x="2277246" y="105660"/>
                    <a:pt x="2338684" y="112497"/>
                    <a:pt x="2400300" y="112497"/>
                  </a:cubicBezTo>
                  <a:cubicBezTo>
                    <a:pt x="2450209" y="112497"/>
                    <a:pt x="2499946" y="106636"/>
                    <a:pt x="2549769" y="103705"/>
                  </a:cubicBezTo>
                  <a:cubicBezTo>
                    <a:pt x="2573215" y="100774"/>
                    <a:pt x="2598169" y="103688"/>
                    <a:pt x="2620108" y="94912"/>
                  </a:cubicBezTo>
                  <a:cubicBezTo>
                    <a:pt x="2629919" y="90987"/>
                    <a:pt x="2629574" y="75300"/>
                    <a:pt x="2637692" y="68535"/>
                  </a:cubicBezTo>
                  <a:cubicBezTo>
                    <a:pt x="2647761" y="60144"/>
                    <a:pt x="2661138" y="56812"/>
                    <a:pt x="2672861" y="50951"/>
                  </a:cubicBezTo>
                  <a:lnTo>
                    <a:pt x="3147646" y="59743"/>
                  </a:lnTo>
                  <a:cubicBezTo>
                    <a:pt x="3156908" y="60068"/>
                    <a:pt x="3165112" y="65989"/>
                    <a:pt x="3174023" y="68535"/>
                  </a:cubicBezTo>
                  <a:cubicBezTo>
                    <a:pt x="3185642" y="71855"/>
                    <a:pt x="3197469" y="74397"/>
                    <a:pt x="3209192" y="77328"/>
                  </a:cubicBezTo>
                  <a:cubicBezTo>
                    <a:pt x="3267807" y="74397"/>
                    <a:pt x="3326570" y="73619"/>
                    <a:pt x="3385038" y="68535"/>
                  </a:cubicBezTo>
                  <a:cubicBezTo>
                    <a:pt x="3394271" y="67732"/>
                    <a:pt x="3402384" y="61827"/>
                    <a:pt x="3411415" y="59743"/>
                  </a:cubicBezTo>
                  <a:cubicBezTo>
                    <a:pt x="3440538" y="53023"/>
                    <a:pt x="3470030" y="48020"/>
                    <a:pt x="3499338" y="42159"/>
                  </a:cubicBezTo>
                  <a:cubicBezTo>
                    <a:pt x="3531081" y="35811"/>
                    <a:pt x="3563815" y="36297"/>
                    <a:pt x="3596054" y="33366"/>
                  </a:cubicBezTo>
                  <a:cubicBezTo>
                    <a:pt x="3696156" y="0"/>
                    <a:pt x="3630304" y="14694"/>
                    <a:pt x="3798277" y="24574"/>
                  </a:cubicBezTo>
                  <a:cubicBezTo>
                    <a:pt x="3864629" y="46690"/>
                    <a:pt x="3800063" y="27539"/>
                    <a:pt x="3938954" y="42159"/>
                  </a:cubicBezTo>
                  <a:cubicBezTo>
                    <a:pt x="3956683" y="44025"/>
                    <a:pt x="3974123" y="48020"/>
                    <a:pt x="3991708" y="50951"/>
                  </a:cubicBezTo>
                  <a:cubicBezTo>
                    <a:pt x="3996117" y="54478"/>
                    <a:pt x="4046973" y="97245"/>
                    <a:pt x="4062046" y="103705"/>
                  </a:cubicBezTo>
                  <a:cubicBezTo>
                    <a:pt x="4073153" y="108465"/>
                    <a:pt x="4085419" y="109876"/>
                    <a:pt x="4097215" y="112497"/>
                  </a:cubicBezTo>
                  <a:cubicBezTo>
                    <a:pt x="4160106" y="126472"/>
                    <a:pt x="4154050" y="122459"/>
                    <a:pt x="4237892" y="130082"/>
                  </a:cubicBezTo>
                  <a:cubicBezTo>
                    <a:pt x="4246684" y="133013"/>
                    <a:pt x="4255001" y="138874"/>
                    <a:pt x="4264269" y="138874"/>
                  </a:cubicBezTo>
                  <a:cubicBezTo>
                    <a:pt x="4304684" y="138874"/>
                    <a:pt x="4319708" y="132118"/>
                    <a:pt x="4352192" y="121289"/>
                  </a:cubicBezTo>
                  <a:cubicBezTo>
                    <a:pt x="4387361" y="124220"/>
                    <a:pt x="4423013" y="123578"/>
                    <a:pt x="4457700" y="130082"/>
                  </a:cubicBezTo>
                  <a:cubicBezTo>
                    <a:pt x="4470582" y="132497"/>
                    <a:pt x="4479791" y="146794"/>
                    <a:pt x="4492869" y="147666"/>
                  </a:cubicBezTo>
                  <a:cubicBezTo>
                    <a:pt x="4525169" y="149819"/>
                    <a:pt x="4557346" y="141805"/>
                    <a:pt x="4589584" y="138874"/>
                  </a:cubicBezTo>
                  <a:cubicBezTo>
                    <a:pt x="4598376" y="130082"/>
                    <a:pt x="4604839" y="118058"/>
                    <a:pt x="4615961" y="112497"/>
                  </a:cubicBezTo>
                  <a:cubicBezTo>
                    <a:pt x="4629328" y="105814"/>
                    <a:pt x="4645505" y="107637"/>
                    <a:pt x="4659923" y="103705"/>
                  </a:cubicBezTo>
                  <a:cubicBezTo>
                    <a:pt x="4677806" y="98828"/>
                    <a:pt x="4694695" y="90616"/>
                    <a:pt x="4712677" y="86120"/>
                  </a:cubicBezTo>
                  <a:lnTo>
                    <a:pt x="4783015" y="68535"/>
                  </a:lnTo>
                  <a:cubicBezTo>
                    <a:pt x="4783185" y="68563"/>
                    <a:pt x="4862196" y="80292"/>
                    <a:pt x="4870938" y="86120"/>
                  </a:cubicBezTo>
                  <a:cubicBezTo>
                    <a:pt x="4926204" y="122964"/>
                    <a:pt x="4847911" y="104961"/>
                    <a:pt x="4914900" y="130082"/>
                  </a:cubicBezTo>
                  <a:cubicBezTo>
                    <a:pt x="4946326" y="141867"/>
                    <a:pt x="5055297" y="146910"/>
                    <a:pt x="5064369" y="147666"/>
                  </a:cubicBezTo>
                  <a:cubicBezTo>
                    <a:pt x="5070231" y="165251"/>
                    <a:pt x="5072130" y="184702"/>
                    <a:pt x="5081954" y="200420"/>
                  </a:cubicBezTo>
                  <a:cubicBezTo>
                    <a:pt x="5087555" y="209381"/>
                    <a:pt x="5100213" y="211240"/>
                    <a:pt x="5108331" y="218005"/>
                  </a:cubicBezTo>
                  <a:cubicBezTo>
                    <a:pt x="5117883" y="225965"/>
                    <a:pt x="5123586" y="238821"/>
                    <a:pt x="5134708" y="244382"/>
                  </a:cubicBezTo>
                  <a:cubicBezTo>
                    <a:pt x="5148074" y="251065"/>
                    <a:pt x="5164171" y="249550"/>
                    <a:pt x="5178669" y="253174"/>
                  </a:cubicBezTo>
                  <a:cubicBezTo>
                    <a:pt x="5187660" y="255422"/>
                    <a:pt x="5196015" y="259882"/>
                    <a:pt x="5205046" y="261966"/>
                  </a:cubicBezTo>
                  <a:cubicBezTo>
                    <a:pt x="5291210" y="281850"/>
                    <a:pt x="5268280" y="279551"/>
                    <a:pt x="5328138" y="279551"/>
                  </a:cubicBezTo>
                </a:path>
              </a:pathLst>
            </a:cu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0" y="5661248"/>
            <a:ext cx="9144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3.A   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岷江河谷为“干旱河谷”，没有森林分布， “湿”才是这里分布森林的条件。林树下线北坡低，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说明北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坡更“湿”（蒸发量小）。而北坡会更湿，就是因为北坡是阴坡，更冷！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图片 1000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941978"/>
            <a:ext cx="3995936" cy="2916022"/>
          </a:xfrm>
          <a:prstGeom prst="rect">
            <a:avLst/>
          </a:prstGeom>
          <a:noFill/>
        </p:spPr>
      </p:pic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2017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年</a:t>
            </a:r>
            <a:r>
              <a:rPr lang="en-US" altLang="zh-CN" sz="24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6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月</a:t>
            </a:r>
            <a:r>
              <a:rPr lang="en-US" altLang="zh-CN" sz="24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17-23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日，国家电网在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青海省首次尝试以太阳能、风能及水能等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100%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清洁能源供电一周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。此次尝试为国家电网首次在省级范国的清洁电力供应尝试，这标志我国在新能源电力供应上又迈出了新的一步。下图示意青海省电力生产结构．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读图回答</a:t>
            </a:r>
            <a:r>
              <a:rPr lang="en-US" altLang="zh-CN" sz="24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5-6</a:t>
            </a:r>
            <a:r>
              <a:rPr lang="zh-CN" altLang="en-US" sz="24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题。</a:t>
            </a:r>
            <a:endParaRPr lang="zh-CN" altLang="en-US" sz="24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与青海省相比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，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沿海经济发达省区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实现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全部清洁能源供电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面临的主要困难是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电力需求量大，能源资源不足  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人口众多，人均耗电量大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开发条件差，清洁能源利用率低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</a:t>
            </a:r>
            <a:endParaRPr kumimoji="0" lang="en-US" altLang="zh-CN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火力发电量大，消费比重高</a:t>
            </a:r>
            <a:endParaRPr kumimoji="0" lang="zh-CN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3995936" y="3995678"/>
            <a:ext cx="514806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6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．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A    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青海省人口密度小，经济发展水平相对较低，对于电力需求量小，而东部沿海发达地区由于电力需求量大，但能源资源不足，全部实现清洁能源的困难较大。</a:t>
            </a:r>
            <a:endParaRPr lang="en-US" altLang="zh-CN" b="1" dirty="0" smtClean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沿海经济发达省区人口众多，人均耗电量大使得电力缺口大，影响到电力需求量大，但是能源资源不足，没有讲明，解释片面；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沿海经济发达省区的开发条件好，清洁能源利用率高；</a:t>
            </a:r>
            <a:endParaRPr kumimoji="0" lang="en-US" altLang="zh-CN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火力发电不是清洁能源。据此分析选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A</a:t>
            </a:r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。</a:t>
            </a:r>
            <a:endParaRPr kumimoji="0" lang="zh-CN" altLang="en-US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1611084498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47861"/>
            <a:ext cx="5436096" cy="3310139"/>
          </a:xfrm>
          <a:prstGeom prst="rect">
            <a:avLst/>
          </a:prstGeom>
          <a:noFill/>
        </p:spPr>
      </p:pic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0"/>
            <a:ext cx="91440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 fontAlgn="ctr">
              <a:spcBef>
                <a:spcPct val="0"/>
              </a:spcBef>
              <a:spcAft>
                <a:spcPct val="0"/>
              </a:spcAft>
              <a:tabLst>
                <a:tab pos="1317625" algn="l"/>
                <a:tab pos="2636838" algn="l"/>
                <a:tab pos="3956050" algn="l"/>
              </a:tabLst>
            </a:pPr>
            <a:r>
              <a:rPr lang="zh-CN" altLang="zh-CN" sz="20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土壤湿度表示一定深度土层的土壤干湿程度，又称土壤含水量。土壤湿度的高低受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农田水分平衡各个分量制约</a:t>
            </a:r>
            <a:r>
              <a:rPr lang="zh-CN" altLang="zh-CN" sz="20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，（在不受人类活动干预的情况下，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土壤湿度的高低与当地的降水量和蒸发量的平衡密切相关</a:t>
            </a:r>
            <a:r>
              <a:rPr lang="zh-CN" altLang="zh-CN" sz="20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）。下图示意我国某地</a:t>
            </a: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0-50cm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深度土壤湿度季节变化。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据此完成</a:t>
            </a: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10-11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题。</a:t>
            </a:r>
            <a:endParaRPr lang="zh-CN" altLang="en-US" sz="20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该地区最可能为我国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云贵高原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华北平原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江淮地区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青藏高原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关于该地区土壤湿度的叙述，正确的是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降水量大的季节土壤的湿度最高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深层土壤湿度大于表层主要是由于地下水丰富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12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月土壤湿度明显增加是由于冬季降雪多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3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4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月份土壤湿度明显下降主要是因为春季气温回升快，蒸发量增大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32040" y="3645024"/>
            <a:ext cx="42119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3</a:t>
            </a:r>
            <a:r>
              <a:rPr lang="zh-CN" altLang="zh-CN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</a:t>
            </a:r>
            <a:r>
              <a:rPr lang="zh-CN" altLang="zh-CN" b="1" dirty="0" smtClean="0">
                <a:solidFill>
                  <a:srgbClr val="FF0000"/>
                </a:solidFill>
              </a:rPr>
              <a:t>月份土壤湿度明显下降说明春季降水</a:t>
            </a:r>
            <a:r>
              <a:rPr lang="zh-CN" altLang="zh-CN" b="1" dirty="0" smtClean="0">
                <a:solidFill>
                  <a:srgbClr val="FF0000"/>
                </a:solidFill>
              </a:rPr>
              <a:t>少</a:t>
            </a:r>
            <a:r>
              <a:rPr lang="zh-CN" altLang="en-US" b="1" dirty="0" smtClean="0">
                <a:solidFill>
                  <a:srgbClr val="FF0000"/>
                </a:solidFill>
              </a:rPr>
              <a:t>，蒸发旺盛，有春旱现象</a:t>
            </a:r>
            <a:r>
              <a:rPr lang="zh-CN" altLang="zh-CN" b="1" dirty="0" smtClean="0">
                <a:solidFill>
                  <a:srgbClr val="FF0000"/>
                </a:solidFill>
              </a:rPr>
              <a:t>；</a:t>
            </a:r>
            <a:r>
              <a:rPr lang="en-US" altLang="zh-CN" b="1" dirty="0" smtClean="0">
                <a:solidFill>
                  <a:srgbClr val="FF0000"/>
                </a:solidFill>
              </a:rPr>
              <a:t>7</a:t>
            </a:r>
            <a:r>
              <a:rPr lang="zh-CN" altLang="zh-CN" b="1" dirty="0" smtClean="0">
                <a:solidFill>
                  <a:srgbClr val="FF0000"/>
                </a:solidFill>
              </a:rPr>
              <a:t>月份土壤湿度上升，说明降水主要集中在</a:t>
            </a:r>
            <a:r>
              <a:rPr lang="en-US" altLang="zh-CN" b="1" dirty="0" smtClean="0">
                <a:solidFill>
                  <a:srgbClr val="FF0000"/>
                </a:solidFill>
              </a:rPr>
              <a:t>7</a:t>
            </a:r>
            <a:r>
              <a:rPr lang="zh-CN" altLang="zh-CN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8</a:t>
            </a:r>
            <a:r>
              <a:rPr lang="zh-CN" altLang="zh-CN" b="1" dirty="0" smtClean="0">
                <a:solidFill>
                  <a:srgbClr val="FF0000"/>
                </a:solidFill>
              </a:rPr>
              <a:t>月份</a:t>
            </a:r>
            <a:r>
              <a:rPr lang="zh-CN" altLang="en-US" b="1" dirty="0" smtClean="0">
                <a:solidFill>
                  <a:srgbClr val="FF0000"/>
                </a:solidFill>
              </a:rPr>
              <a:t>。</a:t>
            </a:r>
            <a:r>
              <a:rPr lang="zh-CN" altLang="zh-CN" b="1" dirty="0" smtClean="0">
                <a:solidFill>
                  <a:srgbClr val="FF0000"/>
                </a:solidFill>
              </a:rPr>
              <a:t>我国</a:t>
            </a:r>
            <a:r>
              <a:rPr lang="en-US" altLang="zh-CN" b="1" dirty="0" smtClean="0">
                <a:solidFill>
                  <a:srgbClr val="FF0000"/>
                </a:solidFill>
              </a:rPr>
              <a:t>12</a:t>
            </a:r>
            <a:r>
              <a:rPr lang="zh-CN" altLang="zh-CN" b="1" dirty="0" smtClean="0">
                <a:solidFill>
                  <a:srgbClr val="FF0000"/>
                </a:solidFill>
              </a:rPr>
              <a:t>月各地降水都少，但土壤湿度明显增加说明该地农作物需水量减少，农业生产少</a:t>
            </a:r>
            <a:r>
              <a:rPr lang="zh-CN" altLang="zh-CN" b="1" dirty="0" smtClean="0">
                <a:solidFill>
                  <a:srgbClr val="FF0000"/>
                </a:solidFill>
              </a:rPr>
              <a:t>，</a:t>
            </a:r>
            <a:r>
              <a:rPr lang="zh-CN" altLang="en-US" b="1" dirty="0" smtClean="0">
                <a:solidFill>
                  <a:srgbClr val="FF0000"/>
                </a:solidFill>
              </a:rPr>
              <a:t>同时</a:t>
            </a:r>
            <a:r>
              <a:rPr lang="zh-CN" altLang="zh-CN" b="1" dirty="0" smtClean="0">
                <a:solidFill>
                  <a:srgbClr val="FF0000"/>
                </a:solidFill>
              </a:rPr>
              <a:t>冬季</a:t>
            </a:r>
            <a:r>
              <a:rPr lang="zh-CN" altLang="zh-CN" b="1" dirty="0" smtClean="0">
                <a:solidFill>
                  <a:srgbClr val="FF0000"/>
                </a:solidFill>
              </a:rPr>
              <a:t>气温低</a:t>
            </a:r>
            <a:r>
              <a:rPr lang="zh-CN" altLang="zh-CN" b="1" dirty="0" smtClean="0">
                <a:solidFill>
                  <a:srgbClr val="FF0000"/>
                </a:solidFill>
              </a:rPr>
              <a:t>，</a:t>
            </a:r>
            <a:r>
              <a:rPr lang="zh-CN" altLang="en-US" b="1" dirty="0" smtClean="0">
                <a:solidFill>
                  <a:srgbClr val="FF0000"/>
                </a:solidFill>
              </a:rPr>
              <a:t>蒸发弱。</a:t>
            </a:r>
            <a:r>
              <a:rPr lang="zh-CN" altLang="zh-CN" b="1" dirty="0" smtClean="0">
                <a:solidFill>
                  <a:srgbClr val="FF0000"/>
                </a:solidFill>
              </a:rPr>
              <a:t>故</a:t>
            </a:r>
            <a:r>
              <a:rPr lang="zh-CN" altLang="zh-CN" b="1" dirty="0" smtClean="0">
                <a:solidFill>
                  <a:srgbClr val="FF0000"/>
                </a:solidFill>
              </a:rPr>
              <a:t>可以判断为华北地区，</a:t>
            </a:r>
            <a:r>
              <a:rPr lang="en-US" altLang="zh-CN" b="1" dirty="0" smtClean="0">
                <a:solidFill>
                  <a:srgbClr val="FF0000"/>
                </a:solidFill>
              </a:rPr>
              <a:t>B</a:t>
            </a:r>
            <a:r>
              <a:rPr lang="zh-CN" altLang="zh-CN" b="1" dirty="0" smtClean="0">
                <a:solidFill>
                  <a:srgbClr val="FF0000"/>
                </a:solidFill>
              </a:rPr>
              <a:t>正确。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5" name="图片 1611084498" descr="figu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47861"/>
            <a:ext cx="5436096" cy="3310139"/>
          </a:xfrm>
          <a:prstGeom prst="rect">
            <a:avLst/>
          </a:prstGeom>
          <a:noFill/>
        </p:spPr>
      </p:pic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0"/>
            <a:ext cx="9144000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 fontAlgn="ctr">
              <a:spcBef>
                <a:spcPct val="0"/>
              </a:spcBef>
              <a:spcAft>
                <a:spcPct val="0"/>
              </a:spcAft>
              <a:tabLst>
                <a:tab pos="1317625" algn="l"/>
                <a:tab pos="2636838" algn="l"/>
                <a:tab pos="3956050" algn="l"/>
              </a:tabLst>
            </a:pPr>
            <a:r>
              <a:rPr lang="zh-CN" altLang="zh-CN" sz="20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土壤湿度表示一定深度土层的土壤干湿程度，又称土壤含水量。土壤湿度的高低受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农田水分平衡各个分量制约</a:t>
            </a:r>
            <a:r>
              <a:rPr lang="zh-CN" altLang="zh-CN" sz="20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，（在不受人类活动干预的情况下，</a:t>
            </a:r>
            <a:r>
              <a:rPr lang="zh-CN" altLang="zh-CN" sz="2000" b="1" dirty="0" smtClean="0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楷体" pitchFamily="49" charset="-122"/>
              </a:rPr>
              <a:t>土壤湿度的高低与当地的降水量和蒸发量的平衡密切相关</a:t>
            </a:r>
            <a:r>
              <a:rPr lang="zh-CN" altLang="zh-CN" sz="20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）。下图示意我国某地</a:t>
            </a: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0-50cm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楷体" pitchFamily="49" charset="-122"/>
              </a:rPr>
              <a:t>深度土壤湿度季节变化。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据此完成</a:t>
            </a: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10-11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题。</a:t>
            </a:r>
            <a:endParaRPr lang="zh-CN" altLang="en-US" sz="2000" b="1" dirty="0" smtClean="0"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10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该地区最可能为我国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云贵高原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华北平原        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江淮地区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青藏高原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11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关于该地区土壤湿度的叙述，正确的是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降水量大的季节土壤的湿度最高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深层土壤湿度大于表层主要是由于地下水丰富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12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月土壤湿度明显增加是由于冬季降雪多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317625" algn="l"/>
                <a:tab pos="2636838" algn="l"/>
                <a:tab pos="3956050" algn="l"/>
              </a:tabLst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．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3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、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4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  <a:cs typeface="宋体" pitchFamily="2" charset="-122"/>
              </a:rPr>
              <a:t>月份土壤湿度明显下降主要是因为春季气温回升快，蒸发量增大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32040" y="3645024"/>
            <a:ext cx="421196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      </a:t>
            </a:r>
            <a:r>
              <a:rPr lang="zh-CN" altLang="zh-CN" b="1" dirty="0" smtClean="0">
                <a:solidFill>
                  <a:srgbClr val="FF0000"/>
                </a:solidFill>
              </a:rPr>
              <a:t>华北平原</a:t>
            </a:r>
            <a:r>
              <a:rPr lang="zh-CN" altLang="zh-CN" b="1" dirty="0" smtClean="0">
                <a:solidFill>
                  <a:srgbClr val="FF0000"/>
                </a:solidFill>
              </a:rPr>
              <a:t>降水量大的季节是夏季，土壤的湿度不是最高，</a:t>
            </a:r>
            <a:r>
              <a:rPr lang="en-US" altLang="zh-CN" b="1" dirty="0" smtClean="0">
                <a:solidFill>
                  <a:srgbClr val="FF0000"/>
                </a:solidFill>
              </a:rPr>
              <a:t>A</a:t>
            </a:r>
            <a:r>
              <a:rPr lang="zh-CN" altLang="zh-CN" b="1" dirty="0" smtClean="0">
                <a:solidFill>
                  <a:srgbClr val="FF0000"/>
                </a:solidFill>
              </a:rPr>
              <a:t>错误</a:t>
            </a:r>
            <a:r>
              <a:rPr lang="zh-CN" altLang="zh-CN" b="1" dirty="0" smtClean="0">
                <a:solidFill>
                  <a:srgbClr val="FF0000"/>
                </a:solidFill>
              </a:rPr>
              <a:t>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      </a:t>
            </a:r>
            <a:r>
              <a:rPr lang="zh-CN" altLang="zh-CN" b="1" dirty="0" smtClean="0">
                <a:solidFill>
                  <a:srgbClr val="FF0000"/>
                </a:solidFill>
              </a:rPr>
              <a:t>深层</a:t>
            </a:r>
            <a:r>
              <a:rPr lang="zh-CN" altLang="zh-CN" b="1" dirty="0" smtClean="0">
                <a:solidFill>
                  <a:srgbClr val="FF0000"/>
                </a:solidFill>
              </a:rPr>
              <a:t>土壤湿度大于</a:t>
            </a:r>
            <a:r>
              <a:rPr lang="zh-CN" altLang="zh-CN" b="1" dirty="0" smtClean="0">
                <a:solidFill>
                  <a:srgbClr val="FF0000"/>
                </a:solidFill>
              </a:rPr>
              <a:t>表层</a:t>
            </a:r>
            <a:r>
              <a:rPr lang="zh-CN" altLang="en-US" b="1" dirty="0" smtClean="0">
                <a:solidFill>
                  <a:srgbClr val="FF0000"/>
                </a:solidFill>
              </a:rPr>
              <a:t>，</a:t>
            </a:r>
            <a:r>
              <a:rPr lang="zh-CN" altLang="zh-CN" b="1" dirty="0" smtClean="0">
                <a:solidFill>
                  <a:srgbClr val="FF0000"/>
                </a:solidFill>
              </a:rPr>
              <a:t>主要</a:t>
            </a:r>
            <a:r>
              <a:rPr lang="zh-CN" altLang="zh-CN" b="1" dirty="0" smtClean="0">
                <a:solidFill>
                  <a:srgbClr val="FF0000"/>
                </a:solidFill>
              </a:rPr>
              <a:t>是</a:t>
            </a:r>
            <a:r>
              <a:rPr lang="zh-CN" altLang="zh-CN" b="1" dirty="0" smtClean="0">
                <a:solidFill>
                  <a:srgbClr val="FF0000"/>
                </a:solidFill>
              </a:rPr>
              <a:t>由于</a:t>
            </a:r>
            <a:r>
              <a:rPr lang="zh-CN" altLang="en-US" b="1" dirty="0" smtClean="0">
                <a:solidFill>
                  <a:srgbClr val="FF0000"/>
                </a:solidFill>
              </a:rPr>
              <a:t>表层土壤蒸发量大</a:t>
            </a:r>
            <a:r>
              <a:rPr lang="zh-CN" altLang="zh-CN" b="1" dirty="0" smtClean="0">
                <a:solidFill>
                  <a:srgbClr val="FF0000"/>
                </a:solidFill>
              </a:rPr>
              <a:t>，</a:t>
            </a:r>
            <a:r>
              <a:rPr lang="en-US" altLang="zh-CN" b="1" dirty="0" smtClean="0">
                <a:solidFill>
                  <a:srgbClr val="FF0000"/>
                </a:solidFill>
              </a:rPr>
              <a:t>B</a:t>
            </a:r>
            <a:r>
              <a:rPr lang="zh-CN" altLang="zh-CN" b="1" dirty="0" smtClean="0">
                <a:solidFill>
                  <a:srgbClr val="FF0000"/>
                </a:solidFill>
              </a:rPr>
              <a:t>错误</a:t>
            </a:r>
            <a:r>
              <a:rPr lang="zh-CN" altLang="zh-CN" b="1" dirty="0" smtClean="0">
                <a:solidFill>
                  <a:srgbClr val="FF0000"/>
                </a:solidFill>
              </a:rPr>
              <a:t>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       12</a:t>
            </a:r>
            <a:r>
              <a:rPr lang="zh-CN" altLang="zh-CN" b="1" dirty="0" smtClean="0">
                <a:solidFill>
                  <a:srgbClr val="FF0000"/>
                </a:solidFill>
              </a:rPr>
              <a:t>月土壤湿度明显增加是由于农作物需水量减少，</a:t>
            </a:r>
            <a:r>
              <a:rPr lang="en-US" altLang="zh-CN" b="1" dirty="0" smtClean="0">
                <a:solidFill>
                  <a:srgbClr val="FF0000"/>
                </a:solidFill>
              </a:rPr>
              <a:t>C</a:t>
            </a:r>
            <a:r>
              <a:rPr lang="zh-CN" altLang="zh-CN" b="1" dirty="0" smtClean="0">
                <a:solidFill>
                  <a:srgbClr val="FF0000"/>
                </a:solidFill>
              </a:rPr>
              <a:t>错误</a:t>
            </a:r>
            <a:r>
              <a:rPr lang="zh-CN" altLang="zh-CN" b="1" dirty="0" smtClean="0">
                <a:solidFill>
                  <a:srgbClr val="FF0000"/>
                </a:solidFill>
              </a:rPr>
              <a:t>。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      3</a:t>
            </a:r>
            <a:r>
              <a:rPr lang="zh-CN" altLang="zh-CN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4</a:t>
            </a:r>
            <a:r>
              <a:rPr lang="zh-CN" altLang="zh-CN" b="1" dirty="0" smtClean="0">
                <a:solidFill>
                  <a:srgbClr val="FF0000"/>
                </a:solidFill>
              </a:rPr>
              <a:t>月份土壤湿度明显下降主要是因为春季气温回升快，蒸发量增大，</a:t>
            </a:r>
            <a:r>
              <a:rPr lang="en-US" altLang="zh-CN" b="1" dirty="0" smtClean="0">
                <a:solidFill>
                  <a:srgbClr val="FF0000"/>
                </a:solidFill>
              </a:rPr>
              <a:t>D</a:t>
            </a:r>
            <a:r>
              <a:rPr lang="zh-CN" altLang="zh-CN" b="1" dirty="0" smtClean="0">
                <a:solidFill>
                  <a:srgbClr val="FF0000"/>
                </a:solidFill>
              </a:rPr>
              <a:t>正确。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图片 7874028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513502"/>
            <a:ext cx="4572000" cy="3344498"/>
          </a:xfrm>
          <a:prstGeom prst="rect">
            <a:avLst/>
          </a:prstGeom>
          <a:noFill/>
        </p:spPr>
      </p:pic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171644"/>
            <a:ext cx="91440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6700" fontAlgn="ctr">
              <a:spcBef>
                <a:spcPct val="0"/>
              </a:spcBef>
              <a:spcAft>
                <a:spcPct val="0"/>
              </a:spcAft>
            </a:pPr>
            <a:r>
              <a:rPr lang="zh-CN" altLang="zh-CN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 从空中俯视大地，有的河流蜿蜒曲折，百转千回，形成的地貌称为曲流地貌或蛇曲地貌。如图为内蒙古呼伦贝尔草原上的蛇曲。结合所学知识回答</a:t>
            </a: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19-20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题。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20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．下列关于曲流地貌与人类活动关系说法不正确的是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   A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．通过对河流截弯取直能够预防洪涝灾害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   B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．对曲流筑堤束水，曲流地貌无法继续发育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   C</a:t>
            </a:r>
            <a:r>
              <a:rPr lang="zh-CN" altLang="en-US" sz="2000" b="1" dirty="0" smtClean="0">
                <a:latin typeface="Times New Roman" pitchFamily="18" charset="0"/>
                <a:ea typeface="宋体" pitchFamily="2" charset="-122"/>
                <a:cs typeface="宋体" pitchFamily="2" charset="-122"/>
              </a:rPr>
              <a:t>．河漫滩平原，大多是农业的高产区</a:t>
            </a:r>
          </a:p>
          <a:p>
            <a:pPr marL="0" marR="0" lvl="0" indent="26670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   D</a:t>
            </a:r>
            <a:r>
              <a:rPr lang="zh-CN" altLang="en-US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．我国西部草原上的蒙古包蜿蜒密布于</a:t>
            </a:r>
            <a:r>
              <a:rPr lang="zh-CN" altLang="en-US" sz="2000" b="1" u="sng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蛇曲两侧</a:t>
            </a:r>
          </a:p>
        </p:txBody>
      </p:sp>
      <p:sp>
        <p:nvSpPr>
          <p:cNvPr id="5" name="矩形 4"/>
          <p:cNvSpPr/>
          <p:nvPr/>
        </p:nvSpPr>
        <p:spPr>
          <a:xfrm>
            <a:off x="0" y="256490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      </a:t>
            </a:r>
            <a:r>
              <a:rPr lang="zh-CN" altLang="zh-CN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由于</a:t>
            </a:r>
            <a:r>
              <a:rPr lang="zh-CN" altLang="zh-CN" sz="2000" b="1" dirty="0" smtClean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宋体" pitchFamily="2" charset="-122"/>
              </a:rPr>
              <a:t>蛇曲凹岸侵蚀，不适宜建蒙古包，所以我国西部草原上的蒙古包不能分布蛇曲两侧，主要分布于凸岸一侧。</a:t>
            </a:r>
            <a:endParaRPr lang="zh-CN" altLang="en-US" sz="2000" b="1" dirty="0" smtClean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991</Words>
  <Application>Microsoft Office PowerPoint</Application>
  <PresentationFormat>全屏显示(4:3)</PresentationFormat>
  <Paragraphs>49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Administrator</cp:lastModifiedBy>
  <cp:revision>14</cp:revision>
  <dcterms:created xsi:type="dcterms:W3CDTF">2020-11-09T00:42:54Z</dcterms:created>
  <dcterms:modified xsi:type="dcterms:W3CDTF">2020-11-09T01:19:42Z</dcterms:modified>
</cp:coreProperties>
</file>