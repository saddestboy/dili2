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7" r:id="rId4"/>
    <p:sldId id="268" r:id="rId5"/>
    <p:sldId id="269" r:id="rId6"/>
    <p:sldId id="258" r:id="rId7"/>
    <p:sldId id="270" r:id="rId8"/>
    <p:sldId id="271" r:id="rId9"/>
    <p:sldId id="282" r:id="rId10"/>
    <p:sldId id="283" r:id="rId11"/>
    <p:sldId id="284" r:id="rId12"/>
    <p:sldId id="259" r:id="rId13"/>
    <p:sldId id="273" r:id="rId14"/>
    <p:sldId id="272" r:id="rId15"/>
    <p:sldId id="278" r:id="rId16"/>
    <p:sldId id="280" r:id="rId17"/>
    <p:sldId id="281" r:id="rId18"/>
    <p:sldId id="274" r:id="rId19"/>
    <p:sldId id="279" r:id="rId2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6" d="100"/>
          <a:sy n="66" d="100"/>
        </p:scale>
        <p:origin x="-1716" y="-1002"/>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FF9DC901-922F-4783-86BF-CAAC7989379D}"/>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xmlns="" id="{64936F4C-AC6C-4568-80AC-5D2FF6F5855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xmlns="" id="{DEFB1725-348D-4F6C-B480-53138778A556}"/>
              </a:ext>
            </a:extLst>
          </p:cNvPr>
          <p:cNvSpPr>
            <a:spLocks noGrp="1"/>
          </p:cNvSpPr>
          <p:nvPr>
            <p:ph type="dt" sz="half" idx="10"/>
          </p:nvPr>
        </p:nvSpPr>
        <p:spPr/>
        <p:txBody>
          <a:bodyPr/>
          <a:lstStyle/>
          <a:p>
            <a:fld id="{8B5BE763-19A4-481C-B976-A66EFA2578A0}" type="datetimeFigureOut">
              <a:rPr lang="zh-CN" altLang="en-US" smtClean="0"/>
              <a:pPr/>
              <a:t>2020-11-23</a:t>
            </a:fld>
            <a:endParaRPr lang="zh-CN" altLang="en-US"/>
          </a:p>
        </p:txBody>
      </p:sp>
      <p:sp>
        <p:nvSpPr>
          <p:cNvPr id="5" name="页脚占位符 4">
            <a:extLst>
              <a:ext uri="{FF2B5EF4-FFF2-40B4-BE49-F238E27FC236}">
                <a16:creationId xmlns:a16="http://schemas.microsoft.com/office/drawing/2014/main" xmlns="" id="{8380CBEF-3466-4332-8FAD-597369540E9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xmlns="" id="{565667B3-E4E2-4A4D-B8BB-EFFC6CFBF5D2}"/>
              </a:ext>
            </a:extLst>
          </p:cNvPr>
          <p:cNvSpPr>
            <a:spLocks noGrp="1"/>
          </p:cNvSpPr>
          <p:nvPr>
            <p:ph type="sldNum" sz="quarter" idx="12"/>
          </p:nvPr>
        </p:nvSpPr>
        <p:spPr/>
        <p:txBody>
          <a:bodyPr/>
          <a:lstStyle/>
          <a:p>
            <a:fld id="{5BBE10C1-EBCF-449C-81D1-AFFAE295A3D6}" type="slidenum">
              <a:rPr lang="zh-CN" altLang="en-US" smtClean="0"/>
              <a:pPr/>
              <a:t>‹#›</a:t>
            </a:fld>
            <a:endParaRPr lang="zh-CN" altLang="en-US"/>
          </a:p>
        </p:txBody>
      </p:sp>
    </p:spTree>
    <p:extLst>
      <p:ext uri="{BB962C8B-B14F-4D97-AF65-F5344CB8AC3E}">
        <p14:creationId xmlns:p14="http://schemas.microsoft.com/office/powerpoint/2010/main" xmlns="" val="1826198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A8F69F33-7316-4E4F-9815-B98B1FD8C6A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xmlns="" id="{4AD664EA-4269-447E-AC23-3D09919AE58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xmlns="" id="{D5E97635-2874-4E2E-BB10-E4FC0ED20EA0}"/>
              </a:ext>
            </a:extLst>
          </p:cNvPr>
          <p:cNvSpPr>
            <a:spLocks noGrp="1"/>
          </p:cNvSpPr>
          <p:nvPr>
            <p:ph type="dt" sz="half" idx="10"/>
          </p:nvPr>
        </p:nvSpPr>
        <p:spPr/>
        <p:txBody>
          <a:bodyPr/>
          <a:lstStyle/>
          <a:p>
            <a:fld id="{8B5BE763-19A4-481C-B976-A66EFA2578A0}" type="datetimeFigureOut">
              <a:rPr lang="zh-CN" altLang="en-US" smtClean="0"/>
              <a:pPr/>
              <a:t>2020-11-23</a:t>
            </a:fld>
            <a:endParaRPr lang="zh-CN" altLang="en-US"/>
          </a:p>
        </p:txBody>
      </p:sp>
      <p:sp>
        <p:nvSpPr>
          <p:cNvPr id="5" name="页脚占位符 4">
            <a:extLst>
              <a:ext uri="{FF2B5EF4-FFF2-40B4-BE49-F238E27FC236}">
                <a16:creationId xmlns:a16="http://schemas.microsoft.com/office/drawing/2014/main" xmlns="" id="{5EEBA6E1-6CFE-4275-B96E-9656ECC713A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xmlns="" id="{5EFC01F9-2039-41D0-BB6A-BA8C1462A29D}"/>
              </a:ext>
            </a:extLst>
          </p:cNvPr>
          <p:cNvSpPr>
            <a:spLocks noGrp="1"/>
          </p:cNvSpPr>
          <p:nvPr>
            <p:ph type="sldNum" sz="quarter" idx="12"/>
          </p:nvPr>
        </p:nvSpPr>
        <p:spPr/>
        <p:txBody>
          <a:bodyPr/>
          <a:lstStyle/>
          <a:p>
            <a:fld id="{5BBE10C1-EBCF-449C-81D1-AFFAE295A3D6}" type="slidenum">
              <a:rPr lang="zh-CN" altLang="en-US" smtClean="0"/>
              <a:pPr/>
              <a:t>‹#›</a:t>
            </a:fld>
            <a:endParaRPr lang="zh-CN" altLang="en-US"/>
          </a:p>
        </p:txBody>
      </p:sp>
    </p:spTree>
    <p:extLst>
      <p:ext uri="{BB962C8B-B14F-4D97-AF65-F5344CB8AC3E}">
        <p14:creationId xmlns:p14="http://schemas.microsoft.com/office/powerpoint/2010/main" xmlns="" val="3737759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953F3160-1082-4F07-8B48-B53652F91DAA}"/>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xmlns="" id="{E2FB216A-247C-4D7F-921A-B71901F135D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xmlns="" id="{AFEEB8B8-7C28-4110-9A6D-DC34B6AF73B8}"/>
              </a:ext>
            </a:extLst>
          </p:cNvPr>
          <p:cNvSpPr>
            <a:spLocks noGrp="1"/>
          </p:cNvSpPr>
          <p:nvPr>
            <p:ph type="dt" sz="half" idx="10"/>
          </p:nvPr>
        </p:nvSpPr>
        <p:spPr/>
        <p:txBody>
          <a:bodyPr/>
          <a:lstStyle/>
          <a:p>
            <a:fld id="{8B5BE763-19A4-481C-B976-A66EFA2578A0}" type="datetimeFigureOut">
              <a:rPr lang="zh-CN" altLang="en-US" smtClean="0"/>
              <a:pPr/>
              <a:t>2020-11-23</a:t>
            </a:fld>
            <a:endParaRPr lang="zh-CN" altLang="en-US"/>
          </a:p>
        </p:txBody>
      </p:sp>
      <p:sp>
        <p:nvSpPr>
          <p:cNvPr id="5" name="页脚占位符 4">
            <a:extLst>
              <a:ext uri="{FF2B5EF4-FFF2-40B4-BE49-F238E27FC236}">
                <a16:creationId xmlns:a16="http://schemas.microsoft.com/office/drawing/2014/main" xmlns="" id="{0CDDC12A-8B82-4490-8CB0-74D2E050212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xmlns="" id="{706A110D-2C43-4F30-867C-82FF329D0DC5}"/>
              </a:ext>
            </a:extLst>
          </p:cNvPr>
          <p:cNvSpPr>
            <a:spLocks noGrp="1"/>
          </p:cNvSpPr>
          <p:nvPr>
            <p:ph type="sldNum" sz="quarter" idx="12"/>
          </p:nvPr>
        </p:nvSpPr>
        <p:spPr/>
        <p:txBody>
          <a:bodyPr/>
          <a:lstStyle/>
          <a:p>
            <a:fld id="{5BBE10C1-EBCF-449C-81D1-AFFAE295A3D6}" type="slidenum">
              <a:rPr lang="zh-CN" altLang="en-US" smtClean="0"/>
              <a:pPr/>
              <a:t>‹#›</a:t>
            </a:fld>
            <a:endParaRPr lang="zh-CN" altLang="en-US"/>
          </a:p>
        </p:txBody>
      </p:sp>
    </p:spTree>
    <p:extLst>
      <p:ext uri="{BB962C8B-B14F-4D97-AF65-F5344CB8AC3E}">
        <p14:creationId xmlns:p14="http://schemas.microsoft.com/office/powerpoint/2010/main" xmlns="" val="31031535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EDDF5BD8-3FF7-42EE-852C-BAD5A79C413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xmlns="" id="{A153C8C4-34D7-483D-BD30-23A6E946CD49}"/>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xmlns="" id="{E40D3AB8-1F7D-4AA4-A9A4-893C55B68E32}"/>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xmlns="" id="{CE29D6F0-2B54-4751-82AB-D9AB9535A29A}"/>
              </a:ext>
            </a:extLst>
          </p:cNvPr>
          <p:cNvSpPr>
            <a:spLocks noGrp="1"/>
          </p:cNvSpPr>
          <p:nvPr>
            <p:ph type="dt" sz="half" idx="10"/>
          </p:nvPr>
        </p:nvSpPr>
        <p:spPr/>
        <p:txBody>
          <a:bodyPr/>
          <a:lstStyle/>
          <a:p>
            <a:fld id="{8B5BE763-19A4-481C-B976-A66EFA2578A0}" type="datetimeFigureOut">
              <a:rPr lang="zh-CN" altLang="en-US" smtClean="0"/>
              <a:pPr/>
              <a:t>2020-11-23</a:t>
            </a:fld>
            <a:endParaRPr lang="zh-CN" altLang="en-US"/>
          </a:p>
        </p:txBody>
      </p:sp>
      <p:sp>
        <p:nvSpPr>
          <p:cNvPr id="6" name="页脚占位符 5">
            <a:extLst>
              <a:ext uri="{FF2B5EF4-FFF2-40B4-BE49-F238E27FC236}">
                <a16:creationId xmlns:a16="http://schemas.microsoft.com/office/drawing/2014/main" xmlns="" id="{CBA10196-3E28-4C06-99F2-13AD05C59B0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xmlns="" id="{5EB4C4A1-EB6E-4890-85B2-F89A650D55AE}"/>
              </a:ext>
            </a:extLst>
          </p:cNvPr>
          <p:cNvSpPr>
            <a:spLocks noGrp="1"/>
          </p:cNvSpPr>
          <p:nvPr>
            <p:ph type="sldNum" sz="quarter" idx="12"/>
          </p:nvPr>
        </p:nvSpPr>
        <p:spPr/>
        <p:txBody>
          <a:bodyPr/>
          <a:lstStyle/>
          <a:p>
            <a:fld id="{5BBE10C1-EBCF-449C-81D1-AFFAE295A3D6}" type="slidenum">
              <a:rPr lang="zh-CN" altLang="en-US" smtClean="0"/>
              <a:pPr/>
              <a:t>‹#›</a:t>
            </a:fld>
            <a:endParaRPr lang="zh-CN" altLang="en-US"/>
          </a:p>
        </p:txBody>
      </p:sp>
    </p:spTree>
    <p:extLst>
      <p:ext uri="{BB962C8B-B14F-4D97-AF65-F5344CB8AC3E}">
        <p14:creationId xmlns:p14="http://schemas.microsoft.com/office/powerpoint/2010/main" xmlns="" val="4162765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B54A3708-9122-4ACA-80BC-F24BD287BE68}"/>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xmlns="" id="{CB37C437-EBC6-46A0-A521-630BA949EF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xmlns="" id="{5A341CBB-650E-44A4-88D4-38D2545C13AE}"/>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xmlns="" id="{3B6CA617-6714-4FF0-A532-4F00CC230F6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xmlns="" id="{A5249331-2627-4E96-A93B-E367B11EBBE2}"/>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xmlns="" id="{79D91312-5929-46D8-9093-D23FC2087804}"/>
              </a:ext>
            </a:extLst>
          </p:cNvPr>
          <p:cNvSpPr>
            <a:spLocks noGrp="1"/>
          </p:cNvSpPr>
          <p:nvPr>
            <p:ph type="dt" sz="half" idx="10"/>
          </p:nvPr>
        </p:nvSpPr>
        <p:spPr/>
        <p:txBody>
          <a:bodyPr/>
          <a:lstStyle/>
          <a:p>
            <a:fld id="{8B5BE763-19A4-481C-B976-A66EFA2578A0}" type="datetimeFigureOut">
              <a:rPr lang="zh-CN" altLang="en-US" smtClean="0"/>
              <a:pPr/>
              <a:t>2020-11-23</a:t>
            </a:fld>
            <a:endParaRPr lang="zh-CN" altLang="en-US"/>
          </a:p>
        </p:txBody>
      </p:sp>
      <p:sp>
        <p:nvSpPr>
          <p:cNvPr id="8" name="页脚占位符 7">
            <a:extLst>
              <a:ext uri="{FF2B5EF4-FFF2-40B4-BE49-F238E27FC236}">
                <a16:creationId xmlns:a16="http://schemas.microsoft.com/office/drawing/2014/main" xmlns="" id="{69D4394F-F77D-4574-944A-2C8A0BAAA52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xmlns="" id="{C61412E3-3338-46B9-96E3-6376675C5389}"/>
              </a:ext>
            </a:extLst>
          </p:cNvPr>
          <p:cNvSpPr>
            <a:spLocks noGrp="1"/>
          </p:cNvSpPr>
          <p:nvPr>
            <p:ph type="sldNum" sz="quarter" idx="12"/>
          </p:nvPr>
        </p:nvSpPr>
        <p:spPr/>
        <p:txBody>
          <a:bodyPr/>
          <a:lstStyle/>
          <a:p>
            <a:fld id="{5BBE10C1-EBCF-449C-81D1-AFFAE295A3D6}" type="slidenum">
              <a:rPr lang="zh-CN" altLang="en-US" smtClean="0"/>
              <a:pPr/>
              <a:t>‹#›</a:t>
            </a:fld>
            <a:endParaRPr lang="zh-CN" altLang="en-US"/>
          </a:p>
        </p:txBody>
      </p:sp>
    </p:spTree>
    <p:extLst>
      <p:ext uri="{BB962C8B-B14F-4D97-AF65-F5344CB8AC3E}">
        <p14:creationId xmlns:p14="http://schemas.microsoft.com/office/powerpoint/2010/main" xmlns="" val="30110064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240655FE-E243-4956-93AB-6CE977538B80}"/>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xmlns="" id="{3568BB37-3BC2-48D3-B4BB-8EC422A90FD2}"/>
              </a:ext>
            </a:extLst>
          </p:cNvPr>
          <p:cNvSpPr>
            <a:spLocks noGrp="1"/>
          </p:cNvSpPr>
          <p:nvPr>
            <p:ph type="dt" sz="half" idx="10"/>
          </p:nvPr>
        </p:nvSpPr>
        <p:spPr/>
        <p:txBody>
          <a:bodyPr/>
          <a:lstStyle/>
          <a:p>
            <a:fld id="{8B5BE763-19A4-481C-B976-A66EFA2578A0}" type="datetimeFigureOut">
              <a:rPr lang="zh-CN" altLang="en-US" smtClean="0"/>
              <a:pPr/>
              <a:t>2020-11-23</a:t>
            </a:fld>
            <a:endParaRPr lang="zh-CN" altLang="en-US"/>
          </a:p>
        </p:txBody>
      </p:sp>
      <p:sp>
        <p:nvSpPr>
          <p:cNvPr id="4" name="页脚占位符 3">
            <a:extLst>
              <a:ext uri="{FF2B5EF4-FFF2-40B4-BE49-F238E27FC236}">
                <a16:creationId xmlns:a16="http://schemas.microsoft.com/office/drawing/2014/main" xmlns="" id="{26AF9F64-E85F-4774-93B0-60B6AE389F8F}"/>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xmlns="" id="{B221A0F2-6916-4EF1-B40D-B7F22CB5DFF2}"/>
              </a:ext>
            </a:extLst>
          </p:cNvPr>
          <p:cNvSpPr>
            <a:spLocks noGrp="1"/>
          </p:cNvSpPr>
          <p:nvPr>
            <p:ph type="sldNum" sz="quarter" idx="12"/>
          </p:nvPr>
        </p:nvSpPr>
        <p:spPr/>
        <p:txBody>
          <a:bodyPr/>
          <a:lstStyle/>
          <a:p>
            <a:fld id="{5BBE10C1-EBCF-449C-81D1-AFFAE295A3D6}" type="slidenum">
              <a:rPr lang="zh-CN" altLang="en-US" smtClean="0"/>
              <a:pPr/>
              <a:t>‹#›</a:t>
            </a:fld>
            <a:endParaRPr lang="zh-CN" altLang="en-US"/>
          </a:p>
        </p:txBody>
      </p:sp>
    </p:spTree>
    <p:extLst>
      <p:ext uri="{BB962C8B-B14F-4D97-AF65-F5344CB8AC3E}">
        <p14:creationId xmlns:p14="http://schemas.microsoft.com/office/powerpoint/2010/main" xmlns="" val="22660628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xmlns="" id="{2F922920-ADD1-40EA-894E-6620E3182C1B}"/>
              </a:ext>
            </a:extLst>
          </p:cNvPr>
          <p:cNvSpPr>
            <a:spLocks noGrp="1"/>
          </p:cNvSpPr>
          <p:nvPr>
            <p:ph type="dt" sz="half" idx="10"/>
          </p:nvPr>
        </p:nvSpPr>
        <p:spPr/>
        <p:txBody>
          <a:bodyPr/>
          <a:lstStyle/>
          <a:p>
            <a:fld id="{8B5BE763-19A4-481C-B976-A66EFA2578A0}" type="datetimeFigureOut">
              <a:rPr lang="zh-CN" altLang="en-US" smtClean="0"/>
              <a:pPr/>
              <a:t>2020-11-23</a:t>
            </a:fld>
            <a:endParaRPr lang="zh-CN" altLang="en-US"/>
          </a:p>
        </p:txBody>
      </p:sp>
      <p:sp>
        <p:nvSpPr>
          <p:cNvPr id="3" name="页脚占位符 2">
            <a:extLst>
              <a:ext uri="{FF2B5EF4-FFF2-40B4-BE49-F238E27FC236}">
                <a16:creationId xmlns:a16="http://schemas.microsoft.com/office/drawing/2014/main" xmlns="" id="{2A9E9516-6A83-442D-B50E-D64FA0ACA31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xmlns="" id="{7A810540-CAA9-4B41-AF3F-37A8254FDF40}"/>
              </a:ext>
            </a:extLst>
          </p:cNvPr>
          <p:cNvSpPr>
            <a:spLocks noGrp="1"/>
          </p:cNvSpPr>
          <p:nvPr>
            <p:ph type="sldNum" sz="quarter" idx="12"/>
          </p:nvPr>
        </p:nvSpPr>
        <p:spPr/>
        <p:txBody>
          <a:bodyPr/>
          <a:lstStyle/>
          <a:p>
            <a:fld id="{5BBE10C1-EBCF-449C-81D1-AFFAE295A3D6}" type="slidenum">
              <a:rPr lang="zh-CN" altLang="en-US" smtClean="0"/>
              <a:pPr/>
              <a:t>‹#›</a:t>
            </a:fld>
            <a:endParaRPr lang="zh-CN" altLang="en-US"/>
          </a:p>
        </p:txBody>
      </p:sp>
    </p:spTree>
    <p:extLst>
      <p:ext uri="{BB962C8B-B14F-4D97-AF65-F5344CB8AC3E}">
        <p14:creationId xmlns:p14="http://schemas.microsoft.com/office/powerpoint/2010/main" xmlns="" val="38060695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EDE2DF9E-4E9E-46F3-AA12-33D88590657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xmlns="" id="{D452635B-80B2-4C47-BCAF-20B57B0792E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xmlns="" id="{BFBECEAB-74F9-4899-A921-78CE285476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xmlns="" id="{C8B60239-D99F-4ADD-92A8-B2926ED39293}"/>
              </a:ext>
            </a:extLst>
          </p:cNvPr>
          <p:cNvSpPr>
            <a:spLocks noGrp="1"/>
          </p:cNvSpPr>
          <p:nvPr>
            <p:ph type="dt" sz="half" idx="10"/>
          </p:nvPr>
        </p:nvSpPr>
        <p:spPr/>
        <p:txBody>
          <a:bodyPr/>
          <a:lstStyle/>
          <a:p>
            <a:fld id="{8B5BE763-19A4-481C-B976-A66EFA2578A0}" type="datetimeFigureOut">
              <a:rPr lang="zh-CN" altLang="en-US" smtClean="0"/>
              <a:pPr/>
              <a:t>2020-11-23</a:t>
            </a:fld>
            <a:endParaRPr lang="zh-CN" altLang="en-US"/>
          </a:p>
        </p:txBody>
      </p:sp>
      <p:sp>
        <p:nvSpPr>
          <p:cNvPr id="6" name="页脚占位符 5">
            <a:extLst>
              <a:ext uri="{FF2B5EF4-FFF2-40B4-BE49-F238E27FC236}">
                <a16:creationId xmlns:a16="http://schemas.microsoft.com/office/drawing/2014/main" xmlns="" id="{060982E3-F3F4-44B0-A25D-D47D7E84159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xmlns="" id="{3EDB8A46-644C-4928-ABA6-A7F01CA555AE}"/>
              </a:ext>
            </a:extLst>
          </p:cNvPr>
          <p:cNvSpPr>
            <a:spLocks noGrp="1"/>
          </p:cNvSpPr>
          <p:nvPr>
            <p:ph type="sldNum" sz="quarter" idx="12"/>
          </p:nvPr>
        </p:nvSpPr>
        <p:spPr/>
        <p:txBody>
          <a:bodyPr/>
          <a:lstStyle/>
          <a:p>
            <a:fld id="{5BBE10C1-EBCF-449C-81D1-AFFAE295A3D6}" type="slidenum">
              <a:rPr lang="zh-CN" altLang="en-US" smtClean="0"/>
              <a:pPr/>
              <a:t>‹#›</a:t>
            </a:fld>
            <a:endParaRPr lang="zh-CN" altLang="en-US"/>
          </a:p>
        </p:txBody>
      </p:sp>
    </p:spTree>
    <p:extLst>
      <p:ext uri="{BB962C8B-B14F-4D97-AF65-F5344CB8AC3E}">
        <p14:creationId xmlns:p14="http://schemas.microsoft.com/office/powerpoint/2010/main" xmlns="" val="3490733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22FD57ED-F939-4539-84AE-1F905573883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xmlns="" id="{A570A9E0-39D2-4A3B-B5A6-A33D2920AE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xmlns="" id="{DFCC0023-9326-404A-AAC0-EBCE98190C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xmlns="" id="{81386D99-794A-412C-ADC0-9F3F391FEDD9}"/>
              </a:ext>
            </a:extLst>
          </p:cNvPr>
          <p:cNvSpPr>
            <a:spLocks noGrp="1"/>
          </p:cNvSpPr>
          <p:nvPr>
            <p:ph type="dt" sz="half" idx="10"/>
          </p:nvPr>
        </p:nvSpPr>
        <p:spPr/>
        <p:txBody>
          <a:bodyPr/>
          <a:lstStyle/>
          <a:p>
            <a:fld id="{8B5BE763-19A4-481C-B976-A66EFA2578A0}" type="datetimeFigureOut">
              <a:rPr lang="zh-CN" altLang="en-US" smtClean="0"/>
              <a:pPr/>
              <a:t>2020-11-23</a:t>
            </a:fld>
            <a:endParaRPr lang="zh-CN" altLang="en-US"/>
          </a:p>
        </p:txBody>
      </p:sp>
      <p:sp>
        <p:nvSpPr>
          <p:cNvPr id="6" name="页脚占位符 5">
            <a:extLst>
              <a:ext uri="{FF2B5EF4-FFF2-40B4-BE49-F238E27FC236}">
                <a16:creationId xmlns:a16="http://schemas.microsoft.com/office/drawing/2014/main" xmlns="" id="{AC6396E5-32A4-4B90-A0ED-3D4282E1322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xmlns="" id="{7906A33B-08A4-4FEF-AD50-FE9F4F4A1C05}"/>
              </a:ext>
            </a:extLst>
          </p:cNvPr>
          <p:cNvSpPr>
            <a:spLocks noGrp="1"/>
          </p:cNvSpPr>
          <p:nvPr>
            <p:ph type="sldNum" sz="quarter" idx="12"/>
          </p:nvPr>
        </p:nvSpPr>
        <p:spPr/>
        <p:txBody>
          <a:bodyPr/>
          <a:lstStyle/>
          <a:p>
            <a:fld id="{5BBE10C1-EBCF-449C-81D1-AFFAE295A3D6}" type="slidenum">
              <a:rPr lang="zh-CN" altLang="en-US" smtClean="0"/>
              <a:pPr/>
              <a:t>‹#›</a:t>
            </a:fld>
            <a:endParaRPr lang="zh-CN" altLang="en-US"/>
          </a:p>
        </p:txBody>
      </p:sp>
    </p:spTree>
    <p:extLst>
      <p:ext uri="{BB962C8B-B14F-4D97-AF65-F5344CB8AC3E}">
        <p14:creationId xmlns:p14="http://schemas.microsoft.com/office/powerpoint/2010/main" xmlns="" val="27339136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2B5057EE-AF29-4E02-9DAF-32B7B229073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xmlns="" id="{832F4FCA-CA7A-4CF9-97F3-8F33E9815E8F}"/>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xmlns="" id="{12FA72D2-6C79-4E03-8B58-59BE784AEE2B}"/>
              </a:ext>
            </a:extLst>
          </p:cNvPr>
          <p:cNvSpPr>
            <a:spLocks noGrp="1"/>
          </p:cNvSpPr>
          <p:nvPr>
            <p:ph type="dt" sz="half" idx="10"/>
          </p:nvPr>
        </p:nvSpPr>
        <p:spPr/>
        <p:txBody>
          <a:bodyPr/>
          <a:lstStyle/>
          <a:p>
            <a:fld id="{8B5BE763-19A4-481C-B976-A66EFA2578A0}" type="datetimeFigureOut">
              <a:rPr lang="zh-CN" altLang="en-US" smtClean="0"/>
              <a:pPr/>
              <a:t>2020-11-23</a:t>
            </a:fld>
            <a:endParaRPr lang="zh-CN" altLang="en-US"/>
          </a:p>
        </p:txBody>
      </p:sp>
      <p:sp>
        <p:nvSpPr>
          <p:cNvPr id="5" name="页脚占位符 4">
            <a:extLst>
              <a:ext uri="{FF2B5EF4-FFF2-40B4-BE49-F238E27FC236}">
                <a16:creationId xmlns:a16="http://schemas.microsoft.com/office/drawing/2014/main" xmlns="" id="{3CC14C81-D46B-4086-8F3C-A65E22AC073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xmlns="" id="{3D0974EB-A3D2-48EB-9BF2-C58597058F8C}"/>
              </a:ext>
            </a:extLst>
          </p:cNvPr>
          <p:cNvSpPr>
            <a:spLocks noGrp="1"/>
          </p:cNvSpPr>
          <p:nvPr>
            <p:ph type="sldNum" sz="quarter" idx="12"/>
          </p:nvPr>
        </p:nvSpPr>
        <p:spPr/>
        <p:txBody>
          <a:bodyPr/>
          <a:lstStyle/>
          <a:p>
            <a:fld id="{5BBE10C1-EBCF-449C-81D1-AFFAE295A3D6}" type="slidenum">
              <a:rPr lang="zh-CN" altLang="en-US" smtClean="0"/>
              <a:pPr/>
              <a:t>‹#›</a:t>
            </a:fld>
            <a:endParaRPr lang="zh-CN" altLang="en-US"/>
          </a:p>
        </p:txBody>
      </p:sp>
    </p:spTree>
    <p:extLst>
      <p:ext uri="{BB962C8B-B14F-4D97-AF65-F5344CB8AC3E}">
        <p14:creationId xmlns:p14="http://schemas.microsoft.com/office/powerpoint/2010/main" xmlns="" val="5762464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xmlns="" id="{B2BF27DB-B462-4F76-9016-987D9169B415}"/>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xmlns="" id="{F8E9F361-0420-4789-ACC6-1D020B3F005D}"/>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xmlns="" id="{B0462B96-7E83-4AD6-A6DC-351E49714E9F}"/>
              </a:ext>
            </a:extLst>
          </p:cNvPr>
          <p:cNvSpPr>
            <a:spLocks noGrp="1"/>
          </p:cNvSpPr>
          <p:nvPr>
            <p:ph type="dt" sz="half" idx="10"/>
          </p:nvPr>
        </p:nvSpPr>
        <p:spPr/>
        <p:txBody>
          <a:bodyPr/>
          <a:lstStyle/>
          <a:p>
            <a:fld id="{8B5BE763-19A4-481C-B976-A66EFA2578A0}" type="datetimeFigureOut">
              <a:rPr lang="zh-CN" altLang="en-US" smtClean="0"/>
              <a:pPr/>
              <a:t>2020-11-23</a:t>
            </a:fld>
            <a:endParaRPr lang="zh-CN" altLang="en-US"/>
          </a:p>
        </p:txBody>
      </p:sp>
      <p:sp>
        <p:nvSpPr>
          <p:cNvPr id="5" name="页脚占位符 4">
            <a:extLst>
              <a:ext uri="{FF2B5EF4-FFF2-40B4-BE49-F238E27FC236}">
                <a16:creationId xmlns:a16="http://schemas.microsoft.com/office/drawing/2014/main" xmlns="" id="{37B13311-8D6F-41E5-8E3B-A5301AAF073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xmlns="" id="{3D0F61D8-90BC-418D-ADC9-100064B5A024}"/>
              </a:ext>
            </a:extLst>
          </p:cNvPr>
          <p:cNvSpPr>
            <a:spLocks noGrp="1"/>
          </p:cNvSpPr>
          <p:nvPr>
            <p:ph type="sldNum" sz="quarter" idx="12"/>
          </p:nvPr>
        </p:nvSpPr>
        <p:spPr/>
        <p:txBody>
          <a:bodyPr/>
          <a:lstStyle/>
          <a:p>
            <a:fld id="{5BBE10C1-EBCF-449C-81D1-AFFAE295A3D6}" type="slidenum">
              <a:rPr lang="zh-CN" altLang="en-US" smtClean="0"/>
              <a:pPr/>
              <a:t>‹#›</a:t>
            </a:fld>
            <a:endParaRPr lang="zh-CN" altLang="en-US"/>
          </a:p>
        </p:txBody>
      </p:sp>
    </p:spTree>
    <p:extLst>
      <p:ext uri="{BB962C8B-B14F-4D97-AF65-F5344CB8AC3E}">
        <p14:creationId xmlns:p14="http://schemas.microsoft.com/office/powerpoint/2010/main" xmlns="" val="3260780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xmlns="" id="{85A957A8-5353-439A-B1CD-668B980397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xmlns="" id="{1E02E123-D16F-4D3A-8FBC-804964E1A9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xmlns="" id="{057AB9E0-040A-472B-9CE6-B7689A08051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5BE763-19A4-481C-B976-A66EFA2578A0}" type="datetimeFigureOut">
              <a:rPr lang="zh-CN" altLang="en-US" smtClean="0"/>
              <a:pPr/>
              <a:t>2020-11-23</a:t>
            </a:fld>
            <a:endParaRPr lang="zh-CN" altLang="en-US"/>
          </a:p>
        </p:txBody>
      </p:sp>
      <p:sp>
        <p:nvSpPr>
          <p:cNvPr id="5" name="页脚占位符 4">
            <a:extLst>
              <a:ext uri="{FF2B5EF4-FFF2-40B4-BE49-F238E27FC236}">
                <a16:creationId xmlns:a16="http://schemas.microsoft.com/office/drawing/2014/main" xmlns="" id="{8A71FB85-5685-4B3C-800A-59409E5EE3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xmlns="" id="{63FF3A62-EB2D-4E6C-B29E-20176BE1D1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BE10C1-EBCF-449C-81D1-AFFAE295A3D6}" type="slidenum">
              <a:rPr lang="zh-CN" altLang="en-US" smtClean="0"/>
              <a:pPr/>
              <a:t>‹#›</a:t>
            </a:fld>
            <a:endParaRPr lang="zh-CN" altLang="en-US"/>
          </a:p>
        </p:txBody>
      </p:sp>
    </p:spTree>
    <p:extLst>
      <p:ext uri="{BB962C8B-B14F-4D97-AF65-F5344CB8AC3E}">
        <p14:creationId xmlns:p14="http://schemas.microsoft.com/office/powerpoint/2010/main" xmlns="" val="33903648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xmlns="" id="{DD8340F0-AB2C-4920-AF30-EF579324FD78}"/>
              </a:ext>
            </a:extLst>
          </p:cNvPr>
          <p:cNvSpPr txBox="1"/>
          <p:nvPr/>
        </p:nvSpPr>
        <p:spPr>
          <a:xfrm>
            <a:off x="3179618" y="0"/>
            <a:ext cx="6340197" cy="830997"/>
          </a:xfrm>
          <a:prstGeom prst="rect">
            <a:avLst/>
          </a:prstGeom>
          <a:noFill/>
        </p:spPr>
        <p:txBody>
          <a:bodyPr wrap="none" rtlCol="0">
            <a:spAutoFit/>
          </a:bodyPr>
          <a:lstStyle/>
          <a:p>
            <a:r>
              <a:rPr lang="zh-CN" altLang="en-US" sz="4800" dirty="0"/>
              <a:t>渔业资源（高考真题）</a:t>
            </a:r>
          </a:p>
        </p:txBody>
      </p:sp>
      <p:sp>
        <p:nvSpPr>
          <p:cNvPr id="5" name="文本框 4">
            <a:extLst>
              <a:ext uri="{FF2B5EF4-FFF2-40B4-BE49-F238E27FC236}">
                <a16:creationId xmlns:a16="http://schemas.microsoft.com/office/drawing/2014/main" xmlns="" id="{A6B6DFD9-57EB-45A3-B2A6-2D0EC18341C6}"/>
              </a:ext>
            </a:extLst>
          </p:cNvPr>
          <p:cNvSpPr txBox="1"/>
          <p:nvPr/>
        </p:nvSpPr>
        <p:spPr>
          <a:xfrm>
            <a:off x="360217" y="830997"/>
            <a:ext cx="11392862" cy="3416320"/>
          </a:xfrm>
          <a:prstGeom prst="rect">
            <a:avLst/>
          </a:prstGeom>
          <a:noFill/>
        </p:spPr>
        <p:txBody>
          <a:bodyPr wrap="none" rtlCol="0">
            <a:spAutoFit/>
          </a:bodyPr>
          <a:lstStyle/>
          <a:p>
            <a:r>
              <a:rPr lang="en-US" altLang="zh-CN" sz="3600" b="1" dirty="0"/>
              <a:t>【</a:t>
            </a:r>
            <a:r>
              <a:rPr lang="zh-CN" altLang="en-US" sz="3600" b="1" dirty="0"/>
              <a:t>主要问题</a:t>
            </a:r>
            <a:r>
              <a:rPr lang="en-US" altLang="zh-CN" sz="3600" b="1" dirty="0"/>
              <a:t>】</a:t>
            </a:r>
          </a:p>
          <a:p>
            <a:r>
              <a:rPr lang="en-US" altLang="zh-CN" sz="3600" b="1" dirty="0"/>
              <a:t>1</a:t>
            </a:r>
            <a:r>
              <a:rPr lang="zh-CN" altLang="en-US" sz="3600" b="1" dirty="0"/>
              <a:t>、抄作业现象严重！！！</a:t>
            </a:r>
            <a:endParaRPr lang="en-US" altLang="zh-CN" sz="3600" b="1" dirty="0"/>
          </a:p>
          <a:p>
            <a:r>
              <a:rPr lang="en-US" altLang="zh-CN" sz="3600" b="1" dirty="0"/>
              <a:t>2</a:t>
            </a:r>
            <a:r>
              <a:rPr lang="zh-CN" altLang="en-US" sz="3600" b="1" dirty="0"/>
              <a:t>、不会根据材料讲话，材料信息提取不完全。</a:t>
            </a:r>
            <a:endParaRPr lang="en-US" altLang="zh-CN" sz="3600" b="1" dirty="0"/>
          </a:p>
          <a:p>
            <a:r>
              <a:rPr lang="en-US" altLang="zh-CN" sz="3600" b="1" dirty="0"/>
              <a:t>3</a:t>
            </a:r>
            <a:r>
              <a:rPr lang="zh-CN" altLang="en-US" sz="3600" b="1" dirty="0"/>
              <a:t>、表达不完整，缺乏逻辑或关键词。</a:t>
            </a:r>
            <a:endParaRPr lang="en-US" altLang="zh-CN" sz="3600" b="1" dirty="0"/>
          </a:p>
          <a:p>
            <a:r>
              <a:rPr lang="en-US" altLang="zh-CN" sz="3600" b="1" dirty="0"/>
              <a:t>4</a:t>
            </a:r>
            <a:r>
              <a:rPr lang="zh-CN" altLang="en-US" sz="3600" b="1" dirty="0"/>
              <a:t>、审题不清。无法理解“分析”、“说明”指令词的要求。</a:t>
            </a:r>
            <a:endParaRPr lang="en-US" altLang="zh-CN" sz="3600" b="1" dirty="0"/>
          </a:p>
          <a:p>
            <a:r>
              <a:rPr lang="zh-CN" altLang="en-US" sz="3600" b="1" dirty="0">
                <a:solidFill>
                  <a:srgbClr val="FF0000"/>
                </a:solidFill>
                <a:latin typeface="华文楷体" panose="02010600040101010101" pitchFamily="2" charset="-122"/>
                <a:ea typeface="华文楷体" panose="02010600040101010101" pitchFamily="2" charset="-122"/>
              </a:rPr>
              <a:t>（分析、说明强调逻辑过程，即要有“过程</a:t>
            </a:r>
            <a:r>
              <a:rPr lang="en-US" altLang="zh-CN" sz="3600" b="1" dirty="0">
                <a:solidFill>
                  <a:srgbClr val="FF0000"/>
                </a:solidFill>
                <a:latin typeface="华文楷体" panose="02010600040101010101" pitchFamily="2" charset="-122"/>
                <a:ea typeface="华文楷体" panose="02010600040101010101" pitchFamily="2" charset="-122"/>
              </a:rPr>
              <a:t>+</a:t>
            </a:r>
            <a:r>
              <a:rPr lang="zh-CN" altLang="en-US" sz="3600" b="1" dirty="0">
                <a:solidFill>
                  <a:srgbClr val="FF0000"/>
                </a:solidFill>
                <a:latin typeface="华文楷体" panose="02010600040101010101" pitchFamily="2" charset="-122"/>
                <a:ea typeface="华文楷体" panose="02010600040101010101" pitchFamily="2" charset="-122"/>
              </a:rPr>
              <a:t>结果” ）</a:t>
            </a:r>
          </a:p>
        </p:txBody>
      </p:sp>
    </p:spTree>
    <p:extLst>
      <p:ext uri="{BB962C8B-B14F-4D97-AF65-F5344CB8AC3E}">
        <p14:creationId xmlns:p14="http://schemas.microsoft.com/office/powerpoint/2010/main" xmlns="" val="1510737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xmlns="" id="{9C518023-50FA-49CE-9372-23B7D74573F3}"/>
              </a:ext>
            </a:extLst>
          </p:cNvPr>
          <p:cNvSpPr>
            <a:spLocks noChangeArrowheads="1"/>
          </p:cNvSpPr>
          <p:nvPr/>
        </p:nvSpPr>
        <p:spPr bwMode="auto">
          <a:xfrm>
            <a:off x="-1" y="0"/>
            <a:ext cx="12192000" cy="224676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333375" algn="l"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 维多利亚湖是世界第二大淡水湖，</a:t>
            </a:r>
            <a:r>
              <a:rPr kumimoji="0" lang="zh-CN" altLang="en-US" sz="2800" b="0" i="0" u="none" strike="noStrike" cap="none" normalizeH="0" baseline="0" dirty="0">
                <a:ln>
                  <a:noFill/>
                </a:ln>
                <a:solidFill>
                  <a:srgbClr val="0000FF"/>
                </a:solidFill>
                <a:effectLst/>
                <a:latin typeface="Arial" panose="020B0604020202020204" pitchFamily="34" charset="0"/>
                <a:cs typeface="宋体" panose="02010600030101010101" pitchFamily="2" charset="-122"/>
              </a:rPr>
              <a:t>湖面海拔</a:t>
            </a:r>
            <a:r>
              <a:rPr kumimoji="0" lang="en-US" altLang="zh-CN" sz="2800" b="0" i="0" u="none" strike="noStrike" cap="none" normalizeH="0" baseline="0" dirty="0">
                <a:ln>
                  <a:noFill/>
                </a:ln>
                <a:solidFill>
                  <a:srgbClr val="0000FF"/>
                </a:solidFill>
                <a:effectLst/>
                <a:latin typeface="Arial" panose="020B0604020202020204" pitchFamily="34" charset="0"/>
                <a:cs typeface="宋体" panose="02010600030101010101" pitchFamily="2" charset="-122"/>
              </a:rPr>
              <a:t>1134</a:t>
            </a:r>
            <a:r>
              <a:rPr kumimoji="0" lang="zh-CN" altLang="en-US" sz="2800" b="0" i="0" u="none" strike="noStrike" cap="none" normalizeH="0" baseline="0" dirty="0">
                <a:ln>
                  <a:noFill/>
                </a:ln>
                <a:solidFill>
                  <a:srgbClr val="0000FF"/>
                </a:solidFill>
                <a:effectLst/>
                <a:latin typeface="Arial" panose="020B0604020202020204" pitchFamily="34" charset="0"/>
                <a:cs typeface="宋体" panose="02010600030101010101" pitchFamily="2" charset="-122"/>
              </a:rPr>
              <a:t>米</a:t>
            </a:r>
            <a:r>
              <a:rPr kumimoji="0" lang="zh-CN" altLang="en-US" sz="28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，鱼类资源丰富。尼罗河鲈鱼是体型最大的淡水鱼之一，属肉食性鱼，原产于尼罗河、刚果河等非洲河流中。</a:t>
            </a:r>
            <a:r>
              <a:rPr kumimoji="0" lang="en-US" altLang="zh-CN" sz="28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20</a:t>
            </a:r>
            <a:r>
              <a:rPr kumimoji="0" lang="zh-CN" altLang="en-US" sz="28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世纪</a:t>
            </a:r>
            <a:r>
              <a:rPr kumimoji="0" lang="en-US" altLang="zh-CN" sz="28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50</a:t>
            </a:r>
            <a:r>
              <a:rPr kumimoji="0" lang="zh-CN" altLang="en-US" sz="28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年代，尼罗河鲈鱼被引入维多利亚湖，并迅速繁殖。该湖的尼罗河鲈鱼经捕捞、加工后多销往欧洲，成为昂贵的美食。下图示意维多利亚湖的位置及周边水系。</a:t>
            </a:r>
            <a:endParaRPr kumimoji="0" lang="zh-CN" altLang="en-US" sz="2800" b="0" i="0" u="none" strike="noStrike" cap="none" normalizeH="0" baseline="0" dirty="0">
              <a:ln>
                <a:noFill/>
              </a:ln>
              <a:solidFill>
                <a:schemeClr val="tx1"/>
              </a:solidFill>
              <a:effectLst/>
              <a:latin typeface="Arial" panose="020B0604020202020204" pitchFamily="34" charset="0"/>
            </a:endParaRPr>
          </a:p>
        </p:txBody>
      </p:sp>
      <p:pic>
        <p:nvPicPr>
          <p:cNvPr id="2049" name="图片 67" descr="说明: YD1407">
            <a:extLst>
              <a:ext uri="{FF2B5EF4-FFF2-40B4-BE49-F238E27FC236}">
                <a16:creationId xmlns:a16="http://schemas.microsoft.com/office/drawing/2014/main" xmlns="" id="{835AF6AC-2D59-496D-86C9-EBA8F7DB2447}"/>
              </a:ext>
            </a:extLst>
          </p:cNvPr>
          <p:cNvPicPr>
            <a:picLocks noChangeAspect="1" noChangeArrowheads="1"/>
          </p:cNvPicPr>
          <p:nvPr/>
        </p:nvPicPr>
        <p:blipFill>
          <a:blip r:embed="rId2" cstate="print">
            <a:lum bright="-24000" contrast="54000"/>
            <a:extLst>
              <a:ext uri="{28A0092B-C50C-407E-A947-70E740481C1C}">
                <a14:useLocalDpi xmlns:a14="http://schemas.microsoft.com/office/drawing/2010/main" xmlns="" val="0"/>
              </a:ext>
            </a:extLst>
          </a:blip>
          <a:srcRect/>
          <a:stretch>
            <a:fillRect/>
          </a:stretch>
        </p:blipFill>
        <p:spPr bwMode="auto">
          <a:xfrm>
            <a:off x="-1" y="3685309"/>
            <a:ext cx="6558567" cy="3172691"/>
          </a:xfrm>
          <a:prstGeom prst="rect">
            <a:avLst/>
          </a:prstGeom>
          <a:noFill/>
          <a:extLst>
            <a:ext uri="{909E8E84-426E-40DD-AFC4-6F175D3DCCD1}">
              <a14:hiddenFill xmlns:a14="http://schemas.microsoft.com/office/drawing/2010/main" xmlns="">
                <a:solidFill>
                  <a:srgbClr val="FFFFFF"/>
                </a:solidFill>
              </a14:hiddenFill>
            </a:ext>
          </a:extLst>
        </p:spPr>
      </p:pic>
      <p:sp>
        <p:nvSpPr>
          <p:cNvPr id="5" name="Rectangle 3">
            <a:extLst>
              <a:ext uri="{FF2B5EF4-FFF2-40B4-BE49-F238E27FC236}">
                <a16:creationId xmlns:a16="http://schemas.microsoft.com/office/drawing/2014/main" xmlns="" id="{C40810DB-CB08-4965-851E-C8E28719B614}"/>
              </a:ext>
            </a:extLst>
          </p:cNvPr>
          <p:cNvSpPr>
            <a:spLocks noChangeArrowheads="1"/>
          </p:cNvSpPr>
          <p:nvPr/>
        </p:nvSpPr>
        <p:spPr bwMode="auto">
          <a:xfrm>
            <a:off x="706583" y="2246769"/>
            <a:ext cx="9656618"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分析阻碍</a:t>
            </a:r>
            <a:r>
              <a:rPr kumimoji="0" lang="zh-CN" altLang="zh-CN" sz="2800" b="0" i="0" u="none" strike="noStrike" cap="none" normalizeH="0" baseline="0" dirty="0">
                <a:ln>
                  <a:noFill/>
                </a:ln>
                <a:solidFill>
                  <a:srgbClr val="0000FF"/>
                </a:solidFill>
                <a:effectLst/>
                <a:latin typeface="Arial" panose="020B0604020202020204" pitchFamily="34" charset="0"/>
                <a:cs typeface="宋体" panose="02010600030101010101" pitchFamily="2" charset="-122"/>
              </a:rPr>
              <a:t>尼罗河鲈鱼</a:t>
            </a:r>
            <a:r>
              <a:rPr kumimoji="0" lang="zh-CN" altLang="zh-CN" sz="28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游入</a:t>
            </a:r>
            <a:r>
              <a:rPr kumimoji="0" lang="zh-CN" altLang="zh-CN" sz="2800" b="0" i="0" u="none" strike="noStrike" cap="none" normalizeH="0" baseline="0" dirty="0">
                <a:ln>
                  <a:noFill/>
                </a:ln>
                <a:solidFill>
                  <a:srgbClr val="0000FF"/>
                </a:solidFill>
                <a:effectLst/>
                <a:latin typeface="Arial" panose="020B0604020202020204" pitchFamily="34" charset="0"/>
                <a:cs typeface="宋体" panose="02010600030101010101" pitchFamily="2" charset="-122"/>
              </a:rPr>
              <a:t>维多利亚湖</a:t>
            </a:r>
            <a:r>
              <a:rPr kumimoji="0" lang="zh-CN" altLang="zh-CN" sz="28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的自然原因。（</a:t>
            </a:r>
            <a:r>
              <a:rPr kumimoji="0" lang="en-US" altLang="zh-CN" sz="28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6</a:t>
            </a:r>
            <a:r>
              <a:rPr kumimoji="0" lang="zh-CN" altLang="en-US" sz="28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分）</a:t>
            </a:r>
            <a:endParaRPr kumimoji="0" lang="zh-CN" altLang="en-US" sz="2800" b="0" i="0" u="none" strike="noStrike" cap="none" normalizeH="0" baseline="0" dirty="0">
              <a:ln>
                <a:noFill/>
              </a:ln>
              <a:solidFill>
                <a:schemeClr val="tx1"/>
              </a:solidFill>
              <a:effectLst/>
              <a:latin typeface="Arial" panose="020B0604020202020204" pitchFamily="34" charset="0"/>
            </a:endParaRPr>
          </a:p>
        </p:txBody>
      </p:sp>
      <p:sp>
        <p:nvSpPr>
          <p:cNvPr id="6" name="文本框 5">
            <a:extLst>
              <a:ext uri="{FF2B5EF4-FFF2-40B4-BE49-F238E27FC236}">
                <a16:creationId xmlns:a16="http://schemas.microsoft.com/office/drawing/2014/main" xmlns="" id="{E14B8D79-02FE-4032-9113-41FD44EE0881}"/>
              </a:ext>
            </a:extLst>
          </p:cNvPr>
          <p:cNvSpPr txBox="1"/>
          <p:nvPr/>
        </p:nvSpPr>
        <p:spPr>
          <a:xfrm>
            <a:off x="5903099" y="2806964"/>
            <a:ext cx="6288901" cy="523220"/>
          </a:xfrm>
          <a:prstGeom prst="rect">
            <a:avLst/>
          </a:prstGeom>
          <a:noFill/>
        </p:spPr>
        <p:txBody>
          <a:bodyPr wrap="none" rtlCol="0">
            <a:spAutoFit/>
          </a:bodyPr>
          <a:lstStyle/>
          <a:p>
            <a:r>
              <a:rPr lang="en-US" altLang="zh-CN" sz="2800" b="1" dirty="0">
                <a:solidFill>
                  <a:srgbClr val="FF0000"/>
                </a:solidFill>
              </a:rPr>
              <a:t>【</a:t>
            </a:r>
            <a:r>
              <a:rPr lang="zh-CN" altLang="en-US" sz="2800" b="1" dirty="0">
                <a:solidFill>
                  <a:srgbClr val="FF0000"/>
                </a:solidFill>
              </a:rPr>
              <a:t>解析</a:t>
            </a:r>
            <a:r>
              <a:rPr lang="en-US" altLang="zh-CN" sz="2800" b="1" dirty="0">
                <a:solidFill>
                  <a:srgbClr val="FF0000"/>
                </a:solidFill>
              </a:rPr>
              <a:t>】</a:t>
            </a:r>
            <a:r>
              <a:rPr lang="zh-CN" altLang="en-US" sz="2800" b="1" dirty="0">
                <a:solidFill>
                  <a:srgbClr val="FF0000"/>
                </a:solidFill>
              </a:rPr>
              <a:t>材料信息提取题！据图说话！</a:t>
            </a:r>
          </a:p>
        </p:txBody>
      </p:sp>
      <p:sp>
        <p:nvSpPr>
          <p:cNvPr id="7" name="椭圆 6">
            <a:extLst>
              <a:ext uri="{FF2B5EF4-FFF2-40B4-BE49-F238E27FC236}">
                <a16:creationId xmlns:a16="http://schemas.microsoft.com/office/drawing/2014/main" xmlns="" id="{35D1735C-CD7A-4736-9A16-F99E1ED5575C}"/>
              </a:ext>
            </a:extLst>
          </p:cNvPr>
          <p:cNvSpPr/>
          <p:nvPr/>
        </p:nvSpPr>
        <p:spPr>
          <a:xfrm>
            <a:off x="5481035" y="6040582"/>
            <a:ext cx="969817" cy="353291"/>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xmlns="" id="{6AC00F84-5A5D-4809-B080-A4196B9A8378}"/>
              </a:ext>
            </a:extLst>
          </p:cNvPr>
          <p:cNvSpPr/>
          <p:nvPr/>
        </p:nvSpPr>
        <p:spPr>
          <a:xfrm>
            <a:off x="1934271" y="4493538"/>
            <a:ext cx="969817" cy="353291"/>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xmlns="" id="{C49162BD-49BE-4A98-BC84-71D9B129C4CC}"/>
              </a:ext>
            </a:extLst>
          </p:cNvPr>
          <p:cNvSpPr/>
          <p:nvPr/>
        </p:nvSpPr>
        <p:spPr>
          <a:xfrm>
            <a:off x="1574052" y="5016758"/>
            <a:ext cx="2471475" cy="1841242"/>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xmlns="" id="{FF08AB87-BAB3-4599-A420-DE5BBBC0F610}"/>
              </a:ext>
            </a:extLst>
          </p:cNvPr>
          <p:cNvSpPr txBox="1"/>
          <p:nvPr/>
        </p:nvSpPr>
        <p:spPr>
          <a:xfrm>
            <a:off x="6095999" y="3330184"/>
            <a:ext cx="6160654" cy="2092881"/>
          </a:xfrm>
          <a:prstGeom prst="rect">
            <a:avLst/>
          </a:prstGeom>
          <a:noFill/>
        </p:spPr>
        <p:txBody>
          <a:bodyPr wrap="square">
            <a:spAutoFit/>
          </a:bodyPr>
          <a:lstStyle/>
          <a:p>
            <a:r>
              <a:rPr lang="en-US" altLang="zh-CN" sz="2600" dirty="0">
                <a:solidFill>
                  <a:srgbClr val="FF0000"/>
                </a:solidFill>
                <a:effectLst/>
                <a:latin typeface="华文楷体" panose="02010600040101010101" pitchFamily="2" charset="-122"/>
                <a:ea typeface="华文楷体" panose="02010600040101010101" pitchFamily="2" charset="-122"/>
                <a:cs typeface="宋体" panose="02010600030101010101" pitchFamily="2" charset="-122"/>
              </a:rPr>
              <a:t>1</a:t>
            </a:r>
            <a:r>
              <a:rPr lang="zh-CN" altLang="en-US" sz="2600" dirty="0">
                <a:solidFill>
                  <a:srgbClr val="FF0000"/>
                </a:solidFill>
                <a:effectLst/>
                <a:latin typeface="华文楷体" panose="02010600040101010101" pitchFamily="2" charset="-122"/>
                <a:ea typeface="华文楷体" panose="02010600040101010101" pitchFamily="2" charset="-122"/>
                <a:cs typeface="宋体" panose="02010600030101010101" pitchFamily="2" charset="-122"/>
              </a:rPr>
              <a:t>、</a:t>
            </a:r>
            <a:r>
              <a:rPr lang="zh-CN" altLang="zh-CN" sz="2600" dirty="0">
                <a:solidFill>
                  <a:srgbClr val="FF0000"/>
                </a:solidFill>
                <a:effectLst/>
                <a:latin typeface="华文楷体" panose="02010600040101010101" pitchFamily="2" charset="-122"/>
                <a:ea typeface="华文楷体" panose="02010600040101010101" pitchFamily="2" charset="-122"/>
                <a:cs typeface="宋体" panose="02010600030101010101" pitchFamily="2" charset="-122"/>
              </a:rPr>
              <a:t>湖泊</a:t>
            </a:r>
            <a:r>
              <a:rPr lang="zh-CN" altLang="zh-CN" sz="2600" u="sng" dirty="0">
                <a:solidFill>
                  <a:srgbClr val="FF0000"/>
                </a:solidFill>
                <a:effectLst/>
                <a:latin typeface="华文楷体" panose="02010600040101010101" pitchFamily="2" charset="-122"/>
                <a:ea typeface="华文楷体" panose="02010600040101010101" pitchFamily="2" charset="-122"/>
                <a:cs typeface="宋体" panose="02010600030101010101" pitchFamily="2" charset="-122"/>
              </a:rPr>
              <a:t>海拔高</a:t>
            </a:r>
            <a:r>
              <a:rPr lang="zh-CN" altLang="zh-CN" sz="2600" dirty="0">
                <a:solidFill>
                  <a:srgbClr val="FF0000"/>
                </a:solidFill>
                <a:effectLst/>
                <a:latin typeface="华文楷体" panose="02010600040101010101" pitchFamily="2" charset="-122"/>
                <a:ea typeface="华文楷体" panose="02010600040101010101" pitchFamily="2" charset="-122"/>
                <a:cs typeface="宋体" panose="02010600030101010101" pitchFamily="2" charset="-122"/>
              </a:rPr>
              <a:t>，尼罗河上游</a:t>
            </a:r>
            <a:r>
              <a:rPr lang="zh-CN" altLang="zh-CN" sz="2600" u="sng" dirty="0">
                <a:solidFill>
                  <a:srgbClr val="FF0000"/>
                </a:solidFill>
                <a:latin typeface="华文楷体" panose="02010600040101010101" pitchFamily="2" charset="-122"/>
                <a:ea typeface="华文楷体" panose="02010600040101010101" pitchFamily="2" charset="-122"/>
              </a:rPr>
              <a:t>多瀑布</a:t>
            </a:r>
            <a:r>
              <a:rPr lang="zh-CN" altLang="zh-CN" sz="2600" dirty="0">
                <a:solidFill>
                  <a:srgbClr val="FF0000"/>
                </a:solidFill>
                <a:effectLst/>
                <a:latin typeface="华文楷体" panose="02010600040101010101" pitchFamily="2" charset="-122"/>
                <a:ea typeface="华文楷体" panose="02010600040101010101" pitchFamily="2" charset="-122"/>
                <a:cs typeface="宋体" panose="02010600030101010101" pitchFamily="2" charset="-122"/>
              </a:rPr>
              <a:t>，阻挡了尼罗河鲈鱼游入维多利亚湖。</a:t>
            </a:r>
            <a:endParaRPr lang="en-US" altLang="zh-CN" sz="2600" dirty="0">
              <a:solidFill>
                <a:srgbClr val="FF0000"/>
              </a:solidFill>
              <a:effectLst/>
              <a:latin typeface="华文楷体" panose="02010600040101010101" pitchFamily="2" charset="-122"/>
              <a:ea typeface="华文楷体" panose="02010600040101010101" pitchFamily="2" charset="-122"/>
              <a:cs typeface="宋体" panose="02010600030101010101" pitchFamily="2" charset="-122"/>
            </a:endParaRPr>
          </a:p>
          <a:p>
            <a:endParaRPr lang="en-US" altLang="zh-CN" sz="2600" dirty="0">
              <a:solidFill>
                <a:srgbClr val="FF0000"/>
              </a:solidFill>
              <a:effectLst/>
              <a:latin typeface="华文楷体" panose="02010600040101010101" pitchFamily="2" charset="-122"/>
              <a:ea typeface="华文楷体" panose="02010600040101010101" pitchFamily="2" charset="-122"/>
              <a:cs typeface="宋体" panose="02010600030101010101" pitchFamily="2" charset="-122"/>
            </a:endParaRPr>
          </a:p>
          <a:p>
            <a:r>
              <a:rPr lang="en-US" altLang="zh-CN" sz="2600" dirty="0">
                <a:solidFill>
                  <a:srgbClr val="FF0000"/>
                </a:solidFill>
                <a:effectLst/>
                <a:latin typeface="华文楷体" panose="02010600040101010101" pitchFamily="2" charset="-122"/>
                <a:ea typeface="华文楷体" panose="02010600040101010101" pitchFamily="2" charset="-122"/>
                <a:cs typeface="宋体" panose="02010600030101010101" pitchFamily="2" charset="-122"/>
              </a:rPr>
              <a:t>2</a:t>
            </a:r>
            <a:r>
              <a:rPr lang="zh-CN" altLang="en-US" sz="2600" dirty="0">
                <a:solidFill>
                  <a:srgbClr val="FF0000"/>
                </a:solidFill>
                <a:effectLst/>
                <a:latin typeface="华文楷体" panose="02010600040101010101" pitchFamily="2" charset="-122"/>
                <a:ea typeface="华文楷体" panose="02010600040101010101" pitchFamily="2" charset="-122"/>
                <a:cs typeface="宋体" panose="02010600030101010101" pitchFamily="2" charset="-122"/>
              </a:rPr>
              <a:t>、</a:t>
            </a:r>
            <a:r>
              <a:rPr lang="zh-CN" altLang="zh-CN" sz="2600" dirty="0">
                <a:solidFill>
                  <a:srgbClr val="FF0000"/>
                </a:solidFill>
                <a:effectLst/>
                <a:latin typeface="华文楷体" panose="02010600040101010101" pitchFamily="2" charset="-122"/>
                <a:ea typeface="华文楷体" panose="02010600040101010101" pitchFamily="2" charset="-122"/>
                <a:cs typeface="宋体" panose="02010600030101010101" pitchFamily="2" charset="-122"/>
              </a:rPr>
              <a:t>处于</a:t>
            </a:r>
            <a:r>
              <a:rPr lang="zh-CN" altLang="zh-CN" sz="2600" u="sng" dirty="0">
                <a:solidFill>
                  <a:srgbClr val="FF0000"/>
                </a:solidFill>
                <a:latin typeface="华文楷体" panose="02010600040101010101" pitchFamily="2" charset="-122"/>
                <a:ea typeface="华文楷体" panose="02010600040101010101" pitchFamily="2" charset="-122"/>
              </a:rPr>
              <a:t>相对封闭</a:t>
            </a:r>
            <a:r>
              <a:rPr lang="zh-CN" altLang="zh-CN" sz="2600" dirty="0">
                <a:solidFill>
                  <a:srgbClr val="FF0000"/>
                </a:solidFill>
                <a:effectLst/>
                <a:latin typeface="华文楷体" panose="02010600040101010101" pitchFamily="2" charset="-122"/>
                <a:ea typeface="华文楷体" panose="02010600040101010101" pitchFamily="2" charset="-122"/>
                <a:cs typeface="宋体" panose="02010600030101010101" pitchFamily="2" charset="-122"/>
              </a:rPr>
              <a:t>的高原盆地中</a:t>
            </a:r>
            <a:r>
              <a:rPr lang="en-US" altLang="zh-CN" sz="2600" dirty="0">
                <a:solidFill>
                  <a:srgbClr val="FF0000"/>
                </a:solidFill>
                <a:effectLst/>
                <a:latin typeface="华文楷体" panose="02010600040101010101" pitchFamily="2" charset="-122"/>
                <a:ea typeface="华文楷体" panose="02010600040101010101" pitchFamily="2" charset="-122"/>
                <a:cs typeface="宋体" panose="02010600030101010101" pitchFamily="2" charset="-122"/>
              </a:rPr>
              <a:t>(</a:t>
            </a:r>
            <a:r>
              <a:rPr lang="zh-CN" altLang="zh-CN" sz="2600" u="sng" dirty="0">
                <a:solidFill>
                  <a:srgbClr val="FF0000"/>
                </a:solidFill>
                <a:latin typeface="华文楷体" panose="02010600040101010101" pitchFamily="2" charset="-122"/>
                <a:ea typeface="华文楷体" panose="02010600040101010101" pitchFamily="2" charset="-122"/>
              </a:rPr>
              <a:t>北部唯一出口通向尼罗河</a:t>
            </a:r>
            <a:r>
              <a:rPr lang="en-US" altLang="zh-CN" sz="2600" dirty="0">
                <a:solidFill>
                  <a:srgbClr val="FF0000"/>
                </a:solidFill>
                <a:effectLst/>
                <a:latin typeface="华文楷体" panose="02010600040101010101" pitchFamily="2" charset="-122"/>
                <a:ea typeface="华文楷体" panose="02010600040101010101" pitchFamily="2" charset="-122"/>
                <a:cs typeface="宋体" panose="02010600030101010101" pitchFamily="2" charset="-122"/>
              </a:rPr>
              <a:t>)</a:t>
            </a:r>
            <a:r>
              <a:rPr lang="zh-CN" altLang="zh-CN" sz="2600" dirty="0">
                <a:solidFill>
                  <a:srgbClr val="FF0000"/>
                </a:solidFill>
                <a:effectLst/>
                <a:latin typeface="华文楷体" panose="02010600040101010101" pitchFamily="2" charset="-122"/>
                <a:ea typeface="华文楷体" panose="02010600040101010101" pitchFamily="2" charset="-122"/>
                <a:cs typeface="宋体" panose="02010600030101010101" pitchFamily="2" charset="-122"/>
              </a:rPr>
              <a:t>；</a:t>
            </a:r>
            <a:endParaRPr lang="zh-CN" altLang="en-US" sz="2600" dirty="0">
              <a:solidFill>
                <a:srgbClr val="FF0000"/>
              </a:solidFill>
              <a:latin typeface="华文楷体" panose="02010600040101010101" pitchFamily="2" charset="-122"/>
              <a:ea typeface="华文楷体" panose="02010600040101010101" pitchFamily="2" charset="-122"/>
            </a:endParaRPr>
          </a:p>
        </p:txBody>
      </p:sp>
      <p:sp>
        <p:nvSpPr>
          <p:cNvPr id="11" name="椭圆 10">
            <a:extLst>
              <a:ext uri="{FF2B5EF4-FFF2-40B4-BE49-F238E27FC236}">
                <a16:creationId xmlns:a16="http://schemas.microsoft.com/office/drawing/2014/main" xmlns="" id="{C04AEB78-9253-4F31-A40F-8DA237F6B1BC}"/>
              </a:ext>
            </a:extLst>
          </p:cNvPr>
          <p:cNvSpPr/>
          <p:nvPr/>
        </p:nvSpPr>
        <p:spPr>
          <a:xfrm>
            <a:off x="5855854" y="36975"/>
            <a:ext cx="2789381" cy="498734"/>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xmlns="" val="3251641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9" grpId="0" animBg="1"/>
      <p:bldP spid="10" grpId="0" animBg="1"/>
      <p:bldP spid="1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xmlns="" id="{9C518023-50FA-49CE-9372-23B7D74573F3}"/>
              </a:ext>
            </a:extLst>
          </p:cNvPr>
          <p:cNvSpPr>
            <a:spLocks noChangeArrowheads="1"/>
          </p:cNvSpPr>
          <p:nvPr/>
        </p:nvSpPr>
        <p:spPr bwMode="auto">
          <a:xfrm>
            <a:off x="-1" y="0"/>
            <a:ext cx="12192000" cy="224676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333375" algn="l"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 维多利亚湖是</a:t>
            </a:r>
            <a:r>
              <a:rPr lang="zh-CN" altLang="en-US" sz="2800" dirty="0">
                <a:solidFill>
                  <a:srgbClr val="0000FF"/>
                </a:solidFill>
                <a:latin typeface="Arial" panose="020B0604020202020204" pitchFamily="34" charset="0"/>
                <a:cs typeface="宋体" panose="02010600030101010101" pitchFamily="2" charset="-122"/>
              </a:rPr>
              <a:t>世界第二大淡水湖</a:t>
            </a:r>
            <a:r>
              <a:rPr kumimoji="0" lang="zh-CN" altLang="en-US" sz="28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a:t>
            </a:r>
            <a:r>
              <a:rPr lang="zh-CN" altLang="en-US" sz="2800" dirty="0">
                <a:latin typeface="Arial" panose="020B0604020202020204" pitchFamily="34" charset="0"/>
                <a:cs typeface="宋体" panose="02010600030101010101" pitchFamily="2" charset="-122"/>
              </a:rPr>
              <a:t>湖面海拔</a:t>
            </a:r>
            <a:r>
              <a:rPr lang="en-US" altLang="zh-CN" sz="2800" dirty="0">
                <a:latin typeface="Arial" panose="020B0604020202020204" pitchFamily="34" charset="0"/>
                <a:cs typeface="宋体" panose="02010600030101010101" pitchFamily="2" charset="-122"/>
              </a:rPr>
              <a:t>1134</a:t>
            </a:r>
            <a:r>
              <a:rPr lang="zh-CN" altLang="en-US" sz="2800" dirty="0">
                <a:latin typeface="Arial" panose="020B0604020202020204" pitchFamily="34" charset="0"/>
                <a:cs typeface="宋体" panose="02010600030101010101" pitchFamily="2" charset="-122"/>
              </a:rPr>
              <a:t>米，</a:t>
            </a:r>
            <a:r>
              <a:rPr kumimoji="0" lang="zh-CN" altLang="en-US" sz="2800" b="0" i="0" u="none" strike="noStrike" cap="none" normalizeH="0" baseline="0" dirty="0">
                <a:ln>
                  <a:noFill/>
                </a:ln>
                <a:solidFill>
                  <a:srgbClr val="0000FF"/>
                </a:solidFill>
                <a:effectLst/>
                <a:latin typeface="Arial" panose="020B0604020202020204" pitchFamily="34" charset="0"/>
                <a:cs typeface="宋体" panose="02010600030101010101" pitchFamily="2" charset="-122"/>
              </a:rPr>
              <a:t>鱼类资源丰富</a:t>
            </a:r>
            <a:r>
              <a:rPr kumimoji="0" lang="zh-CN" altLang="en-US" sz="28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。尼罗河鲈鱼是</a:t>
            </a:r>
            <a:r>
              <a:rPr lang="zh-CN" altLang="en-US" sz="2800" dirty="0">
                <a:solidFill>
                  <a:srgbClr val="0000FF"/>
                </a:solidFill>
                <a:latin typeface="Arial" panose="020B0604020202020204" pitchFamily="34" charset="0"/>
                <a:cs typeface="宋体" panose="02010600030101010101" pitchFamily="2" charset="-122"/>
              </a:rPr>
              <a:t>体型最大的淡水鱼之一</a:t>
            </a:r>
            <a:r>
              <a:rPr kumimoji="0" lang="zh-CN" altLang="en-US" sz="28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a:t>
            </a:r>
            <a:r>
              <a:rPr lang="zh-CN" altLang="en-US" sz="2800" dirty="0">
                <a:solidFill>
                  <a:srgbClr val="0000FF"/>
                </a:solidFill>
                <a:latin typeface="Arial" panose="020B0604020202020204" pitchFamily="34" charset="0"/>
                <a:cs typeface="宋体" panose="02010600030101010101" pitchFamily="2" charset="-122"/>
              </a:rPr>
              <a:t>属肉食性鱼</a:t>
            </a:r>
            <a:r>
              <a:rPr kumimoji="0" lang="zh-CN" altLang="en-US" sz="28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，原产于尼罗河、刚果河等非洲河流中。</a:t>
            </a:r>
            <a:r>
              <a:rPr kumimoji="0" lang="en-US" altLang="zh-CN" sz="28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20</a:t>
            </a:r>
            <a:r>
              <a:rPr kumimoji="0" lang="zh-CN" altLang="en-US" sz="28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世纪</a:t>
            </a:r>
            <a:r>
              <a:rPr kumimoji="0" lang="en-US" altLang="zh-CN" sz="28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50</a:t>
            </a:r>
            <a:r>
              <a:rPr kumimoji="0" lang="zh-CN" altLang="en-US" sz="28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年代，尼罗河鲈鱼被引入维多利亚湖，并迅速繁殖。该湖的尼罗河鲈鱼经捕捞、加工后多销往欧洲，成为昂贵的美食。下图示意维多利亚湖的位置及周边水系。</a:t>
            </a:r>
            <a:endParaRPr kumimoji="0" lang="zh-CN" altLang="en-US" sz="2800" b="0" i="0" u="none" strike="noStrike" cap="none" normalizeH="0" baseline="0" dirty="0">
              <a:ln>
                <a:noFill/>
              </a:ln>
              <a:solidFill>
                <a:schemeClr val="tx1"/>
              </a:solidFill>
              <a:effectLst/>
              <a:latin typeface="Arial" panose="020B0604020202020204" pitchFamily="34" charset="0"/>
            </a:endParaRPr>
          </a:p>
        </p:txBody>
      </p:sp>
      <p:pic>
        <p:nvPicPr>
          <p:cNvPr id="2049" name="图片 67" descr="说明: YD1407">
            <a:extLst>
              <a:ext uri="{FF2B5EF4-FFF2-40B4-BE49-F238E27FC236}">
                <a16:creationId xmlns:a16="http://schemas.microsoft.com/office/drawing/2014/main" xmlns="" id="{835AF6AC-2D59-496D-86C9-EBA8F7DB2447}"/>
              </a:ext>
            </a:extLst>
          </p:cNvPr>
          <p:cNvPicPr>
            <a:picLocks noChangeAspect="1" noChangeArrowheads="1"/>
          </p:cNvPicPr>
          <p:nvPr/>
        </p:nvPicPr>
        <p:blipFill>
          <a:blip r:embed="rId2" cstate="print">
            <a:lum bright="-24000" contrast="54000"/>
            <a:extLst>
              <a:ext uri="{28A0092B-C50C-407E-A947-70E740481C1C}">
                <a14:useLocalDpi xmlns:a14="http://schemas.microsoft.com/office/drawing/2010/main" xmlns="" val="0"/>
              </a:ext>
            </a:extLst>
          </a:blip>
          <a:srcRect/>
          <a:stretch>
            <a:fillRect/>
          </a:stretch>
        </p:blipFill>
        <p:spPr bwMode="auto">
          <a:xfrm>
            <a:off x="-1" y="3685309"/>
            <a:ext cx="6558567" cy="3172691"/>
          </a:xfrm>
          <a:prstGeom prst="rect">
            <a:avLst/>
          </a:prstGeom>
          <a:noFill/>
          <a:extLst>
            <a:ext uri="{909E8E84-426E-40DD-AFC4-6F175D3DCCD1}">
              <a14:hiddenFill xmlns:a14="http://schemas.microsoft.com/office/drawing/2010/main" xmlns="">
                <a:solidFill>
                  <a:srgbClr val="FFFFFF"/>
                </a:solidFill>
              </a14:hiddenFill>
            </a:ext>
          </a:extLst>
        </p:spPr>
      </p:pic>
      <p:sp>
        <p:nvSpPr>
          <p:cNvPr id="13" name="文本框 12">
            <a:extLst>
              <a:ext uri="{FF2B5EF4-FFF2-40B4-BE49-F238E27FC236}">
                <a16:creationId xmlns:a16="http://schemas.microsoft.com/office/drawing/2014/main" xmlns="" id="{321418AB-88AA-4A18-A7DA-C91D1596C19E}"/>
              </a:ext>
            </a:extLst>
          </p:cNvPr>
          <p:cNvSpPr txBox="1"/>
          <p:nvPr/>
        </p:nvSpPr>
        <p:spPr>
          <a:xfrm>
            <a:off x="392545" y="2246769"/>
            <a:ext cx="10515600" cy="523220"/>
          </a:xfrm>
          <a:prstGeom prst="rect">
            <a:avLst/>
          </a:prstGeom>
          <a:noFill/>
        </p:spPr>
        <p:txBody>
          <a:bodyPr wrap="square">
            <a:spAutoFit/>
          </a:bodyPr>
          <a:lstStyle/>
          <a:p>
            <a:r>
              <a:rPr lang="zh-CN" altLang="zh-CN" sz="2800" dirty="0">
                <a:effectLst/>
                <a:latin typeface="宋体" panose="02010600030101010101" pitchFamily="2" charset="-122"/>
                <a:ea typeface="宋体" panose="02010600030101010101" pitchFamily="2" charset="-122"/>
                <a:cs typeface="宋体" panose="02010600030101010101" pitchFamily="2" charset="-122"/>
              </a:rPr>
              <a:t>（</a:t>
            </a:r>
            <a:r>
              <a:rPr lang="en-US" altLang="zh-CN" sz="2800" dirty="0">
                <a:effectLst/>
                <a:latin typeface="宋体" panose="02010600030101010101" pitchFamily="2" charset="-122"/>
                <a:ea typeface="宋体" panose="02010600030101010101" pitchFamily="2" charset="-122"/>
                <a:cs typeface="宋体" panose="02010600030101010101" pitchFamily="2" charset="-122"/>
              </a:rPr>
              <a:t>2</a:t>
            </a:r>
            <a:r>
              <a:rPr lang="zh-CN" altLang="zh-CN" sz="2800" dirty="0">
                <a:effectLst/>
                <a:latin typeface="宋体" panose="02010600030101010101" pitchFamily="2" charset="-122"/>
                <a:ea typeface="宋体" panose="02010600030101010101" pitchFamily="2" charset="-122"/>
                <a:cs typeface="宋体" panose="02010600030101010101" pitchFamily="2" charset="-122"/>
              </a:rPr>
              <a:t>）分析</a:t>
            </a:r>
            <a:r>
              <a:rPr lang="zh-CN" altLang="zh-CN" sz="2800" dirty="0">
                <a:solidFill>
                  <a:srgbClr val="0000FF"/>
                </a:solidFill>
                <a:effectLst/>
                <a:latin typeface="宋体" panose="02010600030101010101" pitchFamily="2" charset="-122"/>
                <a:ea typeface="宋体" panose="02010600030101010101" pitchFamily="2" charset="-122"/>
                <a:cs typeface="宋体" panose="02010600030101010101" pitchFamily="2" charset="-122"/>
              </a:rPr>
              <a:t>尼罗河鲈鱼</a:t>
            </a:r>
            <a:r>
              <a:rPr lang="zh-CN" altLang="zh-CN" sz="2800" dirty="0">
                <a:effectLst/>
                <a:latin typeface="宋体" panose="02010600030101010101" pitchFamily="2" charset="-122"/>
                <a:ea typeface="宋体" panose="02010600030101010101" pitchFamily="2" charset="-122"/>
                <a:cs typeface="宋体" panose="02010600030101010101" pitchFamily="2" charset="-122"/>
              </a:rPr>
              <a:t>在</a:t>
            </a:r>
            <a:r>
              <a:rPr lang="zh-CN" altLang="zh-CN" sz="2800" dirty="0">
                <a:solidFill>
                  <a:srgbClr val="0000FF"/>
                </a:solidFill>
                <a:effectLst/>
                <a:latin typeface="宋体" panose="02010600030101010101" pitchFamily="2" charset="-122"/>
                <a:ea typeface="宋体" panose="02010600030101010101" pitchFamily="2" charset="-122"/>
                <a:cs typeface="宋体" panose="02010600030101010101" pitchFamily="2" charset="-122"/>
              </a:rPr>
              <a:t>维多利亚湖</a:t>
            </a:r>
            <a:r>
              <a:rPr lang="zh-CN" altLang="zh-CN" sz="2800" dirty="0">
                <a:effectLst/>
                <a:latin typeface="宋体" panose="02010600030101010101" pitchFamily="2" charset="-122"/>
                <a:ea typeface="宋体" panose="02010600030101010101" pitchFamily="2" charset="-122"/>
                <a:cs typeface="宋体" panose="02010600030101010101" pitchFamily="2" charset="-122"/>
              </a:rPr>
              <a:t>迅速繁殖的自然条件。（</a:t>
            </a:r>
            <a:r>
              <a:rPr lang="en-US" altLang="zh-CN" sz="2800" dirty="0">
                <a:effectLst/>
                <a:latin typeface="宋体" panose="02010600030101010101" pitchFamily="2" charset="-122"/>
                <a:ea typeface="宋体" panose="02010600030101010101" pitchFamily="2" charset="-122"/>
                <a:cs typeface="宋体" panose="02010600030101010101" pitchFamily="2" charset="-122"/>
              </a:rPr>
              <a:t>6</a:t>
            </a:r>
            <a:r>
              <a:rPr lang="zh-CN" altLang="zh-CN" sz="2800" dirty="0">
                <a:effectLst/>
                <a:latin typeface="宋体" panose="02010600030101010101" pitchFamily="2" charset="-122"/>
                <a:ea typeface="宋体" panose="02010600030101010101" pitchFamily="2" charset="-122"/>
                <a:cs typeface="宋体" panose="02010600030101010101" pitchFamily="2" charset="-122"/>
              </a:rPr>
              <a:t>分）</a:t>
            </a:r>
          </a:p>
        </p:txBody>
      </p:sp>
      <p:sp>
        <p:nvSpPr>
          <p:cNvPr id="14" name="文本框 13">
            <a:extLst>
              <a:ext uri="{FF2B5EF4-FFF2-40B4-BE49-F238E27FC236}">
                <a16:creationId xmlns:a16="http://schemas.microsoft.com/office/drawing/2014/main" xmlns="" id="{7FA44183-B67B-47DE-9D2C-A74E4C4A624D}"/>
              </a:ext>
            </a:extLst>
          </p:cNvPr>
          <p:cNvSpPr txBox="1"/>
          <p:nvPr/>
        </p:nvSpPr>
        <p:spPr>
          <a:xfrm>
            <a:off x="0" y="2722887"/>
            <a:ext cx="10796545" cy="954107"/>
          </a:xfrm>
          <a:prstGeom prst="rect">
            <a:avLst/>
          </a:prstGeom>
          <a:noFill/>
        </p:spPr>
        <p:txBody>
          <a:bodyPr wrap="none" rtlCol="0">
            <a:spAutoFit/>
          </a:bodyPr>
          <a:lstStyle/>
          <a:p>
            <a:r>
              <a:rPr lang="en-US" altLang="zh-CN" sz="2800" b="1" dirty="0">
                <a:solidFill>
                  <a:srgbClr val="FF0000"/>
                </a:solidFill>
              </a:rPr>
              <a:t>【</a:t>
            </a:r>
            <a:r>
              <a:rPr lang="zh-CN" altLang="en-US" sz="2800" b="1" dirty="0">
                <a:solidFill>
                  <a:srgbClr val="FF0000"/>
                </a:solidFill>
              </a:rPr>
              <a:t>解析</a:t>
            </a:r>
            <a:r>
              <a:rPr lang="en-US" altLang="zh-CN" sz="2800" b="1" dirty="0">
                <a:solidFill>
                  <a:srgbClr val="FF0000"/>
                </a:solidFill>
              </a:rPr>
              <a:t>】1</a:t>
            </a:r>
            <a:r>
              <a:rPr lang="zh-CN" altLang="en-US" sz="2800" b="1" dirty="0">
                <a:solidFill>
                  <a:srgbClr val="FF0000"/>
                </a:solidFill>
              </a:rPr>
              <a:t>、影响渔业的一般因素：水域范围（生存空间）、饵料。</a:t>
            </a:r>
            <a:endParaRPr lang="en-US" altLang="zh-CN" sz="2800" b="1" dirty="0">
              <a:solidFill>
                <a:srgbClr val="FF0000"/>
              </a:solidFill>
            </a:endParaRPr>
          </a:p>
          <a:p>
            <a:r>
              <a:rPr lang="en-US" altLang="zh-CN" sz="2800" b="1" dirty="0">
                <a:solidFill>
                  <a:srgbClr val="FF0000"/>
                </a:solidFill>
              </a:rPr>
              <a:t>2</a:t>
            </a:r>
            <a:r>
              <a:rPr lang="zh-CN" altLang="en-US" sz="2800" b="1" dirty="0">
                <a:solidFill>
                  <a:srgbClr val="FF0000"/>
                </a:solidFill>
              </a:rPr>
              <a:t>、影响农业区位因素一般思路：</a:t>
            </a:r>
            <a:r>
              <a:rPr lang="en-US" altLang="zh-CN" sz="2800" b="1" dirty="0">
                <a:solidFill>
                  <a:srgbClr val="FF0000"/>
                </a:solidFill>
              </a:rPr>
              <a:t>a</a:t>
            </a:r>
            <a:r>
              <a:rPr lang="zh-CN" altLang="en-US" sz="2800" b="1" dirty="0">
                <a:solidFill>
                  <a:srgbClr val="FF0000"/>
                </a:solidFill>
              </a:rPr>
              <a:t>、区域特征，</a:t>
            </a:r>
            <a:r>
              <a:rPr lang="en-US" altLang="zh-CN" sz="2800" b="1" dirty="0">
                <a:solidFill>
                  <a:srgbClr val="FF0000"/>
                </a:solidFill>
              </a:rPr>
              <a:t>b</a:t>
            </a:r>
            <a:r>
              <a:rPr lang="zh-CN" altLang="en-US" sz="2800" b="1" dirty="0">
                <a:solidFill>
                  <a:srgbClr val="FF0000"/>
                </a:solidFill>
              </a:rPr>
              <a:t>、农产品习性。</a:t>
            </a:r>
          </a:p>
        </p:txBody>
      </p:sp>
      <p:grpSp>
        <p:nvGrpSpPr>
          <p:cNvPr id="28" name="组合 27">
            <a:extLst>
              <a:ext uri="{FF2B5EF4-FFF2-40B4-BE49-F238E27FC236}">
                <a16:creationId xmlns:a16="http://schemas.microsoft.com/office/drawing/2014/main" xmlns="" id="{79FA1DEF-F1C3-4002-AA16-0BD23A0B6638}"/>
              </a:ext>
            </a:extLst>
          </p:cNvPr>
          <p:cNvGrpSpPr/>
          <p:nvPr/>
        </p:nvGrpSpPr>
        <p:grpSpPr>
          <a:xfrm>
            <a:off x="5398272" y="3847207"/>
            <a:ext cx="3925457" cy="1610809"/>
            <a:chOff x="5398272" y="3847207"/>
            <a:chExt cx="3925457" cy="1610809"/>
          </a:xfrm>
        </p:grpSpPr>
        <p:sp>
          <p:nvSpPr>
            <p:cNvPr id="15" name="文本框 14">
              <a:extLst>
                <a:ext uri="{FF2B5EF4-FFF2-40B4-BE49-F238E27FC236}">
                  <a16:creationId xmlns:a16="http://schemas.microsoft.com/office/drawing/2014/main" xmlns="" id="{04C40805-43A6-45A2-A960-A3B559B2F854}"/>
                </a:ext>
              </a:extLst>
            </p:cNvPr>
            <p:cNvSpPr txBox="1"/>
            <p:nvPr/>
          </p:nvSpPr>
          <p:spPr>
            <a:xfrm>
              <a:off x="5398272" y="4471920"/>
              <a:ext cx="1413928" cy="383661"/>
            </a:xfrm>
            <a:prstGeom prst="rect">
              <a:avLst/>
            </a:prstGeom>
            <a:noFill/>
          </p:spPr>
          <p:txBody>
            <a:bodyPr wrap="square">
              <a:spAutoFit/>
            </a:bodyPr>
            <a:lstStyle/>
            <a:p>
              <a:r>
                <a:rPr lang="zh-CN" altLang="zh-CN" sz="1800" dirty="0">
                  <a:solidFill>
                    <a:srgbClr val="0000FF"/>
                  </a:solidFill>
                  <a:effectLst/>
                  <a:latin typeface="宋体" panose="02010600030101010101" pitchFamily="2" charset="-122"/>
                  <a:ea typeface="宋体" panose="02010600030101010101" pitchFamily="2" charset="-122"/>
                  <a:cs typeface="宋体" panose="02010600030101010101" pitchFamily="2" charset="-122"/>
                </a:rPr>
                <a:t>维多利亚湖</a:t>
              </a:r>
              <a:endParaRPr lang="zh-CN" altLang="en-US" dirty="0"/>
            </a:p>
          </p:txBody>
        </p:sp>
        <p:sp>
          <p:nvSpPr>
            <p:cNvPr id="8" name="左大括号 7">
              <a:extLst>
                <a:ext uri="{FF2B5EF4-FFF2-40B4-BE49-F238E27FC236}">
                  <a16:creationId xmlns:a16="http://schemas.microsoft.com/office/drawing/2014/main" xmlns="" id="{608A222A-FEAC-4D77-A7FA-4D64F1BDD44B}"/>
                </a:ext>
              </a:extLst>
            </p:cNvPr>
            <p:cNvSpPr/>
            <p:nvPr/>
          </p:nvSpPr>
          <p:spPr>
            <a:xfrm>
              <a:off x="6700585" y="4054150"/>
              <a:ext cx="508000" cy="1219200"/>
            </a:xfrm>
            <a:prstGeom prst="lef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xmlns="" id="{91186BD5-3109-4FF1-93D5-BCCD1D8121D7}"/>
                </a:ext>
              </a:extLst>
            </p:cNvPr>
            <p:cNvSpPr txBox="1"/>
            <p:nvPr/>
          </p:nvSpPr>
          <p:spPr>
            <a:xfrm>
              <a:off x="7139329" y="3847207"/>
              <a:ext cx="2184400" cy="369332"/>
            </a:xfrm>
            <a:prstGeom prst="rect">
              <a:avLst/>
            </a:prstGeom>
            <a:noFill/>
          </p:spPr>
          <p:txBody>
            <a:bodyPr wrap="square">
              <a:spAutoFit/>
            </a:bodyPr>
            <a:lstStyle/>
            <a:p>
              <a:r>
                <a:rPr lang="zh-CN" altLang="en-US" sz="1800" dirty="0">
                  <a:solidFill>
                    <a:srgbClr val="0000FF"/>
                  </a:solidFill>
                  <a:latin typeface="Arial" panose="020B0604020202020204" pitchFamily="34" charset="0"/>
                  <a:cs typeface="宋体" panose="02010600030101010101" pitchFamily="2" charset="-122"/>
                </a:rPr>
                <a:t>世界第二大淡水湖</a:t>
              </a:r>
              <a:endParaRPr lang="zh-CN" altLang="en-US" dirty="0"/>
            </a:p>
          </p:txBody>
        </p:sp>
        <p:sp>
          <p:nvSpPr>
            <p:cNvPr id="22" name="文本框 21">
              <a:extLst>
                <a:ext uri="{FF2B5EF4-FFF2-40B4-BE49-F238E27FC236}">
                  <a16:creationId xmlns:a16="http://schemas.microsoft.com/office/drawing/2014/main" xmlns="" id="{02A791B1-97DF-4E7D-96FE-A275256FC02B}"/>
                </a:ext>
              </a:extLst>
            </p:cNvPr>
            <p:cNvSpPr txBox="1"/>
            <p:nvPr/>
          </p:nvSpPr>
          <p:spPr>
            <a:xfrm>
              <a:off x="7208585" y="5088684"/>
              <a:ext cx="1842653" cy="369332"/>
            </a:xfrm>
            <a:prstGeom prst="rect">
              <a:avLst/>
            </a:prstGeom>
            <a:noFill/>
          </p:spPr>
          <p:txBody>
            <a:bodyPr wrap="square">
              <a:spAutoFit/>
            </a:bodyPr>
            <a:lstStyle/>
            <a:p>
              <a:r>
                <a:rPr kumimoji="0" lang="zh-CN" altLang="en-US" sz="1800" b="0" i="0" u="none" strike="noStrike" cap="none" normalizeH="0" baseline="0" dirty="0">
                  <a:ln>
                    <a:noFill/>
                  </a:ln>
                  <a:solidFill>
                    <a:srgbClr val="0000FF"/>
                  </a:solidFill>
                  <a:effectLst/>
                  <a:latin typeface="Arial" panose="020B0604020202020204" pitchFamily="34" charset="0"/>
                  <a:cs typeface="宋体" panose="02010600030101010101" pitchFamily="2" charset="-122"/>
                </a:rPr>
                <a:t>鱼类资源丰富</a:t>
              </a:r>
              <a:endParaRPr lang="zh-CN" altLang="en-US" dirty="0"/>
            </a:p>
          </p:txBody>
        </p:sp>
      </p:grpSp>
      <p:sp>
        <p:nvSpPr>
          <p:cNvPr id="24" name="文本框 23">
            <a:extLst>
              <a:ext uri="{FF2B5EF4-FFF2-40B4-BE49-F238E27FC236}">
                <a16:creationId xmlns:a16="http://schemas.microsoft.com/office/drawing/2014/main" xmlns="" id="{81B8B1B7-4230-4CC1-84AF-4FFB868CB807}"/>
              </a:ext>
            </a:extLst>
          </p:cNvPr>
          <p:cNvSpPr txBox="1"/>
          <p:nvPr/>
        </p:nvSpPr>
        <p:spPr>
          <a:xfrm>
            <a:off x="10930853" y="4471920"/>
            <a:ext cx="1413928" cy="383661"/>
          </a:xfrm>
          <a:prstGeom prst="rect">
            <a:avLst/>
          </a:prstGeom>
          <a:noFill/>
        </p:spPr>
        <p:txBody>
          <a:bodyPr wrap="square">
            <a:spAutoFit/>
          </a:bodyPr>
          <a:lstStyle/>
          <a:p>
            <a:r>
              <a:rPr lang="zh-CN" altLang="zh-CN" sz="1800" dirty="0">
                <a:solidFill>
                  <a:srgbClr val="0000FF"/>
                </a:solidFill>
                <a:effectLst/>
                <a:latin typeface="宋体" panose="02010600030101010101" pitchFamily="2" charset="-122"/>
                <a:ea typeface="宋体" panose="02010600030101010101" pitchFamily="2" charset="-122"/>
                <a:cs typeface="宋体" panose="02010600030101010101" pitchFamily="2" charset="-122"/>
              </a:rPr>
              <a:t>尼罗河鲈鱼</a:t>
            </a:r>
            <a:endParaRPr lang="zh-CN" altLang="en-US" dirty="0"/>
          </a:p>
        </p:txBody>
      </p:sp>
      <p:sp>
        <p:nvSpPr>
          <p:cNvPr id="23" name="右大括号 22">
            <a:extLst>
              <a:ext uri="{FF2B5EF4-FFF2-40B4-BE49-F238E27FC236}">
                <a16:creationId xmlns:a16="http://schemas.microsoft.com/office/drawing/2014/main" xmlns="" id="{B46DCAA1-BD48-48DC-AAC7-FCCCABC0A681}"/>
              </a:ext>
            </a:extLst>
          </p:cNvPr>
          <p:cNvSpPr/>
          <p:nvPr/>
        </p:nvSpPr>
        <p:spPr>
          <a:xfrm>
            <a:off x="10596511" y="3916918"/>
            <a:ext cx="445484" cy="1493663"/>
          </a:xfrm>
          <a:prstGeom prst="righ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7" name="文本框 26">
            <a:extLst>
              <a:ext uri="{FF2B5EF4-FFF2-40B4-BE49-F238E27FC236}">
                <a16:creationId xmlns:a16="http://schemas.microsoft.com/office/drawing/2014/main" xmlns="" id="{0BBFE34E-F674-4E35-A44E-9704AFC4C8BD}"/>
              </a:ext>
            </a:extLst>
          </p:cNvPr>
          <p:cNvSpPr txBox="1"/>
          <p:nvPr/>
        </p:nvSpPr>
        <p:spPr>
          <a:xfrm>
            <a:off x="9594559" y="3676994"/>
            <a:ext cx="1102600" cy="646331"/>
          </a:xfrm>
          <a:prstGeom prst="rect">
            <a:avLst/>
          </a:prstGeom>
          <a:noFill/>
        </p:spPr>
        <p:txBody>
          <a:bodyPr wrap="square">
            <a:spAutoFit/>
          </a:bodyPr>
          <a:lstStyle/>
          <a:p>
            <a:r>
              <a:rPr lang="zh-CN" altLang="en-US" sz="1800" dirty="0">
                <a:solidFill>
                  <a:srgbClr val="0000FF"/>
                </a:solidFill>
                <a:latin typeface="Arial" panose="020B0604020202020204" pitchFamily="34" charset="0"/>
                <a:cs typeface="宋体" panose="02010600030101010101" pitchFamily="2" charset="-122"/>
              </a:rPr>
              <a:t>体型最大的淡水鱼</a:t>
            </a:r>
            <a:endParaRPr lang="zh-CN" altLang="en-US" dirty="0"/>
          </a:p>
        </p:txBody>
      </p:sp>
      <p:sp>
        <p:nvSpPr>
          <p:cNvPr id="29" name="文本框 28">
            <a:extLst>
              <a:ext uri="{FF2B5EF4-FFF2-40B4-BE49-F238E27FC236}">
                <a16:creationId xmlns:a16="http://schemas.microsoft.com/office/drawing/2014/main" xmlns="" id="{5919BC90-0AE5-4F4C-8E12-076E6E0BB60C}"/>
              </a:ext>
            </a:extLst>
          </p:cNvPr>
          <p:cNvSpPr txBox="1"/>
          <p:nvPr/>
        </p:nvSpPr>
        <p:spPr>
          <a:xfrm>
            <a:off x="9493911" y="5225915"/>
            <a:ext cx="1102600" cy="369332"/>
          </a:xfrm>
          <a:prstGeom prst="rect">
            <a:avLst/>
          </a:prstGeom>
          <a:noFill/>
        </p:spPr>
        <p:txBody>
          <a:bodyPr wrap="square">
            <a:spAutoFit/>
          </a:bodyPr>
          <a:lstStyle/>
          <a:p>
            <a:r>
              <a:rPr lang="zh-CN" altLang="en-US" sz="1800" dirty="0">
                <a:solidFill>
                  <a:srgbClr val="0000FF"/>
                </a:solidFill>
                <a:latin typeface="Arial" panose="020B0604020202020204" pitchFamily="34" charset="0"/>
                <a:cs typeface="宋体" panose="02010600030101010101" pitchFamily="2" charset="-122"/>
              </a:rPr>
              <a:t>肉食性鱼</a:t>
            </a:r>
            <a:endParaRPr lang="zh-CN" altLang="en-US" dirty="0"/>
          </a:p>
        </p:txBody>
      </p:sp>
      <p:sp>
        <p:nvSpPr>
          <p:cNvPr id="32" name="文本框 31">
            <a:extLst>
              <a:ext uri="{FF2B5EF4-FFF2-40B4-BE49-F238E27FC236}">
                <a16:creationId xmlns:a16="http://schemas.microsoft.com/office/drawing/2014/main" xmlns="" id="{41BA01D0-1501-448F-8D69-581FCDC54290}"/>
              </a:ext>
            </a:extLst>
          </p:cNvPr>
          <p:cNvSpPr txBox="1"/>
          <p:nvPr/>
        </p:nvSpPr>
        <p:spPr>
          <a:xfrm>
            <a:off x="6652876" y="5625146"/>
            <a:ext cx="5491414" cy="1107996"/>
          </a:xfrm>
          <a:prstGeom prst="rect">
            <a:avLst/>
          </a:prstGeom>
          <a:noFill/>
        </p:spPr>
        <p:txBody>
          <a:bodyPr wrap="square">
            <a:spAutoFit/>
          </a:bodyPr>
          <a:lstStyle/>
          <a:p>
            <a:r>
              <a:rPr lang="en-US" altLang="zh-CN" sz="1800" b="1" dirty="0">
                <a:solidFill>
                  <a:srgbClr val="FF0000"/>
                </a:solidFill>
                <a:effectLst/>
                <a:latin typeface="宋体" panose="02010600030101010101" pitchFamily="2" charset="-122"/>
                <a:ea typeface="宋体" panose="02010600030101010101" pitchFamily="2" charset="-122"/>
                <a:cs typeface="宋体" panose="02010600030101010101" pitchFamily="2" charset="-122"/>
              </a:rPr>
              <a:t>A</a:t>
            </a:r>
            <a:r>
              <a:rPr lang="zh-CN" altLang="en-US" sz="1800" b="1" dirty="0">
                <a:solidFill>
                  <a:srgbClr val="FF0000"/>
                </a:solidFill>
                <a:effectLst/>
                <a:latin typeface="宋体" panose="02010600030101010101" pitchFamily="2" charset="-122"/>
                <a:ea typeface="宋体" panose="02010600030101010101" pitchFamily="2" charset="-122"/>
                <a:cs typeface="宋体" panose="02010600030101010101" pitchFamily="2" charset="-122"/>
              </a:rPr>
              <a:t>、</a:t>
            </a:r>
            <a:r>
              <a:rPr lang="zh-CN" altLang="zh-CN" sz="1800" b="1" dirty="0">
                <a:solidFill>
                  <a:srgbClr val="FF0000"/>
                </a:solidFill>
                <a:effectLst/>
                <a:latin typeface="宋体" panose="02010600030101010101" pitchFamily="2" charset="-122"/>
                <a:ea typeface="宋体" panose="02010600030101010101" pitchFamily="2" charset="-122"/>
                <a:cs typeface="宋体" panose="02010600030101010101" pitchFamily="2" charset="-122"/>
              </a:rPr>
              <a:t>维多利亚湖湖面广阔，为体型大的尼罗河鲈鱼提供了</a:t>
            </a:r>
            <a:r>
              <a:rPr lang="zh-CN" altLang="zh-CN" sz="2400" b="1" u="sng" dirty="0">
                <a:solidFill>
                  <a:srgbClr val="FF0000"/>
                </a:solidFill>
                <a:latin typeface="宋体" panose="02010600030101010101" pitchFamily="2" charset="-122"/>
                <a:ea typeface="宋体" panose="02010600030101010101" pitchFamily="2" charset="-122"/>
              </a:rPr>
              <a:t>广阔的生存空间</a:t>
            </a:r>
            <a:r>
              <a:rPr lang="zh-CN" altLang="zh-CN" sz="1800" b="1" dirty="0">
                <a:solidFill>
                  <a:srgbClr val="FF0000"/>
                </a:solidFill>
                <a:effectLst/>
                <a:latin typeface="宋体" panose="02010600030101010101" pitchFamily="2" charset="-122"/>
                <a:ea typeface="宋体" panose="02010600030101010101" pitchFamily="2" charset="-122"/>
                <a:cs typeface="宋体" panose="02010600030101010101" pitchFamily="2" charset="-122"/>
              </a:rPr>
              <a:t>；</a:t>
            </a:r>
            <a:endParaRPr lang="en-US" altLang="zh-CN" sz="1800" b="1" dirty="0">
              <a:solidFill>
                <a:srgbClr val="FF0000"/>
              </a:solidFill>
              <a:effectLst/>
              <a:latin typeface="宋体" panose="02010600030101010101" pitchFamily="2" charset="-122"/>
              <a:ea typeface="宋体" panose="02010600030101010101" pitchFamily="2" charset="-122"/>
              <a:cs typeface="宋体" panose="02010600030101010101" pitchFamily="2" charset="-122"/>
            </a:endParaRPr>
          </a:p>
          <a:p>
            <a:r>
              <a:rPr lang="en-US" altLang="zh-CN" sz="1800" b="1" dirty="0">
                <a:solidFill>
                  <a:srgbClr val="FF0000"/>
                </a:solidFill>
                <a:effectLst/>
                <a:latin typeface="宋体" panose="02010600030101010101" pitchFamily="2" charset="-122"/>
                <a:ea typeface="宋体" panose="02010600030101010101" pitchFamily="2" charset="-122"/>
                <a:cs typeface="宋体" panose="02010600030101010101" pitchFamily="2" charset="-122"/>
              </a:rPr>
              <a:t>B</a:t>
            </a:r>
            <a:r>
              <a:rPr lang="zh-CN" altLang="en-US" sz="1800" b="1" dirty="0">
                <a:solidFill>
                  <a:srgbClr val="FF0000"/>
                </a:solidFill>
                <a:effectLst/>
                <a:latin typeface="宋体" panose="02010600030101010101" pitchFamily="2" charset="-122"/>
                <a:ea typeface="宋体" panose="02010600030101010101" pitchFamily="2" charset="-122"/>
                <a:cs typeface="宋体" panose="02010600030101010101" pitchFamily="2" charset="-122"/>
              </a:rPr>
              <a:t>、</a:t>
            </a:r>
            <a:r>
              <a:rPr lang="zh-CN" altLang="zh-CN" sz="1800" b="1" dirty="0">
                <a:solidFill>
                  <a:srgbClr val="FF0000"/>
                </a:solidFill>
                <a:effectLst/>
                <a:latin typeface="宋体" panose="02010600030101010101" pitchFamily="2" charset="-122"/>
                <a:ea typeface="宋体" panose="02010600030101010101" pitchFamily="2" charset="-122"/>
                <a:cs typeface="宋体" panose="02010600030101010101" pitchFamily="2" charset="-122"/>
              </a:rPr>
              <a:t>湖中鱼类为尼罗河鲈鱼</a:t>
            </a:r>
            <a:r>
              <a:rPr lang="zh-CN" altLang="zh-CN" sz="2400" b="1" u="sng" dirty="0">
                <a:solidFill>
                  <a:srgbClr val="FF0000"/>
                </a:solidFill>
                <a:latin typeface="宋体" panose="02010600030101010101" pitchFamily="2" charset="-122"/>
                <a:ea typeface="宋体" panose="02010600030101010101" pitchFamily="2" charset="-122"/>
              </a:rPr>
              <a:t>提供充足的饵料</a:t>
            </a:r>
            <a:r>
              <a:rPr lang="zh-CN" altLang="zh-CN" sz="1800" b="1" dirty="0">
                <a:solidFill>
                  <a:srgbClr val="FF0000"/>
                </a:solidFill>
                <a:effectLst/>
                <a:latin typeface="宋体" panose="02010600030101010101" pitchFamily="2" charset="-122"/>
                <a:ea typeface="宋体" panose="02010600030101010101" pitchFamily="2" charset="-122"/>
                <a:cs typeface="宋体" panose="02010600030101010101" pitchFamily="2" charset="-122"/>
              </a:rPr>
              <a:t>。</a:t>
            </a:r>
          </a:p>
        </p:txBody>
      </p:sp>
    </p:spTree>
    <p:extLst>
      <p:ext uri="{BB962C8B-B14F-4D97-AF65-F5344CB8AC3E}">
        <p14:creationId xmlns:p14="http://schemas.microsoft.com/office/powerpoint/2010/main" xmlns="" val="3874306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4" grpId="0"/>
      <p:bldP spid="23" grpId="0" animBg="1"/>
      <p:bldP spid="27" grpId="0"/>
      <p:bldP spid="29" grpId="0"/>
      <p:bldP spid="3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xmlns="" id="{9C518023-50FA-49CE-9372-23B7D74573F3}"/>
              </a:ext>
            </a:extLst>
          </p:cNvPr>
          <p:cNvSpPr>
            <a:spLocks noChangeArrowheads="1"/>
          </p:cNvSpPr>
          <p:nvPr/>
        </p:nvSpPr>
        <p:spPr bwMode="auto">
          <a:xfrm>
            <a:off x="-1" y="0"/>
            <a:ext cx="12192000" cy="224676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333375" algn="l"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 维多利亚湖是世界</a:t>
            </a:r>
            <a:r>
              <a:rPr lang="zh-CN" altLang="en-US" sz="2800" dirty="0">
                <a:latin typeface="Arial" panose="020B0604020202020204" pitchFamily="34" charset="0"/>
              </a:rPr>
              <a:t>第二大淡水湖，湖面海拔</a:t>
            </a:r>
            <a:r>
              <a:rPr lang="en-US" altLang="zh-CN" sz="2800" dirty="0">
                <a:latin typeface="Arial" panose="020B0604020202020204" pitchFamily="34" charset="0"/>
              </a:rPr>
              <a:t>1134</a:t>
            </a:r>
            <a:r>
              <a:rPr lang="zh-CN" altLang="en-US" sz="2800" dirty="0">
                <a:latin typeface="Arial" panose="020B0604020202020204" pitchFamily="34" charset="0"/>
              </a:rPr>
              <a:t>米，鱼类资源</a:t>
            </a:r>
            <a:r>
              <a:rPr kumimoji="0" lang="zh-CN" altLang="en-US" sz="28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丰富。尼罗河鲈鱼是</a:t>
            </a:r>
            <a:r>
              <a:rPr kumimoji="0" lang="zh-CN" altLang="en-US" sz="2800" b="0" i="0" u="none" strike="noStrike" cap="none" normalizeH="0" baseline="0" dirty="0">
                <a:ln>
                  <a:noFill/>
                </a:ln>
                <a:solidFill>
                  <a:srgbClr val="0000FF"/>
                </a:solidFill>
                <a:effectLst/>
                <a:latin typeface="Arial" panose="020B0604020202020204" pitchFamily="34" charset="0"/>
                <a:cs typeface="宋体" panose="02010600030101010101" pitchFamily="2" charset="-122"/>
              </a:rPr>
              <a:t>体型最大的淡水鱼</a:t>
            </a:r>
            <a:r>
              <a:rPr kumimoji="0" lang="zh-CN" altLang="en-US" sz="28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之一，属</a:t>
            </a:r>
            <a:r>
              <a:rPr lang="zh-CN" altLang="en-US" sz="2800" dirty="0">
                <a:solidFill>
                  <a:srgbClr val="0000FF"/>
                </a:solidFill>
                <a:latin typeface="Arial" panose="020B0604020202020204" pitchFamily="34" charset="0"/>
              </a:rPr>
              <a:t>肉食性鱼</a:t>
            </a:r>
            <a:r>
              <a:rPr kumimoji="0" lang="zh-CN" altLang="en-US" sz="28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，原产于尼罗河、刚果河等非洲河流中。</a:t>
            </a:r>
            <a:r>
              <a:rPr kumimoji="0" lang="en-US" altLang="zh-CN" sz="28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20</a:t>
            </a:r>
            <a:r>
              <a:rPr kumimoji="0" lang="zh-CN" altLang="en-US" sz="28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世纪</a:t>
            </a:r>
            <a:r>
              <a:rPr kumimoji="0" lang="en-US" altLang="zh-CN" sz="28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50</a:t>
            </a:r>
            <a:r>
              <a:rPr kumimoji="0" lang="zh-CN" altLang="en-US" sz="28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年代，尼罗河鲈鱼被引入维多利亚湖，并迅速繁殖。该湖的尼罗河鲈鱼经捕捞、加工后多销往欧洲，成为昂贵的美食。下图示意维多利亚湖的位置及周边水系。</a:t>
            </a:r>
            <a:endParaRPr kumimoji="0" lang="zh-CN" altLang="en-US" sz="2800" b="0" i="0" u="none" strike="noStrike" cap="none" normalizeH="0" baseline="0" dirty="0">
              <a:ln>
                <a:noFill/>
              </a:ln>
              <a:solidFill>
                <a:schemeClr val="tx1"/>
              </a:solidFill>
              <a:effectLst/>
              <a:latin typeface="Arial" panose="020B0604020202020204" pitchFamily="34" charset="0"/>
            </a:endParaRPr>
          </a:p>
        </p:txBody>
      </p:sp>
      <p:pic>
        <p:nvPicPr>
          <p:cNvPr id="2049" name="图片 67" descr="说明: YD1407">
            <a:extLst>
              <a:ext uri="{FF2B5EF4-FFF2-40B4-BE49-F238E27FC236}">
                <a16:creationId xmlns:a16="http://schemas.microsoft.com/office/drawing/2014/main" xmlns="" id="{835AF6AC-2D59-496D-86C9-EBA8F7DB2447}"/>
              </a:ext>
            </a:extLst>
          </p:cNvPr>
          <p:cNvPicPr>
            <a:picLocks noChangeAspect="1" noChangeArrowheads="1"/>
          </p:cNvPicPr>
          <p:nvPr/>
        </p:nvPicPr>
        <p:blipFill>
          <a:blip r:embed="rId2" cstate="print">
            <a:lum bright="-24000" contrast="54000"/>
            <a:extLst>
              <a:ext uri="{28A0092B-C50C-407E-A947-70E740481C1C}">
                <a14:useLocalDpi xmlns:a14="http://schemas.microsoft.com/office/drawing/2010/main" xmlns="" val="0"/>
              </a:ext>
            </a:extLst>
          </a:blip>
          <a:srcRect/>
          <a:stretch>
            <a:fillRect/>
          </a:stretch>
        </p:blipFill>
        <p:spPr bwMode="auto">
          <a:xfrm>
            <a:off x="-1" y="3685309"/>
            <a:ext cx="6558567" cy="3172691"/>
          </a:xfrm>
          <a:prstGeom prst="rect">
            <a:avLst/>
          </a:prstGeom>
          <a:noFill/>
          <a:extLst>
            <a:ext uri="{909E8E84-426E-40DD-AFC4-6F175D3DCCD1}">
              <a14:hiddenFill xmlns:a14="http://schemas.microsoft.com/office/drawing/2010/main" xmlns="">
                <a:solidFill>
                  <a:srgbClr val="FFFFFF"/>
                </a:solidFill>
              </a14:hiddenFill>
            </a:ext>
          </a:extLst>
        </p:spPr>
      </p:pic>
      <p:sp>
        <p:nvSpPr>
          <p:cNvPr id="13" name="文本框 12">
            <a:extLst>
              <a:ext uri="{FF2B5EF4-FFF2-40B4-BE49-F238E27FC236}">
                <a16:creationId xmlns:a16="http://schemas.microsoft.com/office/drawing/2014/main" xmlns="" id="{1C0A0625-20B0-416D-AC4F-904AA73629AF}"/>
              </a:ext>
            </a:extLst>
          </p:cNvPr>
          <p:cNvSpPr txBox="1"/>
          <p:nvPr/>
        </p:nvSpPr>
        <p:spPr>
          <a:xfrm>
            <a:off x="1" y="2246769"/>
            <a:ext cx="12191998" cy="523220"/>
          </a:xfrm>
          <a:prstGeom prst="rect">
            <a:avLst/>
          </a:prstGeom>
          <a:noFill/>
        </p:spPr>
        <p:txBody>
          <a:bodyPr wrap="square">
            <a:spAutoFit/>
          </a:bodyPr>
          <a:lstStyle/>
          <a:p>
            <a:pPr marL="342900" lvl="0" indent="-342900">
              <a:buFont typeface="+mj-lt"/>
              <a:buAutoNum type="arabicPeriod" startAt="3"/>
            </a:pPr>
            <a:r>
              <a:rPr lang="zh-CN" altLang="zh-CN" sz="2800" dirty="0">
                <a:effectLst/>
                <a:latin typeface="宋体" panose="02010600030101010101" pitchFamily="2" charset="-122"/>
                <a:ea typeface="宋体" panose="02010600030101010101" pitchFamily="2" charset="-122"/>
                <a:cs typeface="宋体" panose="02010600030101010101" pitchFamily="2" charset="-122"/>
              </a:rPr>
              <a:t>分析尼罗河鲈鱼</a:t>
            </a:r>
            <a:r>
              <a:rPr lang="zh-CN" altLang="zh-CN" sz="2800" dirty="0">
                <a:solidFill>
                  <a:srgbClr val="0000FF"/>
                </a:solidFill>
                <a:effectLst/>
                <a:latin typeface="宋体" panose="02010600030101010101" pitchFamily="2" charset="-122"/>
                <a:ea typeface="宋体" panose="02010600030101010101" pitchFamily="2" charset="-122"/>
                <a:cs typeface="宋体" panose="02010600030101010101" pitchFamily="2" charset="-122"/>
              </a:rPr>
              <a:t>迅速繁殖</a:t>
            </a:r>
            <a:r>
              <a:rPr lang="zh-CN" altLang="zh-CN" sz="2800" dirty="0">
                <a:effectLst/>
                <a:latin typeface="宋体" panose="02010600030101010101" pitchFamily="2" charset="-122"/>
                <a:ea typeface="宋体" panose="02010600030101010101" pitchFamily="2" charset="-122"/>
                <a:cs typeface="宋体" panose="02010600030101010101" pitchFamily="2" charset="-122"/>
              </a:rPr>
              <a:t>对维多利亚湖</a:t>
            </a:r>
            <a:r>
              <a:rPr lang="zh-CN" altLang="zh-CN" sz="2800" dirty="0">
                <a:solidFill>
                  <a:srgbClr val="0000FF"/>
                </a:solidFill>
                <a:effectLst/>
                <a:latin typeface="宋体" panose="02010600030101010101" pitchFamily="2" charset="-122"/>
                <a:ea typeface="宋体" panose="02010600030101010101" pitchFamily="2" charset="-122"/>
                <a:cs typeface="宋体" panose="02010600030101010101" pitchFamily="2" charset="-122"/>
              </a:rPr>
              <a:t>鱼类资源</a:t>
            </a:r>
            <a:r>
              <a:rPr lang="zh-CN" altLang="zh-CN" sz="2800" dirty="0">
                <a:effectLst/>
                <a:latin typeface="宋体" panose="02010600030101010101" pitchFamily="2" charset="-122"/>
                <a:ea typeface="宋体" panose="02010600030101010101" pitchFamily="2" charset="-122"/>
                <a:cs typeface="宋体" panose="02010600030101010101" pitchFamily="2" charset="-122"/>
              </a:rPr>
              <a:t>及</a:t>
            </a:r>
            <a:r>
              <a:rPr lang="zh-CN" altLang="zh-CN" sz="2800" dirty="0">
                <a:solidFill>
                  <a:srgbClr val="0000FF"/>
                </a:solidFill>
                <a:effectLst/>
                <a:latin typeface="宋体" panose="02010600030101010101" pitchFamily="2" charset="-122"/>
                <a:ea typeface="宋体" panose="02010600030101010101" pitchFamily="2" charset="-122"/>
                <a:cs typeface="宋体" panose="02010600030101010101" pitchFamily="2" charset="-122"/>
              </a:rPr>
              <a:t>捕捞业</a:t>
            </a:r>
            <a:r>
              <a:rPr lang="zh-CN" altLang="zh-CN" sz="2800" dirty="0">
                <a:effectLst/>
                <a:latin typeface="宋体" panose="02010600030101010101" pitchFamily="2" charset="-122"/>
                <a:ea typeface="宋体" panose="02010600030101010101" pitchFamily="2" charset="-122"/>
                <a:cs typeface="宋体" panose="02010600030101010101" pitchFamily="2" charset="-122"/>
              </a:rPr>
              <a:t>的影响。（</a:t>
            </a:r>
            <a:r>
              <a:rPr lang="en-US" altLang="zh-CN" sz="2800" dirty="0">
                <a:effectLst/>
                <a:latin typeface="宋体" panose="02010600030101010101" pitchFamily="2" charset="-122"/>
                <a:ea typeface="宋体" panose="02010600030101010101" pitchFamily="2" charset="-122"/>
                <a:cs typeface="宋体" panose="02010600030101010101" pitchFamily="2" charset="-122"/>
              </a:rPr>
              <a:t>6</a:t>
            </a:r>
            <a:r>
              <a:rPr lang="zh-CN" altLang="zh-CN" sz="2800" dirty="0">
                <a:effectLst/>
                <a:latin typeface="宋体" panose="02010600030101010101" pitchFamily="2" charset="-122"/>
                <a:ea typeface="宋体" panose="02010600030101010101" pitchFamily="2" charset="-122"/>
                <a:cs typeface="宋体" panose="02010600030101010101" pitchFamily="2" charset="-122"/>
              </a:rPr>
              <a:t>分）</a:t>
            </a:r>
          </a:p>
        </p:txBody>
      </p:sp>
      <p:sp>
        <p:nvSpPr>
          <p:cNvPr id="3" name="文本框 2">
            <a:extLst>
              <a:ext uri="{FF2B5EF4-FFF2-40B4-BE49-F238E27FC236}">
                <a16:creationId xmlns:a16="http://schemas.microsoft.com/office/drawing/2014/main" xmlns="" id="{C093AD96-EC4F-4528-B4AD-CFD7C2CA11B8}"/>
              </a:ext>
            </a:extLst>
          </p:cNvPr>
          <p:cNvSpPr txBox="1"/>
          <p:nvPr/>
        </p:nvSpPr>
        <p:spPr>
          <a:xfrm>
            <a:off x="2" y="2731202"/>
            <a:ext cx="12191998" cy="954107"/>
          </a:xfrm>
          <a:prstGeom prst="rect">
            <a:avLst/>
          </a:prstGeom>
          <a:noFill/>
        </p:spPr>
        <p:txBody>
          <a:bodyPr wrap="square" rtlCol="0">
            <a:spAutoFit/>
          </a:bodyPr>
          <a:lstStyle/>
          <a:p>
            <a:r>
              <a:rPr lang="en-US" altLang="zh-CN" sz="2800" b="1" dirty="0">
                <a:solidFill>
                  <a:srgbClr val="FF0000"/>
                </a:solidFill>
              </a:rPr>
              <a:t>【</a:t>
            </a:r>
            <a:r>
              <a:rPr lang="zh-CN" altLang="en-US" sz="2800" b="1" dirty="0">
                <a:solidFill>
                  <a:srgbClr val="FF0000"/>
                </a:solidFill>
              </a:rPr>
              <a:t>解析</a:t>
            </a:r>
            <a:r>
              <a:rPr lang="en-US" altLang="zh-CN" sz="2800" b="1" dirty="0">
                <a:solidFill>
                  <a:srgbClr val="FF0000"/>
                </a:solidFill>
              </a:rPr>
              <a:t>】</a:t>
            </a:r>
            <a:r>
              <a:rPr lang="zh-CN" altLang="en-US" sz="2800" b="1" dirty="0">
                <a:solidFill>
                  <a:srgbClr val="FF0000"/>
                </a:solidFill>
              </a:rPr>
              <a:t>设问包含两个子问题，需分开作答！“体型最大、肉食性鱼”，会导致其他鱼类数量和种类减少。捕捞业中，鲈鱼捕捞量增加，其他鱼类会减少。</a:t>
            </a:r>
            <a:endParaRPr lang="en-US" altLang="zh-CN" sz="2800" b="1" dirty="0">
              <a:solidFill>
                <a:srgbClr val="FF0000"/>
              </a:solidFill>
            </a:endParaRPr>
          </a:p>
        </p:txBody>
      </p:sp>
      <p:sp>
        <p:nvSpPr>
          <p:cNvPr id="15" name="文本框 14">
            <a:extLst>
              <a:ext uri="{FF2B5EF4-FFF2-40B4-BE49-F238E27FC236}">
                <a16:creationId xmlns:a16="http://schemas.microsoft.com/office/drawing/2014/main" xmlns="" id="{B300161B-B377-4DF4-882F-4AFAC62F795F}"/>
              </a:ext>
            </a:extLst>
          </p:cNvPr>
          <p:cNvSpPr txBox="1"/>
          <p:nvPr/>
        </p:nvSpPr>
        <p:spPr>
          <a:xfrm>
            <a:off x="6627547" y="3748160"/>
            <a:ext cx="5564453" cy="3046988"/>
          </a:xfrm>
          <a:prstGeom prst="rect">
            <a:avLst/>
          </a:prstGeom>
          <a:noFill/>
        </p:spPr>
        <p:txBody>
          <a:bodyPr wrap="square">
            <a:spAutoFit/>
          </a:bodyPr>
          <a:lstStyle/>
          <a:p>
            <a:r>
              <a:rPr lang="zh-CN" altLang="en-US" sz="2400" b="1" dirty="0">
                <a:solidFill>
                  <a:srgbClr val="FF0000"/>
                </a:solidFill>
                <a:latin typeface="宋体" panose="02010600030101010101" pitchFamily="2" charset="-122"/>
                <a:ea typeface="宋体" panose="02010600030101010101" pitchFamily="2" charset="-122"/>
              </a:rPr>
              <a:t>鱼类资源：</a:t>
            </a:r>
            <a:r>
              <a:rPr lang="zh-CN" altLang="zh-CN" sz="2400" b="1" dirty="0">
                <a:solidFill>
                  <a:srgbClr val="FF0000"/>
                </a:solidFill>
                <a:latin typeface="宋体" panose="02010600030101010101" pitchFamily="2" charset="-122"/>
                <a:ea typeface="宋体" panose="02010600030101010101" pitchFamily="2" charset="-122"/>
              </a:rPr>
              <a:t>尼罗河鲈鱼体型大，食量大，导致一些原有</a:t>
            </a:r>
            <a:r>
              <a:rPr lang="zh-CN" altLang="zh-CN" sz="2400" b="1" u="sng" dirty="0">
                <a:solidFill>
                  <a:srgbClr val="FF0000"/>
                </a:solidFill>
                <a:latin typeface="宋体" panose="02010600030101010101" pitchFamily="2" charset="-122"/>
                <a:ea typeface="宋体" panose="02010600030101010101" pitchFamily="2" charset="-122"/>
              </a:rPr>
              <a:t>鱼类数量迅速减少甚至灭绝</a:t>
            </a:r>
            <a:r>
              <a:rPr lang="zh-CN" altLang="zh-CN" sz="2400" b="1" dirty="0">
                <a:solidFill>
                  <a:srgbClr val="FF0000"/>
                </a:solidFill>
                <a:latin typeface="宋体" panose="02010600030101010101" pitchFamily="2" charset="-122"/>
                <a:ea typeface="宋体" panose="02010600030101010101" pitchFamily="2" charset="-122"/>
              </a:rPr>
              <a:t>。</a:t>
            </a:r>
            <a:endParaRPr lang="en-US" altLang="zh-CN" sz="2400" b="1" dirty="0">
              <a:solidFill>
                <a:srgbClr val="FF0000"/>
              </a:solidFill>
              <a:latin typeface="宋体" panose="02010600030101010101" pitchFamily="2" charset="-122"/>
              <a:ea typeface="宋体" panose="02010600030101010101" pitchFamily="2" charset="-122"/>
            </a:endParaRPr>
          </a:p>
          <a:p>
            <a:endParaRPr lang="en-US" altLang="zh-CN" sz="2400" b="1" dirty="0">
              <a:solidFill>
                <a:srgbClr val="FF0000"/>
              </a:solidFill>
              <a:latin typeface="宋体" panose="02010600030101010101" pitchFamily="2" charset="-122"/>
              <a:ea typeface="宋体" panose="02010600030101010101" pitchFamily="2" charset="-122"/>
            </a:endParaRPr>
          </a:p>
          <a:p>
            <a:r>
              <a:rPr lang="zh-CN" altLang="en-US" sz="2400" b="1" dirty="0">
                <a:solidFill>
                  <a:srgbClr val="FF0000"/>
                </a:solidFill>
                <a:latin typeface="宋体" panose="02010600030101010101" pitchFamily="2" charset="-122"/>
                <a:ea typeface="宋体" panose="02010600030101010101" pitchFamily="2" charset="-122"/>
              </a:rPr>
              <a:t>捕捞业：</a:t>
            </a:r>
            <a:r>
              <a:rPr lang="en-US" altLang="zh-CN" sz="2400" b="1" dirty="0">
                <a:solidFill>
                  <a:srgbClr val="FF0000"/>
                </a:solidFill>
                <a:latin typeface="宋体" panose="02010600030101010101" pitchFamily="2" charset="-122"/>
                <a:ea typeface="宋体" panose="02010600030101010101" pitchFamily="2" charset="-122"/>
              </a:rPr>
              <a:t>(</a:t>
            </a:r>
            <a:r>
              <a:rPr lang="zh-CN" altLang="zh-CN" sz="2400" b="1" dirty="0">
                <a:solidFill>
                  <a:srgbClr val="FF0000"/>
                </a:solidFill>
                <a:latin typeface="宋体" panose="02010600030101010101" pitchFamily="2" charset="-122"/>
                <a:ea typeface="宋体" panose="02010600030101010101" pitchFamily="2" charset="-122"/>
              </a:rPr>
              <a:t>尼罗河鲈鱼体型大，捕捞技术和方法与当地传统不同，</a:t>
            </a:r>
            <a:r>
              <a:rPr lang="en-US" altLang="zh-CN" sz="2400" b="1" dirty="0">
                <a:solidFill>
                  <a:srgbClr val="FF0000"/>
                </a:solidFill>
                <a:latin typeface="宋体" panose="02010600030101010101" pitchFamily="2" charset="-122"/>
                <a:ea typeface="宋体" panose="02010600030101010101" pitchFamily="2" charset="-122"/>
              </a:rPr>
              <a:t>)</a:t>
            </a:r>
            <a:r>
              <a:rPr lang="zh-CN" altLang="zh-CN" sz="2400" b="1" u="sng" dirty="0">
                <a:solidFill>
                  <a:srgbClr val="FF0000"/>
                </a:solidFill>
                <a:latin typeface="宋体" panose="02010600030101010101" pitchFamily="2" charset="-122"/>
                <a:ea typeface="宋体" panose="02010600030101010101" pitchFamily="2" charset="-122"/>
              </a:rPr>
              <a:t>冲击当地传统捕捞业</a:t>
            </a:r>
            <a:r>
              <a:rPr lang="zh-CN" altLang="zh-CN" sz="2400" b="1" dirty="0">
                <a:solidFill>
                  <a:srgbClr val="FF0000"/>
                </a:solidFill>
                <a:latin typeface="宋体" panose="02010600030101010101" pitchFamily="2" charset="-122"/>
                <a:ea typeface="宋体" panose="02010600030101010101" pitchFamily="2" charset="-122"/>
              </a:rPr>
              <a:t>，同时出现</a:t>
            </a:r>
            <a:r>
              <a:rPr lang="zh-CN" altLang="zh-CN" sz="2400" b="1" u="sng" dirty="0">
                <a:solidFill>
                  <a:srgbClr val="FF0000"/>
                </a:solidFill>
                <a:latin typeface="宋体" panose="02010600030101010101" pitchFamily="2" charset="-122"/>
                <a:ea typeface="宋体" panose="02010600030101010101" pitchFamily="2" charset="-122"/>
              </a:rPr>
              <a:t>专门捕捞尼罗河鲈鱼的捕捞业</a:t>
            </a:r>
            <a:r>
              <a:rPr lang="zh-CN" altLang="zh-CN" sz="2400" b="1" dirty="0">
                <a:solidFill>
                  <a:srgbClr val="FF0000"/>
                </a:solidFill>
                <a:latin typeface="宋体" panose="02010600030101010101" pitchFamily="2" charset="-122"/>
                <a:ea typeface="宋体" panose="02010600030101010101" pitchFamily="2" charset="-122"/>
              </a:rPr>
              <a:t>。</a:t>
            </a:r>
          </a:p>
        </p:txBody>
      </p:sp>
    </p:spTree>
    <p:extLst>
      <p:ext uri="{BB962C8B-B14F-4D97-AF65-F5344CB8AC3E}">
        <p14:creationId xmlns:p14="http://schemas.microsoft.com/office/powerpoint/2010/main" xmlns="" val="2095775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xmlns="" id="{9C518023-50FA-49CE-9372-23B7D74573F3}"/>
              </a:ext>
            </a:extLst>
          </p:cNvPr>
          <p:cNvSpPr>
            <a:spLocks noChangeArrowheads="1"/>
          </p:cNvSpPr>
          <p:nvPr/>
        </p:nvSpPr>
        <p:spPr bwMode="auto">
          <a:xfrm>
            <a:off x="-1" y="0"/>
            <a:ext cx="12192000" cy="224676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333375" algn="l"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 维多利亚湖是世界</a:t>
            </a:r>
            <a:r>
              <a:rPr lang="zh-CN" altLang="en-US" sz="2800" dirty="0">
                <a:latin typeface="Arial" panose="020B0604020202020204" pitchFamily="34" charset="0"/>
              </a:rPr>
              <a:t>第二大淡水湖，湖面海拔</a:t>
            </a:r>
            <a:r>
              <a:rPr lang="en-US" altLang="zh-CN" sz="2800" dirty="0">
                <a:latin typeface="Arial" panose="020B0604020202020204" pitchFamily="34" charset="0"/>
              </a:rPr>
              <a:t>1134</a:t>
            </a:r>
            <a:r>
              <a:rPr lang="zh-CN" altLang="en-US" sz="2800" dirty="0">
                <a:latin typeface="Arial" panose="020B0604020202020204" pitchFamily="34" charset="0"/>
              </a:rPr>
              <a:t>米，鱼类资源</a:t>
            </a:r>
            <a:r>
              <a:rPr kumimoji="0" lang="zh-CN" altLang="en-US" sz="28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丰富。尼罗河鲈鱼是体型最大的淡水鱼之一，属肉食性鱼，原产于尼罗河、刚果河等非洲河流中。</a:t>
            </a:r>
            <a:r>
              <a:rPr kumimoji="0" lang="en-US" altLang="zh-CN" sz="28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20</a:t>
            </a:r>
            <a:r>
              <a:rPr kumimoji="0" lang="zh-CN" altLang="en-US" sz="28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世纪</a:t>
            </a:r>
            <a:r>
              <a:rPr kumimoji="0" lang="en-US" altLang="zh-CN" sz="28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50</a:t>
            </a:r>
            <a:r>
              <a:rPr kumimoji="0" lang="zh-CN" altLang="en-US" sz="28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年代，尼罗河鲈鱼被引入维多利亚湖，并迅速繁殖。</a:t>
            </a:r>
            <a:r>
              <a:rPr kumimoji="0" lang="zh-CN" altLang="en-US" sz="2800" b="0" i="0" u="none" strike="noStrike" cap="none" normalizeH="0" baseline="0" dirty="0">
                <a:ln>
                  <a:noFill/>
                </a:ln>
                <a:solidFill>
                  <a:srgbClr val="0000FF"/>
                </a:solidFill>
                <a:effectLst/>
                <a:latin typeface="Arial" panose="020B0604020202020204" pitchFamily="34" charset="0"/>
                <a:cs typeface="宋体" panose="02010600030101010101" pitchFamily="2" charset="-122"/>
              </a:rPr>
              <a:t>该湖的尼罗河鲈鱼经捕捞、加工后多销往欧洲，成为昂贵的美食。</a:t>
            </a:r>
            <a:r>
              <a:rPr kumimoji="0" lang="zh-CN" altLang="en-US" sz="2800" b="0" i="0" u="none" strike="noStrike" cap="none" normalizeH="0" baseline="0" dirty="0">
                <a:ln>
                  <a:noFill/>
                </a:ln>
                <a:solidFill>
                  <a:schemeClr val="tx1"/>
                </a:solidFill>
                <a:effectLst/>
                <a:latin typeface="Arial" panose="020B0604020202020204" pitchFamily="34" charset="0"/>
                <a:cs typeface="宋体" panose="02010600030101010101" pitchFamily="2" charset="-122"/>
              </a:rPr>
              <a:t>下图示意维多利亚湖的位置及周边水系。</a:t>
            </a:r>
            <a:endParaRPr kumimoji="0" lang="zh-CN" altLang="en-US" sz="2800" b="0" i="0" u="none" strike="noStrike" cap="none" normalizeH="0" baseline="0" dirty="0">
              <a:ln>
                <a:noFill/>
              </a:ln>
              <a:solidFill>
                <a:schemeClr val="tx1"/>
              </a:solidFill>
              <a:effectLst/>
              <a:latin typeface="Arial" panose="020B0604020202020204" pitchFamily="34" charset="0"/>
            </a:endParaRPr>
          </a:p>
        </p:txBody>
      </p:sp>
      <p:pic>
        <p:nvPicPr>
          <p:cNvPr id="2049" name="图片 67" descr="说明: YD1407">
            <a:extLst>
              <a:ext uri="{FF2B5EF4-FFF2-40B4-BE49-F238E27FC236}">
                <a16:creationId xmlns:a16="http://schemas.microsoft.com/office/drawing/2014/main" xmlns="" id="{835AF6AC-2D59-496D-86C9-EBA8F7DB2447}"/>
              </a:ext>
            </a:extLst>
          </p:cNvPr>
          <p:cNvPicPr>
            <a:picLocks noChangeAspect="1" noChangeArrowheads="1"/>
          </p:cNvPicPr>
          <p:nvPr/>
        </p:nvPicPr>
        <p:blipFill>
          <a:blip r:embed="rId2" cstate="print">
            <a:lum bright="-24000" contrast="54000"/>
            <a:extLst>
              <a:ext uri="{28A0092B-C50C-407E-A947-70E740481C1C}">
                <a14:useLocalDpi xmlns:a14="http://schemas.microsoft.com/office/drawing/2010/main" xmlns="" val="0"/>
              </a:ext>
            </a:extLst>
          </a:blip>
          <a:srcRect/>
          <a:stretch>
            <a:fillRect/>
          </a:stretch>
        </p:blipFill>
        <p:spPr bwMode="auto">
          <a:xfrm>
            <a:off x="-1" y="4078249"/>
            <a:ext cx="5746283" cy="2779751"/>
          </a:xfrm>
          <a:prstGeom prst="rect">
            <a:avLst/>
          </a:prstGeom>
          <a:noFill/>
          <a:extLst>
            <a:ext uri="{909E8E84-426E-40DD-AFC4-6F175D3DCCD1}">
              <a14:hiddenFill xmlns:a14="http://schemas.microsoft.com/office/drawing/2010/main" xmlns="">
                <a:solidFill>
                  <a:srgbClr val="FFFFFF"/>
                </a:solidFill>
              </a14:hiddenFill>
            </a:ext>
          </a:extLst>
        </p:spPr>
      </p:pic>
      <p:sp>
        <p:nvSpPr>
          <p:cNvPr id="5" name="文本框 4">
            <a:extLst>
              <a:ext uri="{FF2B5EF4-FFF2-40B4-BE49-F238E27FC236}">
                <a16:creationId xmlns:a16="http://schemas.microsoft.com/office/drawing/2014/main" xmlns="" id="{3FC86637-6B03-417F-81E5-B182FF5D6024}"/>
              </a:ext>
            </a:extLst>
          </p:cNvPr>
          <p:cNvSpPr txBox="1"/>
          <p:nvPr/>
        </p:nvSpPr>
        <p:spPr>
          <a:xfrm>
            <a:off x="0" y="2319707"/>
            <a:ext cx="12118206" cy="523220"/>
          </a:xfrm>
          <a:prstGeom prst="rect">
            <a:avLst/>
          </a:prstGeom>
          <a:noFill/>
        </p:spPr>
        <p:txBody>
          <a:bodyPr wrap="square">
            <a:spAutoFit/>
          </a:bodyPr>
          <a:lstStyle/>
          <a:p>
            <a:r>
              <a:rPr lang="zh-CN" altLang="zh-CN" sz="2800" dirty="0">
                <a:latin typeface="宋体" panose="02010600030101010101" pitchFamily="2" charset="-122"/>
                <a:ea typeface="宋体" panose="02010600030101010101" pitchFamily="2" charset="-122"/>
              </a:rPr>
              <a:t>（</a:t>
            </a:r>
            <a:r>
              <a:rPr lang="en-US" altLang="zh-CN" sz="2800" dirty="0">
                <a:latin typeface="宋体" panose="02010600030101010101" pitchFamily="2" charset="-122"/>
                <a:ea typeface="宋体" panose="02010600030101010101" pitchFamily="2" charset="-122"/>
              </a:rPr>
              <a:t>4</a:t>
            </a:r>
            <a:r>
              <a:rPr lang="zh-CN" altLang="zh-CN" sz="2800" dirty="0">
                <a:latin typeface="宋体" panose="02010600030101010101" pitchFamily="2" charset="-122"/>
                <a:ea typeface="宋体" panose="02010600030101010101" pitchFamily="2" charset="-122"/>
              </a:rPr>
              <a:t>）说明尼罗河鲈鱼的引进对维多利亚湖</a:t>
            </a:r>
            <a:r>
              <a:rPr lang="zh-CN" altLang="zh-CN" sz="2800" dirty="0">
                <a:solidFill>
                  <a:srgbClr val="0000FF"/>
                </a:solidFill>
                <a:latin typeface="宋体" panose="02010600030101010101" pitchFamily="2" charset="-122"/>
                <a:ea typeface="宋体" panose="02010600030101010101" pitchFamily="2" charset="-122"/>
              </a:rPr>
              <a:t>沿岸地区经济发展</a:t>
            </a:r>
            <a:r>
              <a:rPr lang="zh-CN" altLang="zh-CN" sz="2800" dirty="0">
                <a:latin typeface="宋体" panose="02010600030101010101" pitchFamily="2" charset="-122"/>
                <a:ea typeface="宋体" panose="02010600030101010101" pitchFamily="2" charset="-122"/>
              </a:rPr>
              <a:t>的贡献。（</a:t>
            </a:r>
            <a:r>
              <a:rPr lang="en-US" altLang="zh-CN" sz="2800" dirty="0">
                <a:latin typeface="宋体" panose="02010600030101010101" pitchFamily="2" charset="-122"/>
                <a:ea typeface="宋体" panose="02010600030101010101" pitchFamily="2" charset="-122"/>
              </a:rPr>
              <a:t>6</a:t>
            </a:r>
            <a:r>
              <a:rPr lang="zh-CN" altLang="zh-CN" sz="2800" dirty="0">
                <a:latin typeface="宋体" panose="02010600030101010101" pitchFamily="2" charset="-122"/>
                <a:ea typeface="宋体" panose="02010600030101010101" pitchFamily="2" charset="-122"/>
              </a:rPr>
              <a:t>分）</a:t>
            </a:r>
          </a:p>
        </p:txBody>
      </p:sp>
      <p:sp>
        <p:nvSpPr>
          <p:cNvPr id="3" name="椭圆 2">
            <a:extLst>
              <a:ext uri="{FF2B5EF4-FFF2-40B4-BE49-F238E27FC236}">
                <a16:creationId xmlns:a16="http://schemas.microsoft.com/office/drawing/2014/main" xmlns="" id="{502E0453-7371-49FD-A351-2BFD62A31D53}"/>
              </a:ext>
            </a:extLst>
          </p:cNvPr>
          <p:cNvSpPr/>
          <p:nvPr/>
        </p:nvSpPr>
        <p:spPr>
          <a:xfrm>
            <a:off x="2810577" y="1299411"/>
            <a:ext cx="2021305" cy="510138"/>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a:extLst>
              <a:ext uri="{FF2B5EF4-FFF2-40B4-BE49-F238E27FC236}">
                <a16:creationId xmlns:a16="http://schemas.microsoft.com/office/drawing/2014/main" xmlns="" id="{A01271AE-9442-4A8F-87AA-E9812BE75D37}"/>
              </a:ext>
            </a:extLst>
          </p:cNvPr>
          <p:cNvSpPr/>
          <p:nvPr/>
        </p:nvSpPr>
        <p:spPr>
          <a:xfrm>
            <a:off x="5842535" y="1299411"/>
            <a:ext cx="2945330" cy="510138"/>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xmlns="" id="{90F9CA08-7989-49AA-ADD8-237B699B0787}"/>
              </a:ext>
            </a:extLst>
          </p:cNvPr>
          <p:cNvSpPr txBox="1"/>
          <p:nvPr/>
        </p:nvSpPr>
        <p:spPr>
          <a:xfrm>
            <a:off x="2" y="2731202"/>
            <a:ext cx="12191998" cy="1384995"/>
          </a:xfrm>
          <a:prstGeom prst="rect">
            <a:avLst/>
          </a:prstGeom>
          <a:noFill/>
        </p:spPr>
        <p:txBody>
          <a:bodyPr wrap="square" rtlCol="0">
            <a:spAutoFit/>
          </a:bodyPr>
          <a:lstStyle/>
          <a:p>
            <a:r>
              <a:rPr lang="en-US" altLang="zh-CN" sz="2800" b="1" dirty="0">
                <a:solidFill>
                  <a:srgbClr val="FF0000"/>
                </a:solidFill>
              </a:rPr>
              <a:t>【</a:t>
            </a:r>
            <a:r>
              <a:rPr lang="zh-CN" altLang="en-US" sz="2800" b="1" dirty="0">
                <a:solidFill>
                  <a:srgbClr val="FF0000"/>
                </a:solidFill>
              </a:rPr>
              <a:t>解析</a:t>
            </a:r>
            <a:r>
              <a:rPr lang="en-US" altLang="zh-CN" sz="2800" b="1" dirty="0">
                <a:solidFill>
                  <a:srgbClr val="FF0000"/>
                </a:solidFill>
              </a:rPr>
              <a:t>】</a:t>
            </a:r>
            <a:r>
              <a:rPr lang="zh-CN" altLang="en-US" sz="2800" b="1" dirty="0">
                <a:solidFill>
                  <a:srgbClr val="FF0000"/>
                </a:solidFill>
              </a:rPr>
              <a:t>注意是对沿岸经济发展的影响，应凸出经济方向！</a:t>
            </a:r>
            <a:endParaRPr lang="en-US" altLang="zh-CN" sz="2800" b="1" dirty="0">
              <a:solidFill>
                <a:srgbClr val="FF0000"/>
              </a:solidFill>
            </a:endParaRPr>
          </a:p>
          <a:p>
            <a:r>
              <a:rPr lang="en-US" altLang="zh-CN" sz="2800" b="1" dirty="0">
                <a:solidFill>
                  <a:srgbClr val="FF0000"/>
                </a:solidFill>
              </a:rPr>
              <a:t>     </a:t>
            </a:r>
            <a:r>
              <a:rPr lang="zh-CN" altLang="en-US" sz="2800" b="1" dirty="0">
                <a:solidFill>
                  <a:srgbClr val="FF0000"/>
                </a:solidFill>
              </a:rPr>
              <a:t>根据材料语言，会带动“捕捞、加工”等相关产业发展。同时鲈鱼价格高，出口量（欧洲市场需求大）增加，会增加外汇收入。</a:t>
            </a:r>
            <a:endParaRPr lang="en-US" altLang="zh-CN" sz="2800" b="1" dirty="0">
              <a:solidFill>
                <a:srgbClr val="FF0000"/>
              </a:solidFill>
            </a:endParaRPr>
          </a:p>
        </p:txBody>
      </p:sp>
      <p:sp>
        <p:nvSpPr>
          <p:cNvPr id="10" name="文本框 9">
            <a:extLst>
              <a:ext uri="{FF2B5EF4-FFF2-40B4-BE49-F238E27FC236}">
                <a16:creationId xmlns:a16="http://schemas.microsoft.com/office/drawing/2014/main" xmlns="" id="{10314A72-1B3F-439D-AEB8-142216BBBEB1}"/>
              </a:ext>
            </a:extLst>
          </p:cNvPr>
          <p:cNvSpPr txBox="1"/>
          <p:nvPr/>
        </p:nvSpPr>
        <p:spPr>
          <a:xfrm>
            <a:off x="5587465" y="4302158"/>
            <a:ext cx="6400800" cy="1569660"/>
          </a:xfrm>
          <a:prstGeom prst="rect">
            <a:avLst/>
          </a:prstGeom>
          <a:noFill/>
        </p:spPr>
        <p:txBody>
          <a:bodyPr wrap="square">
            <a:spAutoFit/>
          </a:bodyPr>
          <a:lstStyle/>
          <a:p>
            <a:r>
              <a:rPr lang="en-US" altLang="zh-CN" sz="2400" b="1" dirty="0">
                <a:solidFill>
                  <a:srgbClr val="FF0000"/>
                </a:solidFill>
                <a:latin typeface="宋体" panose="02010600030101010101" pitchFamily="2" charset="-122"/>
                <a:ea typeface="宋体" panose="02010600030101010101" pitchFamily="2" charset="-122"/>
              </a:rPr>
              <a:t>A</a:t>
            </a:r>
            <a:r>
              <a:rPr lang="zh-CN" altLang="en-US" sz="2400" b="1" dirty="0">
                <a:solidFill>
                  <a:srgbClr val="FF0000"/>
                </a:solidFill>
                <a:latin typeface="宋体" panose="02010600030101010101" pitchFamily="2" charset="-122"/>
                <a:ea typeface="宋体" panose="02010600030101010101" pitchFamily="2" charset="-122"/>
              </a:rPr>
              <a:t>、</a:t>
            </a:r>
            <a:r>
              <a:rPr lang="zh-CN" altLang="zh-CN" sz="2400" b="1" dirty="0">
                <a:solidFill>
                  <a:srgbClr val="FF0000"/>
                </a:solidFill>
                <a:latin typeface="宋体" panose="02010600030101010101" pitchFamily="2" charset="-122"/>
                <a:ea typeface="宋体" panose="02010600030101010101" pitchFamily="2" charset="-122"/>
              </a:rPr>
              <a:t>捕捞、加工、运输等产业随之发展，扩大就业，</a:t>
            </a:r>
            <a:r>
              <a:rPr lang="zh-CN" altLang="zh-CN" sz="2400" b="1" u="sng" dirty="0">
                <a:solidFill>
                  <a:srgbClr val="FF0000"/>
                </a:solidFill>
                <a:latin typeface="宋体" panose="02010600030101010101" pitchFamily="2" charset="-122"/>
                <a:ea typeface="宋体" panose="02010600030101010101" pitchFamily="2" charset="-122"/>
              </a:rPr>
              <a:t>促进相关产业发展</a:t>
            </a:r>
            <a:r>
              <a:rPr lang="zh-CN" altLang="zh-CN" sz="2400" b="1" dirty="0">
                <a:solidFill>
                  <a:srgbClr val="FF0000"/>
                </a:solidFill>
                <a:latin typeface="宋体" panose="02010600030101010101" pitchFamily="2" charset="-122"/>
                <a:ea typeface="宋体" panose="02010600030101010101" pitchFamily="2" charset="-122"/>
              </a:rPr>
              <a:t>。</a:t>
            </a:r>
            <a:endParaRPr lang="en-US" altLang="zh-CN" sz="2400" b="1" dirty="0">
              <a:solidFill>
                <a:srgbClr val="FF0000"/>
              </a:solidFill>
              <a:latin typeface="宋体" panose="02010600030101010101" pitchFamily="2" charset="-122"/>
              <a:ea typeface="宋体" panose="02010600030101010101" pitchFamily="2" charset="-122"/>
            </a:endParaRPr>
          </a:p>
          <a:p>
            <a:r>
              <a:rPr lang="en-US" altLang="zh-CN" sz="2400" b="1" dirty="0">
                <a:solidFill>
                  <a:srgbClr val="FF0000"/>
                </a:solidFill>
                <a:latin typeface="宋体" panose="02010600030101010101" pitchFamily="2" charset="-122"/>
                <a:ea typeface="宋体" panose="02010600030101010101" pitchFamily="2" charset="-122"/>
              </a:rPr>
              <a:t>B</a:t>
            </a:r>
            <a:r>
              <a:rPr lang="zh-CN" altLang="en-US" sz="2400" b="1" dirty="0">
                <a:solidFill>
                  <a:srgbClr val="FF0000"/>
                </a:solidFill>
                <a:latin typeface="宋体" panose="02010600030101010101" pitchFamily="2" charset="-122"/>
                <a:ea typeface="宋体" panose="02010600030101010101" pitchFamily="2" charset="-122"/>
              </a:rPr>
              <a:t>、</a:t>
            </a:r>
            <a:r>
              <a:rPr lang="zh-CN" altLang="zh-CN" sz="2400" b="1" dirty="0">
                <a:solidFill>
                  <a:srgbClr val="FF0000"/>
                </a:solidFill>
                <a:latin typeface="宋体" panose="02010600030101010101" pitchFamily="2" charset="-122"/>
                <a:ea typeface="宋体" panose="02010600030101010101" pitchFamily="2" charset="-122"/>
              </a:rPr>
              <a:t>产量大，价格高，</a:t>
            </a:r>
            <a:r>
              <a:rPr lang="en-US" altLang="zh-CN" sz="2400" b="1" dirty="0">
                <a:solidFill>
                  <a:srgbClr val="FF0000"/>
                </a:solidFill>
                <a:latin typeface="宋体" panose="02010600030101010101" pitchFamily="2" charset="-122"/>
                <a:ea typeface="宋体" panose="02010600030101010101" pitchFamily="2" charset="-122"/>
              </a:rPr>
              <a:t>(</a:t>
            </a:r>
            <a:r>
              <a:rPr lang="zh-CN" altLang="zh-CN" sz="2400" b="1" dirty="0">
                <a:solidFill>
                  <a:srgbClr val="FF0000"/>
                </a:solidFill>
                <a:latin typeface="宋体" panose="02010600030101010101" pitchFamily="2" charset="-122"/>
                <a:ea typeface="宋体" panose="02010600030101010101" pitchFamily="2" charset="-122"/>
              </a:rPr>
              <a:t>国际市场需求量大，</a:t>
            </a:r>
            <a:r>
              <a:rPr lang="en-US" altLang="zh-CN" sz="2400" b="1" dirty="0">
                <a:solidFill>
                  <a:srgbClr val="FF0000"/>
                </a:solidFill>
                <a:latin typeface="宋体" panose="02010600030101010101" pitchFamily="2" charset="-122"/>
                <a:ea typeface="宋体" panose="02010600030101010101" pitchFamily="2" charset="-122"/>
              </a:rPr>
              <a:t>)</a:t>
            </a:r>
            <a:r>
              <a:rPr lang="zh-CN" altLang="zh-CN" sz="2400" b="1" u="sng" dirty="0">
                <a:solidFill>
                  <a:srgbClr val="FF0000"/>
                </a:solidFill>
                <a:latin typeface="宋体" panose="02010600030101010101" pitchFamily="2" charset="-122"/>
                <a:ea typeface="宋体" panose="02010600030101010101" pitchFamily="2" charset="-122"/>
              </a:rPr>
              <a:t>出口创汇</a:t>
            </a:r>
            <a:r>
              <a:rPr lang="zh-CN" altLang="en-US" sz="2400" b="1" dirty="0">
                <a:solidFill>
                  <a:srgbClr val="FF0000"/>
                </a:solidFill>
                <a:latin typeface="宋体" panose="02010600030101010101" pitchFamily="2" charset="-122"/>
                <a:ea typeface="宋体" panose="02010600030101010101" pitchFamily="2" charset="-122"/>
              </a:rPr>
              <a:t>。</a:t>
            </a:r>
          </a:p>
        </p:txBody>
      </p:sp>
    </p:spTree>
    <p:extLst>
      <p:ext uri="{BB962C8B-B14F-4D97-AF65-F5344CB8AC3E}">
        <p14:creationId xmlns:p14="http://schemas.microsoft.com/office/powerpoint/2010/main" xmlns="" val="286382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xmlns="" id="{D5BE20DE-A81D-432A-A2C3-34D386392E45}"/>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3073" name="图片 68" descr="说明: AYD14">
            <a:extLst>
              <a:ext uri="{FF2B5EF4-FFF2-40B4-BE49-F238E27FC236}">
                <a16:creationId xmlns:a16="http://schemas.microsoft.com/office/drawing/2014/main" xmlns="" id="{9740C03F-EB62-4853-A49C-75B9C9503AB4}"/>
              </a:ext>
            </a:extLst>
          </p:cNvPr>
          <p:cNvPicPr>
            <a:picLocks noChangeAspect="1" noChangeArrowheads="1"/>
          </p:cNvPicPr>
          <p:nvPr/>
        </p:nvPicPr>
        <p:blipFill>
          <a:blip r:embed="rId2" cstate="print">
            <a:lum bright="-12000" contrast="14000"/>
            <a:extLst>
              <a:ext uri="{28A0092B-C50C-407E-A947-70E740481C1C}">
                <a14:useLocalDpi xmlns:a14="http://schemas.microsoft.com/office/drawing/2010/main" xmlns="" val="0"/>
              </a:ext>
            </a:extLst>
          </a:blip>
          <a:srcRect/>
          <a:stretch>
            <a:fillRect/>
          </a:stretch>
        </p:blipFill>
        <p:spPr bwMode="auto">
          <a:xfrm>
            <a:off x="8393229" y="3203329"/>
            <a:ext cx="3798771" cy="3654672"/>
          </a:xfrm>
          <a:prstGeom prst="rect">
            <a:avLst/>
          </a:prstGeom>
          <a:noFill/>
          <a:extLst>
            <a:ext uri="{909E8E84-426E-40DD-AFC4-6F175D3DCCD1}">
              <a14:hiddenFill xmlns:a14="http://schemas.microsoft.com/office/drawing/2010/main" xmlns="">
                <a:solidFill>
                  <a:srgbClr val="FFFFFF"/>
                </a:solidFill>
              </a14:hiddenFill>
            </a:ext>
          </a:extLst>
        </p:spPr>
      </p:pic>
      <p:sp>
        <p:nvSpPr>
          <p:cNvPr id="5" name="Rectangle 3">
            <a:extLst>
              <a:ext uri="{FF2B5EF4-FFF2-40B4-BE49-F238E27FC236}">
                <a16:creationId xmlns:a16="http://schemas.microsoft.com/office/drawing/2014/main" xmlns="" id="{190D0459-2DDB-45BD-BDE8-9153B90CA029}"/>
              </a:ext>
            </a:extLst>
          </p:cNvPr>
          <p:cNvSpPr>
            <a:spLocks noChangeArrowheads="1"/>
          </p:cNvSpPr>
          <p:nvPr/>
        </p:nvSpPr>
        <p:spPr bwMode="auto">
          <a:xfrm>
            <a:off x="0" y="4813"/>
            <a:ext cx="12192000" cy="18158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198438" algn="l"/>
              </a:tabLst>
              <a:defRPr>
                <a:solidFill>
                  <a:schemeClr val="tx1"/>
                </a:solidFill>
                <a:latin typeface="Arial" panose="020B0604020202020204" pitchFamily="34" charset="0"/>
              </a:defRPr>
            </a:lvl1pPr>
            <a:lvl2pPr eaLnBrk="0" fontAlgn="base" hangingPunct="0">
              <a:spcBef>
                <a:spcPct val="0"/>
              </a:spcBef>
              <a:spcAft>
                <a:spcPct val="0"/>
              </a:spcAft>
              <a:tabLst>
                <a:tab pos="198438" algn="l"/>
              </a:tabLst>
              <a:defRPr>
                <a:solidFill>
                  <a:schemeClr val="tx1"/>
                </a:solidFill>
                <a:latin typeface="Arial" panose="020B0604020202020204" pitchFamily="34" charset="0"/>
              </a:defRPr>
            </a:lvl2pPr>
            <a:lvl3pPr eaLnBrk="0" fontAlgn="base" hangingPunct="0">
              <a:spcBef>
                <a:spcPct val="0"/>
              </a:spcBef>
              <a:spcAft>
                <a:spcPct val="0"/>
              </a:spcAft>
              <a:tabLst>
                <a:tab pos="198438" algn="l"/>
              </a:tabLst>
              <a:defRPr>
                <a:solidFill>
                  <a:schemeClr val="tx1"/>
                </a:solidFill>
                <a:latin typeface="Arial" panose="020B0604020202020204" pitchFamily="34" charset="0"/>
              </a:defRPr>
            </a:lvl3pPr>
            <a:lvl4pPr eaLnBrk="0" fontAlgn="base" hangingPunct="0">
              <a:spcBef>
                <a:spcPct val="0"/>
              </a:spcBef>
              <a:spcAft>
                <a:spcPct val="0"/>
              </a:spcAft>
              <a:tabLst>
                <a:tab pos="198438" algn="l"/>
              </a:tabLst>
              <a:defRPr>
                <a:solidFill>
                  <a:schemeClr val="tx1"/>
                </a:solidFill>
                <a:latin typeface="Arial" panose="020B0604020202020204" pitchFamily="34" charset="0"/>
              </a:defRPr>
            </a:lvl4pPr>
            <a:lvl5pPr eaLnBrk="0" fontAlgn="base" hangingPunct="0">
              <a:spcBef>
                <a:spcPct val="0"/>
              </a:spcBef>
              <a:spcAft>
                <a:spcPct val="0"/>
              </a:spcAft>
              <a:tabLst>
                <a:tab pos="198438" algn="l"/>
              </a:tabLst>
              <a:defRPr>
                <a:solidFill>
                  <a:schemeClr val="tx1"/>
                </a:solidFill>
                <a:latin typeface="Arial" panose="020B0604020202020204" pitchFamily="34" charset="0"/>
              </a:defRPr>
            </a:lvl5pPr>
            <a:lvl6pPr eaLnBrk="0" fontAlgn="base" hangingPunct="0">
              <a:spcBef>
                <a:spcPct val="0"/>
              </a:spcBef>
              <a:spcAft>
                <a:spcPct val="0"/>
              </a:spcAft>
              <a:tabLst>
                <a:tab pos="198438" algn="l"/>
              </a:tabLst>
              <a:defRPr>
                <a:solidFill>
                  <a:schemeClr val="tx1"/>
                </a:solidFill>
                <a:latin typeface="Arial" panose="020B0604020202020204" pitchFamily="34" charset="0"/>
              </a:defRPr>
            </a:lvl6pPr>
            <a:lvl7pPr eaLnBrk="0" fontAlgn="base" hangingPunct="0">
              <a:spcBef>
                <a:spcPct val="0"/>
              </a:spcBef>
              <a:spcAft>
                <a:spcPct val="0"/>
              </a:spcAft>
              <a:tabLst>
                <a:tab pos="198438" algn="l"/>
              </a:tabLst>
              <a:defRPr>
                <a:solidFill>
                  <a:schemeClr val="tx1"/>
                </a:solidFill>
                <a:latin typeface="Arial" panose="020B0604020202020204" pitchFamily="34" charset="0"/>
              </a:defRPr>
            </a:lvl7pPr>
            <a:lvl8pPr eaLnBrk="0" fontAlgn="base" hangingPunct="0">
              <a:spcBef>
                <a:spcPct val="0"/>
              </a:spcBef>
              <a:spcAft>
                <a:spcPct val="0"/>
              </a:spcAft>
              <a:tabLst>
                <a:tab pos="198438" algn="l"/>
              </a:tabLst>
              <a:defRPr>
                <a:solidFill>
                  <a:schemeClr val="tx1"/>
                </a:solidFill>
                <a:latin typeface="Arial" panose="020B0604020202020204" pitchFamily="34" charset="0"/>
              </a:defRPr>
            </a:lvl8pPr>
            <a:lvl9pPr eaLnBrk="0" fontAlgn="base" hangingPunct="0">
              <a:spcBef>
                <a:spcPct val="0"/>
              </a:spcBef>
              <a:spcAft>
                <a:spcPct val="0"/>
              </a:spcAft>
              <a:tabLst>
                <a:tab pos="198438" algn="l"/>
              </a:tabLst>
              <a:defRPr>
                <a:solidFill>
                  <a:schemeClr val="tx1"/>
                </a:solidFill>
                <a:latin typeface="Arial" panose="020B0604020202020204" pitchFamily="34" charset="0"/>
              </a:defRPr>
            </a:lvl9pPr>
          </a:lstStyle>
          <a:p>
            <a:pPr marL="0" marR="0" lvl="0" indent="333375" algn="l" defTabSz="914400" rtl="0" eaLnBrk="0" fontAlgn="base" latinLnBrk="0" hangingPunct="0">
              <a:lnSpc>
                <a:spcPct val="100000"/>
              </a:lnSpc>
              <a:spcBef>
                <a:spcPct val="0"/>
              </a:spcBef>
              <a:spcAft>
                <a:spcPct val="0"/>
              </a:spcAft>
              <a:buClrTx/>
              <a:buSzTx/>
              <a:buFontTx/>
              <a:buNone/>
              <a:tabLst>
                <a:tab pos="198438" algn="l"/>
              </a:tabLst>
            </a:pPr>
            <a:r>
              <a:rPr kumimoji="0" lang="zh-CN" altLang="en-US" sz="2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宋体" panose="02010600030101010101" pitchFamily="2" charset="-122"/>
              </a:rPr>
              <a:t>  河流的侵蚀、沉积及沼泽的吸收</a:t>
            </a:r>
            <a:r>
              <a:rPr kumimoji="0" lang="en-US" altLang="zh-CN" sz="2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宋体" panose="02010600030101010101" pitchFamily="2" charset="-122"/>
              </a:rPr>
              <a:t>(</a:t>
            </a:r>
            <a:r>
              <a:rPr kumimoji="0" lang="zh-CN" altLang="en-US" sz="2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宋体" panose="02010600030101010101" pitchFamily="2" charset="-122"/>
              </a:rPr>
              <a:t>附</a:t>
            </a:r>
            <a:r>
              <a:rPr kumimoji="0" lang="en-US" altLang="zh-CN" sz="2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宋体" panose="02010600030101010101" pitchFamily="2" charset="-122"/>
              </a:rPr>
              <a:t>)</a:t>
            </a:r>
            <a:r>
              <a:rPr kumimoji="0" lang="zh-CN" altLang="en-US" sz="2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宋体" panose="02010600030101010101" pitchFamily="2" charset="-122"/>
              </a:rPr>
              <a:t>影响河流泥沙和营养物质含量。水体中营养物质含量影响浮游生物量，与水温共同制约鱼类资源数量。下图所示的西西伯利亚平原</a:t>
            </a:r>
            <a:r>
              <a:rPr kumimoji="0" lang="zh-CN" altLang="en-US" sz="2800" b="1" i="0" u="none" strike="noStrike" cap="none" normalizeH="0" baseline="0" dirty="0">
                <a:ln>
                  <a:noFill/>
                </a:ln>
                <a:solidFill>
                  <a:srgbClr val="0000FF"/>
                </a:solidFill>
                <a:effectLst/>
                <a:latin typeface="宋体" panose="02010600030101010101" pitchFamily="2" charset="-122"/>
                <a:ea typeface="宋体" panose="02010600030101010101" pitchFamily="2" charset="-122"/>
                <a:cs typeface="宋体" panose="02010600030101010101" pitchFamily="2" charset="-122"/>
              </a:rPr>
              <a:t>地势低平，冻土发育，河流众多，沼泽广布</a:t>
            </a:r>
            <a:r>
              <a:rPr kumimoji="0" lang="zh-CN" altLang="en-US" sz="2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宋体" panose="02010600030101010101" pitchFamily="2" charset="-122"/>
              </a:rPr>
              <a:t>。</a:t>
            </a:r>
            <a:endParaRPr kumimoji="0" lang="zh-CN" altLang="en-US" sz="28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tabLst>
                <a:tab pos="198438" algn="l"/>
              </a:tabLst>
            </a:pPr>
            <a:r>
              <a:rPr kumimoji="0" lang="zh-CN" altLang="en-US" sz="2800" b="0" i="0" u="none" strike="noStrike" cap="none" normalizeH="0" baseline="0" dirty="0">
                <a:ln>
                  <a:noFill/>
                </a:ln>
                <a:solidFill>
                  <a:srgbClr val="333333"/>
                </a:solidFill>
                <a:effectLst/>
                <a:latin typeface="微软雅黑" panose="020B0503020204020204" pitchFamily="34" charset="-122"/>
                <a:ea typeface="宋体" panose="02010600030101010101" pitchFamily="2" charset="-122"/>
                <a:cs typeface="Courier New" panose="02070309020205020404" pitchFamily="49" charset="0"/>
              </a:rPr>
              <a:t>    （</a:t>
            </a:r>
            <a:r>
              <a:rPr kumimoji="0" lang="en-US" altLang="zh-CN" sz="2800" b="0" i="0" u="none" strike="noStrike" cap="none" normalizeH="0" baseline="0" dirty="0">
                <a:ln>
                  <a:noFill/>
                </a:ln>
                <a:solidFill>
                  <a:srgbClr val="333333"/>
                </a:solidFill>
                <a:effectLst/>
                <a:latin typeface="微软雅黑" panose="020B0503020204020204" pitchFamily="34" charset="-122"/>
                <a:ea typeface="宋体" panose="02010600030101010101" pitchFamily="2" charset="-122"/>
                <a:cs typeface="Courier New" panose="02070309020205020404" pitchFamily="49" charset="0"/>
              </a:rPr>
              <a:t>1</a:t>
            </a:r>
            <a:r>
              <a:rPr kumimoji="0" lang="zh-CN" altLang="en-US" sz="2800" b="0" i="0" u="none" strike="noStrike" cap="none" normalizeH="0" baseline="0" dirty="0">
                <a:ln>
                  <a:noFill/>
                </a:ln>
                <a:solidFill>
                  <a:srgbClr val="333333"/>
                </a:solidFill>
                <a:effectLst/>
                <a:latin typeface="微软雅黑" panose="020B0503020204020204" pitchFamily="34" charset="-122"/>
                <a:ea typeface="宋体" panose="02010600030101010101" pitchFamily="2" charset="-122"/>
                <a:cs typeface="Courier New" panose="02070309020205020404" pitchFamily="49" charset="0"/>
              </a:rPr>
              <a:t>）分析西西伯利亚</a:t>
            </a:r>
            <a:r>
              <a:rPr kumimoji="0" lang="zh-CN" altLang="en-US" sz="2800" b="0" i="0" u="none" strike="noStrike" cap="none" normalizeH="0" baseline="0" dirty="0">
                <a:ln>
                  <a:noFill/>
                </a:ln>
                <a:solidFill>
                  <a:srgbClr val="0000FF"/>
                </a:solidFill>
                <a:effectLst/>
                <a:latin typeface="微软雅黑" panose="020B0503020204020204" pitchFamily="34" charset="-122"/>
                <a:ea typeface="宋体" panose="02010600030101010101" pitchFamily="2" charset="-122"/>
                <a:cs typeface="Courier New" panose="02070309020205020404" pitchFamily="49" charset="0"/>
              </a:rPr>
              <a:t>平原沼泽广布</a:t>
            </a:r>
            <a:r>
              <a:rPr kumimoji="0" lang="zh-CN" altLang="en-US" sz="2800" b="0" i="0" u="none" strike="noStrike" cap="none" normalizeH="0" baseline="0" dirty="0">
                <a:ln>
                  <a:noFill/>
                </a:ln>
                <a:solidFill>
                  <a:srgbClr val="333333"/>
                </a:solidFill>
                <a:effectLst/>
                <a:latin typeface="微软雅黑" panose="020B0503020204020204" pitchFamily="34" charset="-122"/>
                <a:ea typeface="宋体" panose="02010600030101010101" pitchFamily="2" charset="-122"/>
                <a:cs typeface="Courier New" panose="02070309020205020404" pitchFamily="49" charset="0"/>
              </a:rPr>
              <a:t>的原因（</a:t>
            </a:r>
            <a:r>
              <a:rPr kumimoji="0" lang="en-US" altLang="zh-CN" sz="2800" b="0" i="0" u="none" strike="noStrike" cap="none" normalizeH="0" baseline="0" dirty="0">
                <a:ln>
                  <a:noFill/>
                </a:ln>
                <a:solidFill>
                  <a:srgbClr val="333333"/>
                </a:solidFill>
                <a:effectLst/>
                <a:latin typeface="微软雅黑" panose="020B0503020204020204" pitchFamily="34" charset="-122"/>
                <a:ea typeface="微软雅黑" panose="020B0503020204020204" pitchFamily="34" charset="-122"/>
                <a:cs typeface="Courier New" panose="02070309020205020404" pitchFamily="49" charset="0"/>
              </a:rPr>
              <a:t>8</a:t>
            </a:r>
            <a:r>
              <a:rPr kumimoji="0" lang="zh-CN" altLang="en-US" sz="2800" b="0" i="0" u="none" strike="noStrike" cap="none" normalizeH="0" baseline="0" dirty="0">
                <a:ln>
                  <a:noFill/>
                </a:ln>
                <a:solidFill>
                  <a:srgbClr val="333333"/>
                </a:solidFill>
                <a:effectLst/>
                <a:latin typeface="微软雅黑" panose="020B0503020204020204" pitchFamily="34" charset="-122"/>
                <a:ea typeface="宋体" panose="02010600030101010101" pitchFamily="2" charset="-122"/>
                <a:cs typeface="Courier New" panose="02070309020205020404" pitchFamily="49" charset="0"/>
              </a:rPr>
              <a:t>分）</a:t>
            </a:r>
            <a:endParaRPr kumimoji="0" lang="zh-CN" altLang="en-US" sz="2800" b="0" i="0" u="none" strike="noStrike" cap="none" normalizeH="0" baseline="0" dirty="0">
              <a:ln>
                <a:noFill/>
              </a:ln>
              <a:solidFill>
                <a:schemeClr val="tx1"/>
              </a:solidFill>
              <a:effectLst/>
            </a:endParaRPr>
          </a:p>
        </p:txBody>
      </p:sp>
      <p:sp>
        <p:nvSpPr>
          <p:cNvPr id="6" name="文本框 5">
            <a:extLst>
              <a:ext uri="{FF2B5EF4-FFF2-40B4-BE49-F238E27FC236}">
                <a16:creationId xmlns:a16="http://schemas.microsoft.com/office/drawing/2014/main" xmlns="" id="{5B0246F2-4D9C-4C14-9429-A64FC48FE1B0}"/>
              </a:ext>
            </a:extLst>
          </p:cNvPr>
          <p:cNvSpPr txBox="1"/>
          <p:nvPr/>
        </p:nvSpPr>
        <p:spPr>
          <a:xfrm>
            <a:off x="48126" y="1793339"/>
            <a:ext cx="12095747" cy="1384995"/>
          </a:xfrm>
          <a:prstGeom prst="rect">
            <a:avLst/>
          </a:prstGeom>
          <a:noFill/>
        </p:spPr>
        <p:txBody>
          <a:bodyPr wrap="square" rtlCol="0">
            <a:spAutoFit/>
          </a:bodyPr>
          <a:lstStyle/>
          <a:p>
            <a:r>
              <a:rPr lang="en-US" altLang="zh-CN" sz="2800" b="1" dirty="0">
                <a:solidFill>
                  <a:srgbClr val="FF0000"/>
                </a:solidFill>
              </a:rPr>
              <a:t>【</a:t>
            </a:r>
            <a:r>
              <a:rPr lang="zh-CN" altLang="en-US" sz="2800" b="1" dirty="0">
                <a:solidFill>
                  <a:srgbClr val="FF0000"/>
                </a:solidFill>
              </a:rPr>
              <a:t>解析</a:t>
            </a:r>
            <a:r>
              <a:rPr lang="en-US" altLang="zh-CN" sz="2800" b="1" dirty="0">
                <a:solidFill>
                  <a:srgbClr val="FF0000"/>
                </a:solidFill>
              </a:rPr>
              <a:t>】</a:t>
            </a:r>
            <a:r>
              <a:rPr lang="zh-CN" altLang="en-US" sz="2800" b="1" dirty="0">
                <a:solidFill>
                  <a:srgbClr val="FF0000"/>
                </a:solidFill>
              </a:rPr>
              <a:t>“沼泽广布”、“洪涝多发”、“气候干旱”、“水资源紧缺”等，都有相似分析思路</a:t>
            </a:r>
            <a:r>
              <a:rPr lang="zh-CN" altLang="en-US" sz="2800" b="1" dirty="0">
                <a:solidFill>
                  <a:srgbClr val="0000FF"/>
                </a:solidFill>
              </a:rPr>
              <a:t>从水分收入（例如：补给方式）与支出（外排、下渗、蒸发）两个角度分析。</a:t>
            </a:r>
            <a:r>
              <a:rPr lang="zh-CN" altLang="en-US" sz="2800" b="1" dirty="0">
                <a:solidFill>
                  <a:srgbClr val="FF0000"/>
                </a:solidFill>
              </a:rPr>
              <a:t>但是设问指令词“分析”，</a:t>
            </a:r>
            <a:r>
              <a:rPr lang="zh-CN" altLang="en-US" sz="2800" b="1" u="sng" dirty="0">
                <a:solidFill>
                  <a:srgbClr val="FF0000"/>
                </a:solidFill>
                <a:effectLst>
                  <a:outerShdw blurRad="38100" dist="38100" dir="2700000" algn="tl">
                    <a:srgbClr val="000000">
                      <a:alpha val="43137"/>
                    </a:srgbClr>
                  </a:outerShdw>
                </a:effectLst>
              </a:rPr>
              <a:t>要求一定要有完整的过程</a:t>
            </a:r>
            <a:r>
              <a:rPr lang="zh-CN" altLang="en-US" sz="2800" b="1" dirty="0">
                <a:solidFill>
                  <a:srgbClr val="FF0000"/>
                </a:solidFill>
              </a:rPr>
              <a:t>！</a:t>
            </a:r>
          </a:p>
        </p:txBody>
      </p:sp>
      <p:sp>
        <p:nvSpPr>
          <p:cNvPr id="7" name="椭圆 6">
            <a:extLst>
              <a:ext uri="{FF2B5EF4-FFF2-40B4-BE49-F238E27FC236}">
                <a16:creationId xmlns:a16="http://schemas.microsoft.com/office/drawing/2014/main" xmlns="" id="{6E0E031A-AD15-4DA5-AD8F-174BA470BBE4}"/>
              </a:ext>
            </a:extLst>
          </p:cNvPr>
          <p:cNvSpPr/>
          <p:nvPr/>
        </p:nvSpPr>
        <p:spPr>
          <a:xfrm>
            <a:off x="10626291" y="3878981"/>
            <a:ext cx="875898" cy="2146434"/>
          </a:xfrm>
          <a:prstGeom prst="ellipse">
            <a:avLst/>
          </a:prstGeom>
          <a:noFill/>
          <a:ln w="571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文本框 9">
            <a:extLst>
              <a:ext uri="{FF2B5EF4-FFF2-40B4-BE49-F238E27FC236}">
                <a16:creationId xmlns:a16="http://schemas.microsoft.com/office/drawing/2014/main" xmlns="" id="{3B43C030-9DE1-4F3A-97F0-2EB94642CBF1}"/>
              </a:ext>
            </a:extLst>
          </p:cNvPr>
          <p:cNvSpPr txBox="1"/>
          <p:nvPr/>
        </p:nvSpPr>
        <p:spPr>
          <a:xfrm>
            <a:off x="689811" y="3604631"/>
            <a:ext cx="5191225" cy="1569660"/>
          </a:xfrm>
          <a:prstGeom prst="rect">
            <a:avLst/>
          </a:prstGeom>
          <a:noFill/>
        </p:spPr>
        <p:txBody>
          <a:bodyPr wrap="square">
            <a:spAutoFit/>
          </a:bodyPr>
          <a:lstStyle/>
          <a:p>
            <a:r>
              <a:rPr lang="en-US" altLang="zh-CN" sz="2400" b="1" dirty="0">
                <a:solidFill>
                  <a:srgbClr val="FF0000"/>
                </a:solidFill>
                <a:latin typeface="宋体" panose="02010600030101010101" pitchFamily="2" charset="-122"/>
                <a:ea typeface="宋体" panose="02010600030101010101" pitchFamily="2" charset="-122"/>
              </a:rPr>
              <a:t>1</a:t>
            </a:r>
            <a:r>
              <a:rPr lang="zh-CN" altLang="en-US" sz="2400" b="1" dirty="0">
                <a:solidFill>
                  <a:srgbClr val="FF0000"/>
                </a:solidFill>
                <a:latin typeface="宋体" panose="02010600030101010101" pitchFamily="2" charset="-122"/>
                <a:ea typeface="宋体" panose="02010600030101010101" pitchFamily="2" charset="-122"/>
              </a:rPr>
              <a:t>、</a:t>
            </a:r>
            <a:r>
              <a:rPr lang="zh-CN" altLang="zh-CN" sz="2400" b="1" dirty="0">
                <a:solidFill>
                  <a:srgbClr val="FF0000"/>
                </a:solidFill>
                <a:latin typeface="宋体" panose="02010600030101010101" pitchFamily="2" charset="-122"/>
                <a:ea typeface="宋体" panose="02010600030101010101" pitchFamily="2" charset="-122"/>
              </a:rPr>
              <a:t>地势低平，排水不畅；</a:t>
            </a:r>
            <a:endParaRPr lang="en-US" altLang="zh-CN" sz="2400" b="1" dirty="0">
              <a:solidFill>
                <a:srgbClr val="FF0000"/>
              </a:solidFill>
              <a:latin typeface="宋体" panose="02010600030101010101" pitchFamily="2" charset="-122"/>
              <a:ea typeface="宋体" panose="02010600030101010101" pitchFamily="2" charset="-122"/>
            </a:endParaRPr>
          </a:p>
          <a:p>
            <a:r>
              <a:rPr lang="en-US" altLang="zh-CN" sz="2400" b="1" dirty="0">
                <a:solidFill>
                  <a:srgbClr val="FF0000"/>
                </a:solidFill>
                <a:latin typeface="宋体" panose="02010600030101010101" pitchFamily="2" charset="-122"/>
                <a:ea typeface="宋体" panose="02010600030101010101" pitchFamily="2" charset="-122"/>
              </a:rPr>
              <a:t>2</a:t>
            </a:r>
            <a:r>
              <a:rPr lang="zh-CN" altLang="en-US" sz="2400" b="1" dirty="0">
                <a:solidFill>
                  <a:srgbClr val="FF0000"/>
                </a:solidFill>
                <a:latin typeface="宋体" panose="02010600030101010101" pitchFamily="2" charset="-122"/>
                <a:ea typeface="宋体" panose="02010600030101010101" pitchFamily="2" charset="-122"/>
              </a:rPr>
              <a:t>、</a:t>
            </a:r>
            <a:r>
              <a:rPr lang="zh-CN" altLang="zh-CN" sz="2400" b="1" dirty="0">
                <a:solidFill>
                  <a:srgbClr val="FF0000"/>
                </a:solidFill>
                <a:latin typeface="宋体" panose="02010600030101010101" pitchFamily="2" charset="-122"/>
                <a:ea typeface="宋体" panose="02010600030101010101" pitchFamily="2" charset="-122"/>
              </a:rPr>
              <a:t>气温低，蒸发量小；</a:t>
            </a:r>
            <a:endParaRPr lang="en-US" altLang="zh-CN" sz="2400" b="1" dirty="0">
              <a:solidFill>
                <a:srgbClr val="FF0000"/>
              </a:solidFill>
              <a:latin typeface="宋体" panose="02010600030101010101" pitchFamily="2" charset="-122"/>
              <a:ea typeface="宋体" panose="02010600030101010101" pitchFamily="2" charset="-122"/>
            </a:endParaRPr>
          </a:p>
          <a:p>
            <a:r>
              <a:rPr lang="en-US" altLang="zh-CN" sz="2400" b="1" dirty="0">
                <a:solidFill>
                  <a:srgbClr val="FF0000"/>
                </a:solidFill>
                <a:latin typeface="宋体" panose="02010600030101010101" pitchFamily="2" charset="-122"/>
                <a:ea typeface="宋体" panose="02010600030101010101" pitchFamily="2" charset="-122"/>
              </a:rPr>
              <a:t>3</a:t>
            </a:r>
            <a:r>
              <a:rPr lang="zh-CN" altLang="en-US" sz="2400" b="1" dirty="0">
                <a:solidFill>
                  <a:srgbClr val="FF0000"/>
                </a:solidFill>
                <a:latin typeface="宋体" panose="02010600030101010101" pitchFamily="2" charset="-122"/>
                <a:ea typeface="宋体" panose="02010600030101010101" pitchFamily="2" charset="-122"/>
              </a:rPr>
              <a:t>、</a:t>
            </a:r>
            <a:r>
              <a:rPr lang="zh-CN" altLang="zh-CN" sz="2400" b="1" dirty="0">
                <a:solidFill>
                  <a:srgbClr val="FF0000"/>
                </a:solidFill>
                <a:latin typeface="宋体" panose="02010600030101010101" pitchFamily="2" charset="-122"/>
                <a:ea typeface="宋体" panose="02010600030101010101" pitchFamily="2" charset="-122"/>
              </a:rPr>
              <a:t>下部土层冻结，阻滞水分下渗；</a:t>
            </a:r>
            <a:endParaRPr lang="en-US" altLang="zh-CN" sz="2400" b="1" dirty="0">
              <a:solidFill>
                <a:srgbClr val="FF0000"/>
              </a:solidFill>
              <a:latin typeface="宋体" panose="02010600030101010101" pitchFamily="2" charset="-122"/>
              <a:ea typeface="宋体" panose="02010600030101010101" pitchFamily="2" charset="-122"/>
            </a:endParaRPr>
          </a:p>
          <a:p>
            <a:r>
              <a:rPr lang="en-US" altLang="zh-CN" sz="2400" b="1" dirty="0">
                <a:solidFill>
                  <a:srgbClr val="FF0000"/>
                </a:solidFill>
                <a:latin typeface="宋体" panose="02010600030101010101" pitchFamily="2" charset="-122"/>
                <a:ea typeface="宋体" panose="02010600030101010101" pitchFamily="2" charset="-122"/>
              </a:rPr>
              <a:t>4</a:t>
            </a:r>
            <a:r>
              <a:rPr lang="zh-CN" altLang="en-US" sz="2400" b="1" dirty="0">
                <a:solidFill>
                  <a:srgbClr val="FF0000"/>
                </a:solidFill>
                <a:latin typeface="宋体" panose="02010600030101010101" pitchFamily="2" charset="-122"/>
                <a:ea typeface="宋体" panose="02010600030101010101" pitchFamily="2" charset="-122"/>
              </a:rPr>
              <a:t>、</a:t>
            </a:r>
            <a:r>
              <a:rPr lang="zh-CN" altLang="zh-CN" sz="2400" b="1" dirty="0">
                <a:solidFill>
                  <a:srgbClr val="FF0000"/>
                </a:solidFill>
                <a:latin typeface="宋体" panose="02010600030101010101" pitchFamily="2" charset="-122"/>
                <a:ea typeface="宋体" panose="02010600030101010101" pitchFamily="2" charset="-122"/>
              </a:rPr>
              <a:t>（凌汛等导致）河水泛滥。</a:t>
            </a:r>
          </a:p>
        </p:txBody>
      </p:sp>
    </p:spTree>
    <p:extLst>
      <p:ext uri="{BB962C8B-B14F-4D97-AF65-F5344CB8AC3E}">
        <p14:creationId xmlns:p14="http://schemas.microsoft.com/office/powerpoint/2010/main" xmlns="" val="2378802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xmlns="" id="{D5BE20DE-A81D-432A-A2C3-34D386392E45}"/>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3073" name="图片 68" descr="说明: AYD14">
            <a:extLst>
              <a:ext uri="{FF2B5EF4-FFF2-40B4-BE49-F238E27FC236}">
                <a16:creationId xmlns:a16="http://schemas.microsoft.com/office/drawing/2014/main" xmlns="" id="{9740C03F-EB62-4853-A49C-75B9C9503AB4}"/>
              </a:ext>
            </a:extLst>
          </p:cNvPr>
          <p:cNvPicPr>
            <a:picLocks noChangeAspect="1" noChangeArrowheads="1"/>
          </p:cNvPicPr>
          <p:nvPr/>
        </p:nvPicPr>
        <p:blipFill>
          <a:blip r:embed="rId2" cstate="print">
            <a:lum bright="-12000" contrast="14000"/>
            <a:extLst>
              <a:ext uri="{28A0092B-C50C-407E-A947-70E740481C1C}">
                <a14:useLocalDpi xmlns:a14="http://schemas.microsoft.com/office/drawing/2010/main" xmlns="" val="0"/>
              </a:ext>
            </a:extLst>
          </a:blip>
          <a:srcRect/>
          <a:stretch>
            <a:fillRect/>
          </a:stretch>
        </p:blipFill>
        <p:spPr bwMode="auto">
          <a:xfrm>
            <a:off x="8393229" y="3203329"/>
            <a:ext cx="3798771" cy="3654672"/>
          </a:xfrm>
          <a:prstGeom prst="rect">
            <a:avLst/>
          </a:prstGeom>
          <a:noFill/>
          <a:extLst>
            <a:ext uri="{909E8E84-426E-40DD-AFC4-6F175D3DCCD1}">
              <a14:hiddenFill xmlns:a14="http://schemas.microsoft.com/office/drawing/2010/main" xmlns="">
                <a:solidFill>
                  <a:srgbClr val="FFFFFF"/>
                </a:solidFill>
              </a14:hiddenFill>
            </a:ext>
          </a:extLst>
        </p:spPr>
      </p:pic>
      <p:sp>
        <p:nvSpPr>
          <p:cNvPr id="5" name="Rectangle 3">
            <a:extLst>
              <a:ext uri="{FF2B5EF4-FFF2-40B4-BE49-F238E27FC236}">
                <a16:creationId xmlns:a16="http://schemas.microsoft.com/office/drawing/2014/main" xmlns="" id="{190D0459-2DDB-45BD-BDE8-9153B90CA029}"/>
              </a:ext>
            </a:extLst>
          </p:cNvPr>
          <p:cNvSpPr>
            <a:spLocks noChangeArrowheads="1"/>
          </p:cNvSpPr>
          <p:nvPr/>
        </p:nvSpPr>
        <p:spPr bwMode="auto">
          <a:xfrm>
            <a:off x="0" y="0"/>
            <a:ext cx="12192000" cy="138499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198438" algn="l"/>
              </a:tabLst>
              <a:defRPr>
                <a:solidFill>
                  <a:schemeClr val="tx1"/>
                </a:solidFill>
                <a:latin typeface="Arial" panose="020B0604020202020204" pitchFamily="34" charset="0"/>
              </a:defRPr>
            </a:lvl1pPr>
            <a:lvl2pPr eaLnBrk="0" fontAlgn="base" hangingPunct="0">
              <a:spcBef>
                <a:spcPct val="0"/>
              </a:spcBef>
              <a:spcAft>
                <a:spcPct val="0"/>
              </a:spcAft>
              <a:tabLst>
                <a:tab pos="198438" algn="l"/>
              </a:tabLst>
              <a:defRPr>
                <a:solidFill>
                  <a:schemeClr val="tx1"/>
                </a:solidFill>
                <a:latin typeface="Arial" panose="020B0604020202020204" pitchFamily="34" charset="0"/>
              </a:defRPr>
            </a:lvl2pPr>
            <a:lvl3pPr eaLnBrk="0" fontAlgn="base" hangingPunct="0">
              <a:spcBef>
                <a:spcPct val="0"/>
              </a:spcBef>
              <a:spcAft>
                <a:spcPct val="0"/>
              </a:spcAft>
              <a:tabLst>
                <a:tab pos="198438" algn="l"/>
              </a:tabLst>
              <a:defRPr>
                <a:solidFill>
                  <a:schemeClr val="tx1"/>
                </a:solidFill>
                <a:latin typeface="Arial" panose="020B0604020202020204" pitchFamily="34" charset="0"/>
              </a:defRPr>
            </a:lvl3pPr>
            <a:lvl4pPr eaLnBrk="0" fontAlgn="base" hangingPunct="0">
              <a:spcBef>
                <a:spcPct val="0"/>
              </a:spcBef>
              <a:spcAft>
                <a:spcPct val="0"/>
              </a:spcAft>
              <a:tabLst>
                <a:tab pos="198438" algn="l"/>
              </a:tabLst>
              <a:defRPr>
                <a:solidFill>
                  <a:schemeClr val="tx1"/>
                </a:solidFill>
                <a:latin typeface="Arial" panose="020B0604020202020204" pitchFamily="34" charset="0"/>
              </a:defRPr>
            </a:lvl4pPr>
            <a:lvl5pPr eaLnBrk="0" fontAlgn="base" hangingPunct="0">
              <a:spcBef>
                <a:spcPct val="0"/>
              </a:spcBef>
              <a:spcAft>
                <a:spcPct val="0"/>
              </a:spcAft>
              <a:tabLst>
                <a:tab pos="198438" algn="l"/>
              </a:tabLst>
              <a:defRPr>
                <a:solidFill>
                  <a:schemeClr val="tx1"/>
                </a:solidFill>
                <a:latin typeface="Arial" panose="020B0604020202020204" pitchFamily="34" charset="0"/>
              </a:defRPr>
            </a:lvl5pPr>
            <a:lvl6pPr eaLnBrk="0" fontAlgn="base" hangingPunct="0">
              <a:spcBef>
                <a:spcPct val="0"/>
              </a:spcBef>
              <a:spcAft>
                <a:spcPct val="0"/>
              </a:spcAft>
              <a:tabLst>
                <a:tab pos="198438" algn="l"/>
              </a:tabLst>
              <a:defRPr>
                <a:solidFill>
                  <a:schemeClr val="tx1"/>
                </a:solidFill>
                <a:latin typeface="Arial" panose="020B0604020202020204" pitchFamily="34" charset="0"/>
              </a:defRPr>
            </a:lvl6pPr>
            <a:lvl7pPr eaLnBrk="0" fontAlgn="base" hangingPunct="0">
              <a:spcBef>
                <a:spcPct val="0"/>
              </a:spcBef>
              <a:spcAft>
                <a:spcPct val="0"/>
              </a:spcAft>
              <a:tabLst>
                <a:tab pos="198438" algn="l"/>
              </a:tabLst>
              <a:defRPr>
                <a:solidFill>
                  <a:schemeClr val="tx1"/>
                </a:solidFill>
                <a:latin typeface="Arial" panose="020B0604020202020204" pitchFamily="34" charset="0"/>
              </a:defRPr>
            </a:lvl7pPr>
            <a:lvl8pPr eaLnBrk="0" fontAlgn="base" hangingPunct="0">
              <a:spcBef>
                <a:spcPct val="0"/>
              </a:spcBef>
              <a:spcAft>
                <a:spcPct val="0"/>
              </a:spcAft>
              <a:tabLst>
                <a:tab pos="198438" algn="l"/>
              </a:tabLst>
              <a:defRPr>
                <a:solidFill>
                  <a:schemeClr val="tx1"/>
                </a:solidFill>
                <a:latin typeface="Arial" panose="020B0604020202020204" pitchFamily="34" charset="0"/>
              </a:defRPr>
            </a:lvl8pPr>
            <a:lvl9pPr eaLnBrk="0" fontAlgn="base" hangingPunct="0">
              <a:spcBef>
                <a:spcPct val="0"/>
              </a:spcBef>
              <a:spcAft>
                <a:spcPct val="0"/>
              </a:spcAft>
              <a:tabLst>
                <a:tab pos="198438" algn="l"/>
              </a:tabLst>
              <a:defRPr>
                <a:solidFill>
                  <a:schemeClr val="tx1"/>
                </a:solidFill>
                <a:latin typeface="Arial" panose="020B0604020202020204" pitchFamily="34" charset="0"/>
              </a:defRPr>
            </a:lvl9pPr>
          </a:lstStyle>
          <a:p>
            <a:pPr marL="0" marR="0" lvl="0" indent="333375" algn="l" defTabSz="914400" rtl="0" eaLnBrk="0" fontAlgn="base" latinLnBrk="0" hangingPunct="0">
              <a:lnSpc>
                <a:spcPct val="100000"/>
              </a:lnSpc>
              <a:spcBef>
                <a:spcPct val="0"/>
              </a:spcBef>
              <a:spcAft>
                <a:spcPct val="0"/>
              </a:spcAft>
              <a:buClrTx/>
              <a:buSzTx/>
              <a:buFontTx/>
              <a:buNone/>
              <a:tabLst>
                <a:tab pos="198438" algn="l"/>
              </a:tabLst>
            </a:pPr>
            <a:r>
              <a:rPr kumimoji="0" lang="zh-CN" altLang="en-US" sz="2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宋体" panose="02010600030101010101" pitchFamily="2" charset="-122"/>
              </a:rPr>
              <a:t>  河流的</a:t>
            </a:r>
            <a:r>
              <a:rPr kumimoji="0" lang="zh-CN" altLang="en-US" sz="2800" b="0" i="0" u="none" strike="noStrike" cap="none" normalizeH="0" baseline="0" dirty="0">
                <a:ln>
                  <a:noFill/>
                </a:ln>
                <a:solidFill>
                  <a:srgbClr val="0000FF"/>
                </a:solidFill>
                <a:effectLst/>
                <a:latin typeface="宋体" panose="02010600030101010101" pitchFamily="2" charset="-122"/>
                <a:ea typeface="宋体" panose="02010600030101010101" pitchFamily="2" charset="-122"/>
                <a:cs typeface="宋体" panose="02010600030101010101" pitchFamily="2" charset="-122"/>
              </a:rPr>
              <a:t>侵蚀、沉积及沼泽的吸收</a:t>
            </a:r>
            <a:r>
              <a:rPr kumimoji="0" lang="en-US" altLang="zh-CN" sz="2800" b="0" i="0" u="none" strike="noStrike" cap="none" normalizeH="0" baseline="0" dirty="0">
                <a:ln>
                  <a:noFill/>
                </a:ln>
                <a:solidFill>
                  <a:srgbClr val="0000FF"/>
                </a:solidFill>
                <a:effectLst/>
                <a:latin typeface="宋体" panose="02010600030101010101" pitchFamily="2" charset="-122"/>
                <a:ea typeface="宋体" panose="02010600030101010101" pitchFamily="2" charset="-122"/>
                <a:cs typeface="宋体" panose="02010600030101010101" pitchFamily="2" charset="-122"/>
              </a:rPr>
              <a:t>(</a:t>
            </a:r>
            <a:r>
              <a:rPr kumimoji="0" lang="zh-CN" altLang="en-US" sz="2800" b="0" i="0" u="none" strike="noStrike" cap="none" normalizeH="0" baseline="0" dirty="0">
                <a:ln>
                  <a:noFill/>
                </a:ln>
                <a:solidFill>
                  <a:srgbClr val="0000FF"/>
                </a:solidFill>
                <a:effectLst/>
                <a:latin typeface="宋体" panose="02010600030101010101" pitchFamily="2" charset="-122"/>
                <a:ea typeface="宋体" panose="02010600030101010101" pitchFamily="2" charset="-122"/>
                <a:cs typeface="宋体" panose="02010600030101010101" pitchFamily="2" charset="-122"/>
              </a:rPr>
              <a:t>附</a:t>
            </a:r>
            <a:r>
              <a:rPr kumimoji="0" lang="en-US" altLang="zh-CN" sz="2800" b="0" i="0" u="none" strike="noStrike" cap="none" normalizeH="0" baseline="0" dirty="0">
                <a:ln>
                  <a:noFill/>
                </a:ln>
                <a:solidFill>
                  <a:srgbClr val="0000FF"/>
                </a:solidFill>
                <a:effectLst/>
                <a:latin typeface="宋体" panose="02010600030101010101" pitchFamily="2" charset="-122"/>
                <a:ea typeface="宋体" panose="02010600030101010101" pitchFamily="2" charset="-122"/>
                <a:cs typeface="宋体" panose="02010600030101010101" pitchFamily="2" charset="-122"/>
              </a:rPr>
              <a:t>)</a:t>
            </a:r>
            <a:r>
              <a:rPr kumimoji="0" lang="zh-CN" altLang="en-US" sz="2800" b="0" i="0" u="none" strike="noStrike" cap="none" normalizeH="0" baseline="0" dirty="0">
                <a:ln>
                  <a:noFill/>
                </a:ln>
                <a:solidFill>
                  <a:srgbClr val="0000FF"/>
                </a:solidFill>
                <a:effectLst/>
                <a:latin typeface="宋体" panose="02010600030101010101" pitchFamily="2" charset="-122"/>
                <a:ea typeface="宋体" panose="02010600030101010101" pitchFamily="2" charset="-122"/>
                <a:cs typeface="宋体" panose="02010600030101010101" pitchFamily="2" charset="-122"/>
              </a:rPr>
              <a:t>影响河流泥沙和营养物质含量</a:t>
            </a:r>
            <a:r>
              <a:rPr kumimoji="0" lang="zh-CN" altLang="en-US" sz="2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宋体" panose="02010600030101010101" pitchFamily="2" charset="-122"/>
              </a:rPr>
              <a:t>。水体中营养物质含量影响浮游生物量，与水温共同制约鱼类资源数量。下图所示的</a:t>
            </a:r>
            <a:r>
              <a:rPr lang="zh-CN" altLang="en-US" sz="2800" dirty="0">
                <a:latin typeface="宋体" panose="02010600030101010101" pitchFamily="2" charset="-122"/>
                <a:ea typeface="宋体" panose="02010600030101010101" pitchFamily="2" charset="-122"/>
              </a:rPr>
              <a:t>西西伯利亚平原地势低平，冻土发育，河流众多，沼泽广布。</a:t>
            </a:r>
          </a:p>
        </p:txBody>
      </p:sp>
      <p:sp>
        <p:nvSpPr>
          <p:cNvPr id="11" name="文本框 10">
            <a:extLst>
              <a:ext uri="{FF2B5EF4-FFF2-40B4-BE49-F238E27FC236}">
                <a16:creationId xmlns:a16="http://schemas.microsoft.com/office/drawing/2014/main" xmlns="" id="{A7BBF775-077B-4E5C-A0F4-AA7B6DAB2AFB}"/>
              </a:ext>
            </a:extLst>
          </p:cNvPr>
          <p:cNvSpPr txBox="1"/>
          <p:nvPr/>
        </p:nvSpPr>
        <p:spPr>
          <a:xfrm>
            <a:off x="0" y="1384995"/>
            <a:ext cx="11883991" cy="523220"/>
          </a:xfrm>
          <a:prstGeom prst="rect">
            <a:avLst/>
          </a:prstGeom>
          <a:noFill/>
        </p:spPr>
        <p:txBody>
          <a:bodyPr wrap="square">
            <a:spAutoFit/>
          </a:bodyPr>
          <a:lstStyle/>
          <a:p>
            <a:pPr lvl="0">
              <a:tabLst>
                <a:tab pos="198120" algn="l"/>
              </a:tabLst>
            </a:pPr>
            <a:r>
              <a:rPr lang="zh-CN" altLang="en-US" sz="2800" dirty="0">
                <a:solidFill>
                  <a:srgbClr val="333333"/>
                </a:solidFill>
                <a:latin typeface="微软雅黑" panose="020B0503020204020204" pitchFamily="34" charset="-122"/>
                <a:ea typeface="宋体" panose="02010600030101010101" pitchFamily="2" charset="-122"/>
                <a:cs typeface="Courier New" panose="02070309020205020404" pitchFamily="49" charset="0"/>
              </a:rPr>
              <a:t>（</a:t>
            </a:r>
            <a:r>
              <a:rPr lang="en-US" altLang="zh-CN" sz="2800" dirty="0">
                <a:solidFill>
                  <a:srgbClr val="333333"/>
                </a:solidFill>
                <a:latin typeface="微软雅黑" panose="020B0503020204020204" pitchFamily="34" charset="-122"/>
                <a:ea typeface="宋体" panose="02010600030101010101" pitchFamily="2" charset="-122"/>
                <a:cs typeface="Courier New" panose="02070309020205020404" pitchFamily="49" charset="0"/>
              </a:rPr>
              <a:t>2</a:t>
            </a:r>
            <a:r>
              <a:rPr lang="zh-CN" altLang="en-US" sz="2800" dirty="0">
                <a:solidFill>
                  <a:srgbClr val="333333"/>
                </a:solidFill>
                <a:latin typeface="微软雅黑" panose="020B0503020204020204" pitchFamily="34" charset="-122"/>
                <a:ea typeface="宋体" panose="02010600030101010101" pitchFamily="2" charset="-122"/>
                <a:cs typeface="Courier New" panose="02070309020205020404" pitchFamily="49" charset="0"/>
              </a:rPr>
              <a:t>）</a:t>
            </a:r>
            <a:r>
              <a:rPr lang="zh-CN" altLang="zh-CN" sz="2800" dirty="0">
                <a:solidFill>
                  <a:srgbClr val="333333"/>
                </a:solidFill>
                <a:latin typeface="微软雅黑" panose="020B0503020204020204" pitchFamily="34" charset="-122"/>
                <a:ea typeface="宋体" panose="02010600030101010101" pitchFamily="2" charset="-122"/>
                <a:cs typeface="Courier New" panose="02070309020205020404" pitchFamily="49" charset="0"/>
              </a:rPr>
              <a:t>分析</a:t>
            </a:r>
            <a:r>
              <a:rPr lang="zh-CN" altLang="zh-CN" sz="2800" dirty="0">
                <a:solidFill>
                  <a:srgbClr val="0000FF"/>
                </a:solidFill>
                <a:latin typeface="微软雅黑" panose="020B0503020204020204" pitchFamily="34" charset="-122"/>
                <a:ea typeface="宋体" panose="02010600030101010101" pitchFamily="2" charset="-122"/>
                <a:cs typeface="Courier New" panose="02070309020205020404" pitchFamily="49" charset="0"/>
              </a:rPr>
              <a:t>叶尼塞河泥沙含量较多</a:t>
            </a:r>
            <a:r>
              <a:rPr lang="zh-CN" altLang="zh-CN" sz="2800" dirty="0">
                <a:solidFill>
                  <a:srgbClr val="333333"/>
                </a:solidFill>
                <a:latin typeface="微软雅黑" panose="020B0503020204020204" pitchFamily="34" charset="-122"/>
                <a:ea typeface="宋体" panose="02010600030101010101" pitchFamily="2" charset="-122"/>
                <a:cs typeface="Courier New" panose="02070309020205020404" pitchFamily="49" charset="0"/>
              </a:rPr>
              <a:t>，而</a:t>
            </a:r>
            <a:r>
              <a:rPr lang="zh-CN" altLang="zh-CN" sz="2800" dirty="0">
                <a:solidFill>
                  <a:srgbClr val="0000FF"/>
                </a:solidFill>
                <a:latin typeface="微软雅黑" panose="020B0503020204020204" pitchFamily="34" charset="-122"/>
                <a:ea typeface="宋体" panose="02010600030101010101" pitchFamily="2" charset="-122"/>
                <a:cs typeface="Courier New" panose="02070309020205020404" pitchFamily="49" charset="0"/>
              </a:rPr>
              <a:t>鄂毕河泥沙含量较少</a:t>
            </a:r>
            <a:r>
              <a:rPr lang="zh-CN" altLang="zh-CN" sz="2800" dirty="0">
                <a:solidFill>
                  <a:srgbClr val="333333"/>
                </a:solidFill>
                <a:latin typeface="微软雅黑" panose="020B0503020204020204" pitchFamily="34" charset="-122"/>
                <a:ea typeface="宋体" panose="02010600030101010101" pitchFamily="2" charset="-122"/>
                <a:cs typeface="Courier New" panose="02070309020205020404" pitchFamily="49" charset="0"/>
              </a:rPr>
              <a:t>的原因。</a:t>
            </a:r>
            <a:r>
              <a:rPr lang="en-US" altLang="zh-CN" sz="2800" dirty="0">
                <a:solidFill>
                  <a:srgbClr val="333333"/>
                </a:solidFill>
                <a:latin typeface="微软雅黑" panose="020B0503020204020204" pitchFamily="34" charset="-122"/>
                <a:ea typeface="宋体" panose="02010600030101010101" pitchFamily="2" charset="-122"/>
                <a:cs typeface="Courier New" panose="02070309020205020404" pitchFamily="49" charset="0"/>
              </a:rPr>
              <a:t>(6</a:t>
            </a:r>
            <a:r>
              <a:rPr lang="zh-CN" altLang="zh-CN" sz="2800" dirty="0">
                <a:solidFill>
                  <a:srgbClr val="333333"/>
                </a:solidFill>
                <a:latin typeface="微软雅黑" panose="020B0503020204020204" pitchFamily="34" charset="-122"/>
                <a:ea typeface="宋体" panose="02010600030101010101" pitchFamily="2" charset="-122"/>
                <a:cs typeface="Courier New" panose="02070309020205020404" pitchFamily="49" charset="0"/>
              </a:rPr>
              <a:t>分</a:t>
            </a:r>
            <a:r>
              <a:rPr lang="en-US" altLang="zh-CN" sz="2800" dirty="0">
                <a:solidFill>
                  <a:srgbClr val="333333"/>
                </a:solidFill>
                <a:latin typeface="微软雅黑" panose="020B0503020204020204" pitchFamily="34" charset="-122"/>
                <a:ea typeface="宋体" panose="02010600030101010101" pitchFamily="2" charset="-122"/>
                <a:cs typeface="Courier New" panose="02070309020205020404" pitchFamily="49" charset="0"/>
              </a:rPr>
              <a:t>)</a:t>
            </a:r>
            <a:endParaRPr lang="zh-CN" altLang="zh-CN" sz="2800" dirty="0">
              <a:solidFill>
                <a:srgbClr val="333333"/>
              </a:solidFill>
              <a:latin typeface="微软雅黑" panose="020B0503020204020204" pitchFamily="34" charset="-122"/>
              <a:ea typeface="宋体" panose="02010600030101010101" pitchFamily="2" charset="-122"/>
              <a:cs typeface="Courier New" panose="02070309020205020404" pitchFamily="49" charset="0"/>
            </a:endParaRPr>
          </a:p>
        </p:txBody>
      </p:sp>
      <p:sp>
        <p:nvSpPr>
          <p:cNvPr id="8" name="椭圆 7">
            <a:extLst>
              <a:ext uri="{FF2B5EF4-FFF2-40B4-BE49-F238E27FC236}">
                <a16:creationId xmlns:a16="http://schemas.microsoft.com/office/drawing/2014/main" xmlns="" id="{EE358CA5-4F28-489A-981D-2ECE3A30586D}"/>
              </a:ext>
            </a:extLst>
          </p:cNvPr>
          <p:cNvSpPr/>
          <p:nvPr/>
        </p:nvSpPr>
        <p:spPr>
          <a:xfrm>
            <a:off x="10876547" y="6198668"/>
            <a:ext cx="1395664" cy="659331"/>
          </a:xfrm>
          <a:prstGeom prst="ellipse">
            <a:avLst/>
          </a:prstGeom>
          <a:noFill/>
          <a:ln w="571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文本框 13">
            <a:extLst>
              <a:ext uri="{FF2B5EF4-FFF2-40B4-BE49-F238E27FC236}">
                <a16:creationId xmlns:a16="http://schemas.microsoft.com/office/drawing/2014/main" xmlns="" id="{8961D67D-B945-469D-B3D1-1EEF3FB6B59B}"/>
              </a:ext>
            </a:extLst>
          </p:cNvPr>
          <p:cNvSpPr txBox="1"/>
          <p:nvPr/>
        </p:nvSpPr>
        <p:spPr>
          <a:xfrm>
            <a:off x="48126" y="3679667"/>
            <a:ext cx="8197514" cy="1938992"/>
          </a:xfrm>
          <a:prstGeom prst="rect">
            <a:avLst/>
          </a:prstGeom>
          <a:noFill/>
        </p:spPr>
        <p:txBody>
          <a:bodyPr wrap="square">
            <a:spAutoFit/>
          </a:bodyPr>
          <a:lstStyle/>
          <a:p>
            <a:r>
              <a:rPr lang="en-US" altLang="zh-CN" sz="2400" b="1" dirty="0">
                <a:solidFill>
                  <a:srgbClr val="FF0000"/>
                </a:solidFill>
                <a:latin typeface="宋体" panose="02010600030101010101" pitchFamily="2" charset="-122"/>
                <a:ea typeface="宋体" panose="02010600030101010101" pitchFamily="2" charset="-122"/>
              </a:rPr>
              <a:t>A</a:t>
            </a:r>
            <a:r>
              <a:rPr lang="zh-CN" altLang="en-US" sz="2400" b="1" dirty="0">
                <a:solidFill>
                  <a:srgbClr val="FF0000"/>
                </a:solidFill>
                <a:latin typeface="宋体" panose="02010600030101010101" pitchFamily="2" charset="-122"/>
                <a:ea typeface="宋体" panose="02010600030101010101" pitchFamily="2" charset="-122"/>
              </a:rPr>
              <a:t>、</a:t>
            </a:r>
            <a:r>
              <a:rPr lang="zh-CN" altLang="zh-CN" sz="2400" b="1" dirty="0">
                <a:solidFill>
                  <a:srgbClr val="FF0000"/>
                </a:solidFill>
                <a:latin typeface="宋体" panose="02010600030101010101" pitchFamily="2" charset="-122"/>
                <a:ea typeface="宋体" panose="02010600030101010101" pitchFamily="2" charset="-122"/>
              </a:rPr>
              <a:t>叶尼塞河支流多流经中西伯利亚高原，（河床比降大）流速快，侵蚀强，增加了河流含沙量。</a:t>
            </a:r>
            <a:endParaRPr lang="en-US" altLang="zh-CN" sz="2400" b="1" dirty="0">
              <a:solidFill>
                <a:srgbClr val="FF0000"/>
              </a:solidFill>
              <a:latin typeface="宋体" panose="02010600030101010101" pitchFamily="2" charset="-122"/>
              <a:ea typeface="宋体" panose="02010600030101010101" pitchFamily="2" charset="-122"/>
            </a:endParaRPr>
          </a:p>
          <a:p>
            <a:endParaRPr lang="en-US" altLang="zh-CN" sz="2400" b="1" dirty="0">
              <a:solidFill>
                <a:srgbClr val="FF0000"/>
              </a:solidFill>
              <a:latin typeface="宋体" panose="02010600030101010101" pitchFamily="2" charset="-122"/>
              <a:ea typeface="宋体" panose="02010600030101010101" pitchFamily="2" charset="-122"/>
            </a:endParaRPr>
          </a:p>
          <a:p>
            <a:r>
              <a:rPr lang="en-US" altLang="zh-CN" sz="2400" b="1" dirty="0">
                <a:solidFill>
                  <a:srgbClr val="FF0000"/>
                </a:solidFill>
                <a:latin typeface="宋体" panose="02010600030101010101" pitchFamily="2" charset="-122"/>
                <a:ea typeface="宋体" panose="02010600030101010101" pitchFamily="2" charset="-122"/>
              </a:rPr>
              <a:t>B</a:t>
            </a:r>
            <a:r>
              <a:rPr lang="zh-CN" altLang="en-US" sz="2400" b="1" dirty="0">
                <a:solidFill>
                  <a:srgbClr val="FF0000"/>
                </a:solidFill>
                <a:latin typeface="宋体" panose="02010600030101010101" pitchFamily="2" charset="-122"/>
                <a:ea typeface="宋体" panose="02010600030101010101" pitchFamily="2" charset="-122"/>
              </a:rPr>
              <a:t>、</a:t>
            </a:r>
            <a:r>
              <a:rPr lang="zh-CN" altLang="zh-CN" sz="2400" b="1" dirty="0">
                <a:solidFill>
                  <a:srgbClr val="FF0000"/>
                </a:solidFill>
                <a:latin typeface="宋体" panose="02010600030101010101" pitchFamily="2" charset="-122"/>
                <a:ea typeface="宋体" panose="02010600030101010101" pitchFamily="2" charset="-122"/>
              </a:rPr>
              <a:t>鄂毕河主要流经平原，流速慢，泥沙沉积，含沙量小。</a:t>
            </a:r>
            <a:endParaRPr lang="en-US" altLang="zh-CN" sz="2400" b="1" dirty="0">
              <a:solidFill>
                <a:srgbClr val="FF0000"/>
              </a:solidFill>
              <a:latin typeface="宋体" panose="02010600030101010101" pitchFamily="2" charset="-122"/>
              <a:ea typeface="宋体" panose="02010600030101010101" pitchFamily="2" charset="-122"/>
            </a:endParaRPr>
          </a:p>
          <a:p>
            <a:r>
              <a:rPr lang="zh-CN" altLang="en-US" sz="2400" b="1" u="sng" dirty="0">
                <a:solidFill>
                  <a:srgbClr val="FF0000"/>
                </a:solidFill>
                <a:latin typeface="宋体" panose="02010600030101010101" pitchFamily="2" charset="-122"/>
                <a:ea typeface="宋体" panose="02010600030101010101" pitchFamily="2" charset="-122"/>
              </a:rPr>
              <a:t>（鄂毕河流域沼泽众多，沼泽吸附泥沙能力强。）</a:t>
            </a:r>
            <a:endParaRPr lang="zh-CN" altLang="zh-CN" sz="2400" b="1" u="sng" dirty="0">
              <a:solidFill>
                <a:srgbClr val="FF0000"/>
              </a:solidFill>
              <a:latin typeface="宋体" panose="02010600030101010101" pitchFamily="2" charset="-122"/>
              <a:ea typeface="宋体" panose="02010600030101010101" pitchFamily="2" charset="-122"/>
            </a:endParaRPr>
          </a:p>
        </p:txBody>
      </p:sp>
      <p:sp>
        <p:nvSpPr>
          <p:cNvPr id="15" name="文本框 14">
            <a:extLst>
              <a:ext uri="{FF2B5EF4-FFF2-40B4-BE49-F238E27FC236}">
                <a16:creationId xmlns:a16="http://schemas.microsoft.com/office/drawing/2014/main" xmlns="" id="{C294EBC0-62DC-4919-B4FE-43161F4DE8E8}"/>
              </a:ext>
            </a:extLst>
          </p:cNvPr>
          <p:cNvSpPr txBox="1"/>
          <p:nvPr/>
        </p:nvSpPr>
        <p:spPr>
          <a:xfrm>
            <a:off x="48126" y="1793339"/>
            <a:ext cx="12095747" cy="1384995"/>
          </a:xfrm>
          <a:prstGeom prst="rect">
            <a:avLst/>
          </a:prstGeom>
          <a:noFill/>
        </p:spPr>
        <p:txBody>
          <a:bodyPr wrap="square" rtlCol="0">
            <a:spAutoFit/>
          </a:bodyPr>
          <a:lstStyle/>
          <a:p>
            <a:r>
              <a:rPr lang="en-US" altLang="zh-CN" sz="2800" b="1" dirty="0">
                <a:solidFill>
                  <a:srgbClr val="FF0000"/>
                </a:solidFill>
              </a:rPr>
              <a:t>【</a:t>
            </a:r>
            <a:r>
              <a:rPr lang="zh-CN" altLang="en-US" sz="2800" b="1" dirty="0">
                <a:solidFill>
                  <a:srgbClr val="FF0000"/>
                </a:solidFill>
              </a:rPr>
              <a:t>解析</a:t>
            </a:r>
            <a:r>
              <a:rPr lang="en-US" altLang="zh-CN" sz="2800" b="1" dirty="0">
                <a:solidFill>
                  <a:srgbClr val="FF0000"/>
                </a:solidFill>
              </a:rPr>
              <a:t>】</a:t>
            </a:r>
            <a:r>
              <a:rPr lang="zh-CN" altLang="en-US" sz="2800" b="1" dirty="0">
                <a:solidFill>
                  <a:srgbClr val="FF0000"/>
                </a:solidFill>
              </a:rPr>
              <a:t>根据材料第一句话，应从“侵蚀”、“沉积”、“沼泽吸附”这三个角度答题。根据图例“等高线”、“沼泽”提取信息。</a:t>
            </a:r>
            <a:endParaRPr lang="en-US" altLang="zh-CN" sz="2800" b="1" dirty="0">
              <a:solidFill>
                <a:srgbClr val="FF0000"/>
              </a:solidFill>
            </a:endParaRPr>
          </a:p>
          <a:p>
            <a:r>
              <a:rPr lang="zh-CN" altLang="en-US" sz="2800" b="1" u="sng" dirty="0">
                <a:solidFill>
                  <a:srgbClr val="FF0000"/>
                </a:solidFill>
                <a:effectLst>
                  <a:outerShdw blurRad="38100" dist="38100" dir="2700000" algn="tl">
                    <a:srgbClr val="000000">
                      <a:alpha val="43137"/>
                    </a:srgbClr>
                  </a:outerShdw>
                </a:effectLst>
              </a:rPr>
              <a:t>       分析注意表达的完整逻辑过程！</a:t>
            </a:r>
          </a:p>
        </p:txBody>
      </p:sp>
    </p:spTree>
    <p:extLst>
      <p:ext uri="{BB962C8B-B14F-4D97-AF65-F5344CB8AC3E}">
        <p14:creationId xmlns:p14="http://schemas.microsoft.com/office/powerpoint/2010/main" xmlns="" val="1246728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p:bldP spid="1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xmlns="" id="{D5BE20DE-A81D-432A-A2C3-34D386392E45}"/>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3073" name="图片 68" descr="说明: AYD14">
            <a:extLst>
              <a:ext uri="{FF2B5EF4-FFF2-40B4-BE49-F238E27FC236}">
                <a16:creationId xmlns:a16="http://schemas.microsoft.com/office/drawing/2014/main" xmlns="" id="{9740C03F-EB62-4853-A49C-75B9C9503AB4}"/>
              </a:ext>
            </a:extLst>
          </p:cNvPr>
          <p:cNvPicPr>
            <a:picLocks noChangeAspect="1" noChangeArrowheads="1"/>
          </p:cNvPicPr>
          <p:nvPr/>
        </p:nvPicPr>
        <p:blipFill>
          <a:blip r:embed="rId2" cstate="print">
            <a:lum bright="-12000" contrast="14000"/>
            <a:extLst>
              <a:ext uri="{28A0092B-C50C-407E-A947-70E740481C1C}">
                <a14:useLocalDpi xmlns:a14="http://schemas.microsoft.com/office/drawing/2010/main" xmlns="" val="0"/>
              </a:ext>
            </a:extLst>
          </a:blip>
          <a:srcRect/>
          <a:stretch>
            <a:fillRect/>
          </a:stretch>
        </p:blipFill>
        <p:spPr bwMode="auto">
          <a:xfrm>
            <a:off x="8393229" y="3203329"/>
            <a:ext cx="3798771" cy="3654672"/>
          </a:xfrm>
          <a:prstGeom prst="rect">
            <a:avLst/>
          </a:prstGeom>
          <a:noFill/>
          <a:extLst>
            <a:ext uri="{909E8E84-426E-40DD-AFC4-6F175D3DCCD1}">
              <a14:hiddenFill xmlns:a14="http://schemas.microsoft.com/office/drawing/2010/main" xmlns="">
                <a:solidFill>
                  <a:srgbClr val="FFFFFF"/>
                </a:solidFill>
              </a14:hiddenFill>
            </a:ext>
          </a:extLst>
        </p:spPr>
      </p:pic>
      <p:sp>
        <p:nvSpPr>
          <p:cNvPr id="5" name="Rectangle 3">
            <a:extLst>
              <a:ext uri="{FF2B5EF4-FFF2-40B4-BE49-F238E27FC236}">
                <a16:creationId xmlns:a16="http://schemas.microsoft.com/office/drawing/2014/main" xmlns="" id="{190D0459-2DDB-45BD-BDE8-9153B90CA029}"/>
              </a:ext>
            </a:extLst>
          </p:cNvPr>
          <p:cNvSpPr>
            <a:spLocks noChangeArrowheads="1"/>
          </p:cNvSpPr>
          <p:nvPr/>
        </p:nvSpPr>
        <p:spPr bwMode="auto">
          <a:xfrm>
            <a:off x="0" y="0"/>
            <a:ext cx="12192000" cy="138499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198438" algn="l"/>
              </a:tabLst>
              <a:defRPr>
                <a:solidFill>
                  <a:schemeClr val="tx1"/>
                </a:solidFill>
                <a:latin typeface="Arial" panose="020B0604020202020204" pitchFamily="34" charset="0"/>
              </a:defRPr>
            </a:lvl1pPr>
            <a:lvl2pPr eaLnBrk="0" fontAlgn="base" hangingPunct="0">
              <a:spcBef>
                <a:spcPct val="0"/>
              </a:spcBef>
              <a:spcAft>
                <a:spcPct val="0"/>
              </a:spcAft>
              <a:tabLst>
                <a:tab pos="198438" algn="l"/>
              </a:tabLst>
              <a:defRPr>
                <a:solidFill>
                  <a:schemeClr val="tx1"/>
                </a:solidFill>
                <a:latin typeface="Arial" panose="020B0604020202020204" pitchFamily="34" charset="0"/>
              </a:defRPr>
            </a:lvl2pPr>
            <a:lvl3pPr eaLnBrk="0" fontAlgn="base" hangingPunct="0">
              <a:spcBef>
                <a:spcPct val="0"/>
              </a:spcBef>
              <a:spcAft>
                <a:spcPct val="0"/>
              </a:spcAft>
              <a:tabLst>
                <a:tab pos="198438" algn="l"/>
              </a:tabLst>
              <a:defRPr>
                <a:solidFill>
                  <a:schemeClr val="tx1"/>
                </a:solidFill>
                <a:latin typeface="Arial" panose="020B0604020202020204" pitchFamily="34" charset="0"/>
              </a:defRPr>
            </a:lvl3pPr>
            <a:lvl4pPr eaLnBrk="0" fontAlgn="base" hangingPunct="0">
              <a:spcBef>
                <a:spcPct val="0"/>
              </a:spcBef>
              <a:spcAft>
                <a:spcPct val="0"/>
              </a:spcAft>
              <a:tabLst>
                <a:tab pos="198438" algn="l"/>
              </a:tabLst>
              <a:defRPr>
                <a:solidFill>
                  <a:schemeClr val="tx1"/>
                </a:solidFill>
                <a:latin typeface="Arial" panose="020B0604020202020204" pitchFamily="34" charset="0"/>
              </a:defRPr>
            </a:lvl4pPr>
            <a:lvl5pPr eaLnBrk="0" fontAlgn="base" hangingPunct="0">
              <a:spcBef>
                <a:spcPct val="0"/>
              </a:spcBef>
              <a:spcAft>
                <a:spcPct val="0"/>
              </a:spcAft>
              <a:tabLst>
                <a:tab pos="198438" algn="l"/>
              </a:tabLst>
              <a:defRPr>
                <a:solidFill>
                  <a:schemeClr val="tx1"/>
                </a:solidFill>
                <a:latin typeface="Arial" panose="020B0604020202020204" pitchFamily="34" charset="0"/>
              </a:defRPr>
            </a:lvl5pPr>
            <a:lvl6pPr eaLnBrk="0" fontAlgn="base" hangingPunct="0">
              <a:spcBef>
                <a:spcPct val="0"/>
              </a:spcBef>
              <a:spcAft>
                <a:spcPct val="0"/>
              </a:spcAft>
              <a:tabLst>
                <a:tab pos="198438" algn="l"/>
              </a:tabLst>
              <a:defRPr>
                <a:solidFill>
                  <a:schemeClr val="tx1"/>
                </a:solidFill>
                <a:latin typeface="Arial" panose="020B0604020202020204" pitchFamily="34" charset="0"/>
              </a:defRPr>
            </a:lvl6pPr>
            <a:lvl7pPr eaLnBrk="0" fontAlgn="base" hangingPunct="0">
              <a:spcBef>
                <a:spcPct val="0"/>
              </a:spcBef>
              <a:spcAft>
                <a:spcPct val="0"/>
              </a:spcAft>
              <a:tabLst>
                <a:tab pos="198438" algn="l"/>
              </a:tabLst>
              <a:defRPr>
                <a:solidFill>
                  <a:schemeClr val="tx1"/>
                </a:solidFill>
                <a:latin typeface="Arial" panose="020B0604020202020204" pitchFamily="34" charset="0"/>
              </a:defRPr>
            </a:lvl7pPr>
            <a:lvl8pPr eaLnBrk="0" fontAlgn="base" hangingPunct="0">
              <a:spcBef>
                <a:spcPct val="0"/>
              </a:spcBef>
              <a:spcAft>
                <a:spcPct val="0"/>
              </a:spcAft>
              <a:tabLst>
                <a:tab pos="198438" algn="l"/>
              </a:tabLst>
              <a:defRPr>
                <a:solidFill>
                  <a:schemeClr val="tx1"/>
                </a:solidFill>
                <a:latin typeface="Arial" panose="020B0604020202020204" pitchFamily="34" charset="0"/>
              </a:defRPr>
            </a:lvl8pPr>
            <a:lvl9pPr eaLnBrk="0" fontAlgn="base" hangingPunct="0">
              <a:spcBef>
                <a:spcPct val="0"/>
              </a:spcBef>
              <a:spcAft>
                <a:spcPct val="0"/>
              </a:spcAft>
              <a:tabLst>
                <a:tab pos="198438" algn="l"/>
              </a:tabLst>
              <a:defRPr>
                <a:solidFill>
                  <a:schemeClr val="tx1"/>
                </a:solidFill>
                <a:latin typeface="Arial" panose="020B0604020202020204" pitchFamily="34" charset="0"/>
              </a:defRPr>
            </a:lvl9pPr>
          </a:lstStyle>
          <a:p>
            <a:pPr marL="0" marR="0" lvl="0" indent="333375" algn="l" defTabSz="914400" rtl="0" eaLnBrk="0" fontAlgn="base" latinLnBrk="0" hangingPunct="0">
              <a:lnSpc>
                <a:spcPct val="100000"/>
              </a:lnSpc>
              <a:spcBef>
                <a:spcPct val="0"/>
              </a:spcBef>
              <a:spcAft>
                <a:spcPct val="0"/>
              </a:spcAft>
              <a:buClrTx/>
              <a:buSzTx/>
              <a:buFontTx/>
              <a:buNone/>
              <a:tabLst>
                <a:tab pos="198438" algn="l"/>
              </a:tabLst>
            </a:pPr>
            <a:r>
              <a:rPr kumimoji="0" lang="zh-CN" altLang="en-US" sz="2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宋体" panose="02010600030101010101" pitchFamily="2" charset="-122"/>
              </a:rPr>
              <a:t>  </a:t>
            </a:r>
            <a:r>
              <a:rPr kumimoji="0" lang="zh-CN" altLang="en-US" sz="2800" b="0" i="0" u="none" strike="noStrike" cap="none" normalizeH="0" baseline="0" dirty="0">
                <a:ln>
                  <a:noFill/>
                </a:ln>
                <a:solidFill>
                  <a:srgbClr val="0000FF"/>
                </a:solidFill>
                <a:effectLst/>
                <a:latin typeface="宋体" panose="02010600030101010101" pitchFamily="2" charset="-122"/>
                <a:ea typeface="宋体" panose="02010600030101010101" pitchFamily="2" charset="-122"/>
                <a:cs typeface="宋体" panose="02010600030101010101" pitchFamily="2" charset="-122"/>
              </a:rPr>
              <a:t>河流</a:t>
            </a:r>
            <a:r>
              <a:rPr kumimoji="0" lang="zh-CN" altLang="en-US" sz="2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宋体" panose="02010600030101010101" pitchFamily="2" charset="-122"/>
              </a:rPr>
              <a:t>的侵蚀、沉积及沼泽的吸收</a:t>
            </a:r>
            <a:r>
              <a:rPr kumimoji="0" lang="en-US" altLang="zh-CN" sz="2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宋体" panose="02010600030101010101" pitchFamily="2" charset="-122"/>
              </a:rPr>
              <a:t>(</a:t>
            </a:r>
            <a:r>
              <a:rPr kumimoji="0" lang="zh-CN" altLang="en-US" sz="2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宋体" panose="02010600030101010101" pitchFamily="2" charset="-122"/>
              </a:rPr>
              <a:t>附</a:t>
            </a:r>
            <a:r>
              <a:rPr kumimoji="0" lang="en-US" altLang="zh-CN" sz="2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宋体" panose="02010600030101010101" pitchFamily="2" charset="-122"/>
              </a:rPr>
              <a:t>)</a:t>
            </a:r>
            <a:r>
              <a:rPr kumimoji="0" lang="zh-CN" altLang="en-US" sz="2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宋体" panose="02010600030101010101" pitchFamily="2" charset="-122"/>
              </a:rPr>
              <a:t>影响河流泥沙和</a:t>
            </a:r>
            <a:r>
              <a:rPr kumimoji="0" lang="zh-CN" altLang="en-US" sz="2800" b="0" i="0" u="none" strike="noStrike" cap="none" normalizeH="0" baseline="0" dirty="0">
                <a:ln>
                  <a:noFill/>
                </a:ln>
                <a:solidFill>
                  <a:srgbClr val="0000FF"/>
                </a:solidFill>
                <a:effectLst/>
                <a:latin typeface="宋体" panose="02010600030101010101" pitchFamily="2" charset="-122"/>
                <a:ea typeface="宋体" panose="02010600030101010101" pitchFamily="2" charset="-122"/>
                <a:cs typeface="宋体" panose="02010600030101010101" pitchFamily="2" charset="-122"/>
              </a:rPr>
              <a:t>营养物质含量</a:t>
            </a:r>
            <a:r>
              <a:rPr kumimoji="0" lang="zh-CN" altLang="en-US" sz="2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宋体" panose="02010600030101010101" pitchFamily="2" charset="-122"/>
              </a:rPr>
              <a:t>。</a:t>
            </a:r>
            <a:r>
              <a:rPr kumimoji="0" lang="zh-CN" altLang="en-US" sz="2800" b="0" i="0" u="none" strike="noStrike" cap="none" normalizeH="0" baseline="0" dirty="0">
                <a:ln>
                  <a:noFill/>
                </a:ln>
                <a:solidFill>
                  <a:srgbClr val="0000FF"/>
                </a:solidFill>
                <a:effectLst/>
                <a:latin typeface="宋体" panose="02010600030101010101" pitchFamily="2" charset="-122"/>
                <a:ea typeface="宋体" panose="02010600030101010101" pitchFamily="2" charset="-122"/>
                <a:cs typeface="宋体" panose="02010600030101010101" pitchFamily="2" charset="-122"/>
              </a:rPr>
              <a:t>水体中营养物质含量影响浮游生物量，与水温共同制约鱼类资源数量。</a:t>
            </a:r>
            <a:r>
              <a:rPr kumimoji="0" lang="zh-CN" altLang="en-US" sz="2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宋体" panose="02010600030101010101" pitchFamily="2" charset="-122"/>
              </a:rPr>
              <a:t>下图所示的</a:t>
            </a:r>
            <a:r>
              <a:rPr lang="zh-CN" altLang="en-US" sz="2800" dirty="0">
                <a:latin typeface="宋体" panose="02010600030101010101" pitchFamily="2" charset="-122"/>
                <a:ea typeface="宋体" panose="02010600030101010101" pitchFamily="2" charset="-122"/>
              </a:rPr>
              <a:t>西西伯利亚平原地势低平，冻土发育，河流众多，沼泽广布。</a:t>
            </a:r>
          </a:p>
        </p:txBody>
      </p:sp>
      <p:sp>
        <p:nvSpPr>
          <p:cNvPr id="6" name="文本框 5">
            <a:extLst>
              <a:ext uri="{FF2B5EF4-FFF2-40B4-BE49-F238E27FC236}">
                <a16:creationId xmlns:a16="http://schemas.microsoft.com/office/drawing/2014/main" xmlns="" id="{CC22887C-BEE3-49FC-A67A-E81A8BE3C54B}"/>
              </a:ext>
            </a:extLst>
          </p:cNvPr>
          <p:cNvSpPr txBox="1"/>
          <p:nvPr/>
        </p:nvSpPr>
        <p:spPr>
          <a:xfrm>
            <a:off x="0" y="1384995"/>
            <a:ext cx="12192000" cy="954107"/>
          </a:xfrm>
          <a:prstGeom prst="rect">
            <a:avLst/>
          </a:prstGeom>
          <a:noFill/>
        </p:spPr>
        <p:txBody>
          <a:bodyPr wrap="square">
            <a:spAutoFit/>
          </a:bodyPr>
          <a:lstStyle/>
          <a:p>
            <a:r>
              <a:rPr lang="en-US" altLang="zh-CN" sz="2800" dirty="0">
                <a:solidFill>
                  <a:srgbClr val="333333"/>
                </a:solidFill>
                <a:latin typeface="微软雅黑" panose="020B0503020204020204" pitchFamily="34" charset="-122"/>
                <a:ea typeface="宋体" panose="02010600030101010101" pitchFamily="2" charset="-122"/>
                <a:cs typeface="Courier New" panose="02070309020205020404" pitchFamily="49" charset="0"/>
              </a:rPr>
              <a:t>    (3)</a:t>
            </a:r>
            <a:r>
              <a:rPr lang="zh-CN" altLang="zh-CN" sz="2800" dirty="0">
                <a:solidFill>
                  <a:srgbClr val="0000FF"/>
                </a:solidFill>
                <a:latin typeface="微软雅黑" panose="020B0503020204020204" pitchFamily="34" charset="-122"/>
                <a:ea typeface="宋体" panose="02010600030101010101" pitchFamily="2" charset="-122"/>
                <a:cs typeface="Courier New" panose="02070309020205020404" pitchFamily="49" charset="0"/>
              </a:rPr>
              <a:t>通常</a:t>
            </a:r>
            <a:r>
              <a:rPr lang="zh-CN" altLang="zh-CN" sz="2800" dirty="0">
                <a:solidFill>
                  <a:srgbClr val="333333"/>
                </a:solidFill>
                <a:latin typeface="微软雅黑" panose="020B0503020204020204" pitchFamily="34" charset="-122"/>
                <a:ea typeface="宋体" panose="02010600030101010101" pitchFamily="2" charset="-122"/>
                <a:cs typeface="Courier New" panose="02070309020205020404" pitchFamily="49" charset="0"/>
              </a:rPr>
              <a:t>，大河河口的鱼类资源丰富，</a:t>
            </a:r>
            <a:r>
              <a:rPr lang="zh-CN" altLang="zh-CN" sz="2800" dirty="0">
                <a:solidFill>
                  <a:srgbClr val="0000FF"/>
                </a:solidFill>
                <a:latin typeface="微软雅黑" panose="020B0503020204020204" pitchFamily="34" charset="-122"/>
                <a:ea typeface="宋体" panose="02010600030101010101" pitchFamily="2" charset="-122"/>
                <a:cs typeface="Courier New" panose="02070309020205020404" pitchFamily="49" charset="0"/>
              </a:rPr>
              <a:t>但</a:t>
            </a:r>
            <a:r>
              <a:rPr lang="zh-CN" altLang="zh-CN" sz="2800" dirty="0">
                <a:solidFill>
                  <a:srgbClr val="333333"/>
                </a:solidFill>
                <a:latin typeface="微软雅黑" panose="020B0503020204020204" pitchFamily="34" charset="-122"/>
                <a:ea typeface="宋体" panose="02010600030101010101" pitchFamily="2" charset="-122"/>
                <a:cs typeface="Courier New" panose="02070309020205020404" pitchFamily="49" charset="0"/>
              </a:rPr>
              <a:t>鄂毕河河口鱼类资源相对较少。说明</a:t>
            </a:r>
            <a:r>
              <a:rPr lang="zh-CN" altLang="zh-CN" sz="2800" dirty="0">
                <a:solidFill>
                  <a:srgbClr val="0000FF"/>
                </a:solidFill>
                <a:latin typeface="微软雅黑" panose="020B0503020204020204" pitchFamily="34" charset="-122"/>
                <a:ea typeface="宋体" panose="02010600030101010101" pitchFamily="2" charset="-122"/>
                <a:cs typeface="Courier New" panose="02070309020205020404" pitchFamily="49" charset="0"/>
              </a:rPr>
              <a:t>鄂毕河河口</a:t>
            </a:r>
            <a:r>
              <a:rPr lang="zh-CN" altLang="zh-CN" sz="2800" dirty="0">
                <a:solidFill>
                  <a:srgbClr val="333333"/>
                </a:solidFill>
                <a:latin typeface="微软雅黑" panose="020B0503020204020204" pitchFamily="34" charset="-122"/>
                <a:ea typeface="宋体" panose="02010600030101010101" pitchFamily="2" charset="-122"/>
                <a:cs typeface="Courier New" panose="02070309020205020404" pitchFamily="49" charset="0"/>
              </a:rPr>
              <a:t>鱼类资源较少的原因。</a:t>
            </a:r>
            <a:r>
              <a:rPr lang="en-US" altLang="zh-CN" sz="2800" dirty="0">
                <a:solidFill>
                  <a:srgbClr val="333333"/>
                </a:solidFill>
                <a:latin typeface="微软雅黑" panose="020B0503020204020204" pitchFamily="34" charset="-122"/>
                <a:ea typeface="宋体" panose="02010600030101010101" pitchFamily="2" charset="-122"/>
                <a:cs typeface="Courier New" panose="02070309020205020404" pitchFamily="49" charset="0"/>
              </a:rPr>
              <a:t>(8</a:t>
            </a:r>
            <a:r>
              <a:rPr lang="zh-CN" altLang="zh-CN" sz="2800" dirty="0">
                <a:solidFill>
                  <a:srgbClr val="333333"/>
                </a:solidFill>
                <a:latin typeface="微软雅黑" panose="020B0503020204020204" pitchFamily="34" charset="-122"/>
                <a:ea typeface="宋体" panose="02010600030101010101" pitchFamily="2" charset="-122"/>
                <a:cs typeface="Courier New" panose="02070309020205020404" pitchFamily="49" charset="0"/>
              </a:rPr>
              <a:t>分</a:t>
            </a:r>
            <a:r>
              <a:rPr lang="en-US" altLang="zh-CN" sz="2800" dirty="0">
                <a:solidFill>
                  <a:srgbClr val="333333"/>
                </a:solidFill>
                <a:latin typeface="微软雅黑" panose="020B0503020204020204" pitchFamily="34" charset="-122"/>
                <a:ea typeface="宋体" panose="02010600030101010101" pitchFamily="2" charset="-122"/>
                <a:cs typeface="Courier New" panose="02070309020205020404" pitchFamily="49" charset="0"/>
              </a:rPr>
              <a:t>)</a:t>
            </a:r>
            <a:endParaRPr lang="zh-CN" altLang="zh-CN" sz="2800" dirty="0">
              <a:solidFill>
                <a:srgbClr val="333333"/>
              </a:solidFill>
              <a:latin typeface="微软雅黑" panose="020B0503020204020204" pitchFamily="34" charset="-122"/>
              <a:ea typeface="宋体" panose="02010600030101010101" pitchFamily="2" charset="-122"/>
              <a:cs typeface="Courier New" panose="02070309020205020404" pitchFamily="49" charset="0"/>
            </a:endParaRPr>
          </a:p>
        </p:txBody>
      </p:sp>
      <p:sp>
        <p:nvSpPr>
          <p:cNvPr id="7" name="文本框 6">
            <a:extLst>
              <a:ext uri="{FF2B5EF4-FFF2-40B4-BE49-F238E27FC236}">
                <a16:creationId xmlns:a16="http://schemas.microsoft.com/office/drawing/2014/main" xmlns="" id="{F1EDAFD5-405B-4275-90FC-70C2D9387706}"/>
              </a:ext>
            </a:extLst>
          </p:cNvPr>
          <p:cNvSpPr txBox="1"/>
          <p:nvPr/>
        </p:nvSpPr>
        <p:spPr>
          <a:xfrm>
            <a:off x="0" y="2249222"/>
            <a:ext cx="12192000" cy="2246769"/>
          </a:xfrm>
          <a:prstGeom prst="rect">
            <a:avLst/>
          </a:prstGeom>
          <a:noFill/>
        </p:spPr>
        <p:txBody>
          <a:bodyPr wrap="square" rtlCol="0">
            <a:spAutoFit/>
          </a:bodyPr>
          <a:lstStyle/>
          <a:p>
            <a:r>
              <a:rPr lang="en-US" altLang="zh-CN" sz="2800" b="1" dirty="0">
                <a:solidFill>
                  <a:srgbClr val="FF0000"/>
                </a:solidFill>
              </a:rPr>
              <a:t>【</a:t>
            </a:r>
            <a:r>
              <a:rPr lang="zh-CN" altLang="en-US" sz="2800" b="1" dirty="0">
                <a:solidFill>
                  <a:srgbClr val="FF0000"/>
                </a:solidFill>
              </a:rPr>
              <a:t>解析</a:t>
            </a:r>
            <a:r>
              <a:rPr lang="en-US" altLang="zh-CN" sz="2800" b="1" dirty="0">
                <a:solidFill>
                  <a:srgbClr val="FF0000"/>
                </a:solidFill>
              </a:rPr>
              <a:t>】</a:t>
            </a:r>
            <a:r>
              <a:rPr lang="zh-CN" altLang="en-US" sz="2800" b="1" dirty="0">
                <a:solidFill>
                  <a:srgbClr val="FF0000"/>
                </a:solidFill>
              </a:rPr>
              <a:t>“通常、但”说明该现象不符合一般规律，有其特殊性。更应从材料出发。</a:t>
            </a:r>
            <a:endParaRPr lang="en-US" altLang="zh-CN" sz="2800" b="1" dirty="0">
              <a:solidFill>
                <a:srgbClr val="FF0000"/>
              </a:solidFill>
            </a:endParaRPr>
          </a:p>
          <a:p>
            <a:r>
              <a:rPr lang="en-US" altLang="zh-CN" sz="2800" b="1" u="sng" dirty="0">
                <a:solidFill>
                  <a:srgbClr val="FF0000"/>
                </a:solidFill>
                <a:effectLst>
                  <a:outerShdw blurRad="38100" dist="38100" dir="2700000" algn="tl">
                    <a:srgbClr val="000000">
                      <a:alpha val="43137"/>
                    </a:srgbClr>
                  </a:outerShdw>
                </a:effectLst>
              </a:rPr>
              <a:t>1</a:t>
            </a:r>
            <a:r>
              <a:rPr lang="zh-CN" altLang="en-US" sz="2800" b="1" u="sng" dirty="0">
                <a:solidFill>
                  <a:srgbClr val="FF0000"/>
                </a:solidFill>
                <a:effectLst>
                  <a:outerShdw blurRad="38100" dist="38100" dir="2700000" algn="tl">
                    <a:srgbClr val="000000">
                      <a:alpha val="43137"/>
                    </a:srgbClr>
                  </a:outerShdw>
                </a:effectLst>
              </a:rPr>
              <a:t>、河流影响营养物质，营养物质影响浮游生物，</a:t>
            </a:r>
            <a:endParaRPr lang="en-US" altLang="zh-CN" sz="2800" b="1" u="sng" dirty="0">
              <a:solidFill>
                <a:srgbClr val="FF0000"/>
              </a:solidFill>
              <a:effectLst>
                <a:outerShdw blurRad="38100" dist="38100" dir="2700000" algn="tl">
                  <a:srgbClr val="000000">
                    <a:alpha val="43137"/>
                  </a:srgbClr>
                </a:outerShdw>
              </a:effectLst>
            </a:endParaRPr>
          </a:p>
          <a:p>
            <a:r>
              <a:rPr lang="zh-CN" altLang="en-US" sz="2800" b="1" u="sng" dirty="0">
                <a:solidFill>
                  <a:srgbClr val="FF0000"/>
                </a:solidFill>
                <a:effectLst>
                  <a:outerShdw blurRad="38100" dist="38100" dir="2700000" algn="tl">
                    <a:srgbClr val="000000">
                      <a:alpha val="43137"/>
                    </a:srgbClr>
                  </a:outerShdw>
                </a:effectLst>
              </a:rPr>
              <a:t>影响鱼类资源。</a:t>
            </a:r>
            <a:endParaRPr lang="en-US" altLang="zh-CN" sz="2800" b="1" u="sng" dirty="0">
              <a:solidFill>
                <a:srgbClr val="FF0000"/>
              </a:solidFill>
              <a:effectLst>
                <a:outerShdw blurRad="38100" dist="38100" dir="2700000" algn="tl">
                  <a:srgbClr val="000000">
                    <a:alpha val="43137"/>
                  </a:srgbClr>
                </a:outerShdw>
              </a:effectLst>
            </a:endParaRPr>
          </a:p>
          <a:p>
            <a:r>
              <a:rPr lang="en-US" altLang="zh-CN" sz="2800" b="1" u="sng" dirty="0">
                <a:solidFill>
                  <a:srgbClr val="FF0000"/>
                </a:solidFill>
                <a:effectLst>
                  <a:outerShdw blurRad="38100" dist="38100" dir="2700000" algn="tl">
                    <a:srgbClr val="000000">
                      <a:alpha val="43137"/>
                    </a:srgbClr>
                  </a:outerShdw>
                </a:effectLst>
              </a:rPr>
              <a:t>2</a:t>
            </a:r>
            <a:r>
              <a:rPr lang="zh-CN" altLang="en-US" sz="2800" b="1" u="sng" dirty="0">
                <a:solidFill>
                  <a:srgbClr val="FF0000"/>
                </a:solidFill>
                <a:effectLst>
                  <a:outerShdw blurRad="38100" dist="38100" dir="2700000" algn="tl">
                    <a:srgbClr val="000000">
                      <a:alpha val="43137"/>
                    </a:srgbClr>
                  </a:outerShdw>
                </a:effectLst>
              </a:rPr>
              <a:t>、水温影响鱼类。</a:t>
            </a:r>
          </a:p>
        </p:txBody>
      </p:sp>
      <p:sp>
        <p:nvSpPr>
          <p:cNvPr id="3" name="椭圆 2">
            <a:extLst>
              <a:ext uri="{FF2B5EF4-FFF2-40B4-BE49-F238E27FC236}">
                <a16:creationId xmlns:a16="http://schemas.microsoft.com/office/drawing/2014/main" xmlns="" id="{ADB6CC7E-350D-4362-BD03-FDB9B50662C7}"/>
              </a:ext>
            </a:extLst>
          </p:cNvPr>
          <p:cNvSpPr/>
          <p:nvPr/>
        </p:nvSpPr>
        <p:spPr>
          <a:xfrm>
            <a:off x="10741794" y="4032985"/>
            <a:ext cx="827772" cy="1905802"/>
          </a:xfrm>
          <a:prstGeom prst="ellipse">
            <a:avLst/>
          </a:prstGeom>
          <a:noFill/>
          <a:ln w="571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文本框 9">
            <a:extLst>
              <a:ext uri="{FF2B5EF4-FFF2-40B4-BE49-F238E27FC236}">
                <a16:creationId xmlns:a16="http://schemas.microsoft.com/office/drawing/2014/main" xmlns="" id="{7D365583-82A9-4614-806E-E35A4A1A8351}"/>
              </a:ext>
            </a:extLst>
          </p:cNvPr>
          <p:cNvSpPr txBox="1"/>
          <p:nvPr/>
        </p:nvSpPr>
        <p:spPr>
          <a:xfrm>
            <a:off x="0" y="4698621"/>
            <a:ext cx="8393229" cy="1938992"/>
          </a:xfrm>
          <a:prstGeom prst="rect">
            <a:avLst/>
          </a:prstGeom>
          <a:noFill/>
        </p:spPr>
        <p:txBody>
          <a:bodyPr wrap="square">
            <a:spAutoFit/>
          </a:bodyPr>
          <a:lstStyle/>
          <a:p>
            <a:r>
              <a:rPr lang="en-US" altLang="zh-CN" sz="2400" b="1" dirty="0">
                <a:solidFill>
                  <a:srgbClr val="FF0000"/>
                </a:solidFill>
                <a:latin typeface="宋体" panose="02010600030101010101" pitchFamily="2" charset="-122"/>
                <a:ea typeface="宋体" panose="02010600030101010101" pitchFamily="2" charset="-122"/>
              </a:rPr>
              <a:t>A</a:t>
            </a:r>
            <a:r>
              <a:rPr lang="zh-CN" altLang="en-US" sz="2400" b="1" dirty="0">
                <a:solidFill>
                  <a:srgbClr val="FF0000"/>
                </a:solidFill>
                <a:latin typeface="宋体" panose="02010600030101010101" pitchFamily="2" charset="-122"/>
                <a:ea typeface="宋体" panose="02010600030101010101" pitchFamily="2" charset="-122"/>
              </a:rPr>
              <a:t>、</a:t>
            </a:r>
            <a:r>
              <a:rPr lang="zh-CN" altLang="zh-CN" sz="2400" b="1" dirty="0">
                <a:solidFill>
                  <a:srgbClr val="FF0000"/>
                </a:solidFill>
                <a:latin typeface="宋体" panose="02010600030101010101" pitchFamily="2" charset="-122"/>
                <a:ea typeface="宋体" panose="02010600030101010101" pitchFamily="2" charset="-122"/>
              </a:rPr>
              <a:t>鄂毕河河口区纬度高，</a:t>
            </a:r>
            <a:r>
              <a:rPr lang="zh-CN" altLang="zh-CN" sz="2400" b="1" u="sng" dirty="0">
                <a:solidFill>
                  <a:srgbClr val="FF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水温低，鱼类生长慢</a:t>
            </a:r>
            <a:r>
              <a:rPr lang="zh-CN" altLang="zh-CN" sz="2400" b="1" dirty="0">
                <a:solidFill>
                  <a:srgbClr val="FF0000"/>
                </a:solidFill>
                <a:latin typeface="宋体" panose="02010600030101010101" pitchFamily="2" charset="-122"/>
                <a:ea typeface="宋体" panose="02010600030101010101" pitchFamily="2" charset="-122"/>
              </a:rPr>
              <a:t>。</a:t>
            </a:r>
            <a:endParaRPr lang="en-US" altLang="zh-CN" sz="2400" b="1" dirty="0">
              <a:solidFill>
                <a:srgbClr val="FF0000"/>
              </a:solidFill>
              <a:latin typeface="宋体" panose="02010600030101010101" pitchFamily="2" charset="-122"/>
              <a:ea typeface="宋体" panose="02010600030101010101" pitchFamily="2" charset="-122"/>
            </a:endParaRPr>
          </a:p>
          <a:p>
            <a:r>
              <a:rPr lang="en-US" altLang="zh-CN" sz="2400" b="1" dirty="0">
                <a:solidFill>
                  <a:srgbClr val="FF0000"/>
                </a:solidFill>
                <a:latin typeface="宋体" panose="02010600030101010101" pitchFamily="2" charset="-122"/>
                <a:ea typeface="宋体" panose="02010600030101010101" pitchFamily="2" charset="-122"/>
              </a:rPr>
              <a:t>B</a:t>
            </a:r>
            <a:r>
              <a:rPr lang="zh-CN" altLang="en-US" sz="2400" b="1" dirty="0">
                <a:solidFill>
                  <a:srgbClr val="FF0000"/>
                </a:solidFill>
                <a:latin typeface="宋体" panose="02010600030101010101" pitchFamily="2" charset="-122"/>
                <a:ea typeface="宋体" panose="02010600030101010101" pitchFamily="2" charset="-122"/>
              </a:rPr>
              <a:t>、</a:t>
            </a:r>
            <a:r>
              <a:rPr lang="zh-CN" altLang="zh-CN" sz="2400" b="1" u="sng" dirty="0">
                <a:solidFill>
                  <a:srgbClr val="FF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结冰期长</a:t>
            </a:r>
            <a:r>
              <a:rPr lang="zh-CN" altLang="zh-CN" sz="2400" b="1" dirty="0">
                <a:solidFill>
                  <a:srgbClr val="FF0000"/>
                </a:solidFill>
                <a:latin typeface="宋体" panose="02010600030101010101" pitchFamily="2" charset="-122"/>
                <a:ea typeface="宋体" panose="02010600030101010101" pitchFamily="2" charset="-122"/>
              </a:rPr>
              <a:t>，鱼类</a:t>
            </a:r>
            <a:r>
              <a:rPr lang="zh-CN" altLang="zh-CN" sz="2400" b="1" u="sng" dirty="0">
                <a:solidFill>
                  <a:srgbClr val="FF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存活率偏低</a:t>
            </a:r>
            <a:r>
              <a:rPr lang="zh-CN" altLang="zh-CN" sz="2400" b="1" dirty="0">
                <a:solidFill>
                  <a:srgbClr val="FF0000"/>
                </a:solidFill>
                <a:latin typeface="宋体" panose="02010600030101010101" pitchFamily="2" charset="-122"/>
                <a:ea typeface="宋体" panose="02010600030101010101" pitchFamily="2" charset="-122"/>
              </a:rPr>
              <a:t>。</a:t>
            </a:r>
            <a:endParaRPr lang="en-US" altLang="zh-CN" sz="2400" b="1" dirty="0">
              <a:solidFill>
                <a:srgbClr val="FF0000"/>
              </a:solidFill>
              <a:latin typeface="宋体" panose="02010600030101010101" pitchFamily="2" charset="-122"/>
              <a:ea typeface="宋体" panose="02010600030101010101" pitchFamily="2" charset="-122"/>
            </a:endParaRPr>
          </a:p>
          <a:p>
            <a:r>
              <a:rPr lang="en-US" altLang="zh-CN" sz="2400" b="1" dirty="0">
                <a:solidFill>
                  <a:srgbClr val="FF0000"/>
                </a:solidFill>
                <a:latin typeface="宋体" panose="02010600030101010101" pitchFamily="2" charset="-122"/>
                <a:ea typeface="宋体" panose="02010600030101010101" pitchFamily="2" charset="-122"/>
              </a:rPr>
              <a:t>C</a:t>
            </a:r>
            <a:r>
              <a:rPr lang="zh-CN" altLang="en-US" sz="2400" b="1" dirty="0">
                <a:solidFill>
                  <a:srgbClr val="FF0000"/>
                </a:solidFill>
                <a:latin typeface="宋体" panose="02010600030101010101" pitchFamily="2" charset="-122"/>
                <a:ea typeface="宋体" panose="02010600030101010101" pitchFamily="2" charset="-122"/>
              </a:rPr>
              <a:t>、</a:t>
            </a:r>
            <a:r>
              <a:rPr lang="zh-CN" altLang="zh-CN" sz="2400" b="1" dirty="0">
                <a:solidFill>
                  <a:srgbClr val="FF0000"/>
                </a:solidFill>
                <a:latin typeface="宋体" panose="02010600030101010101" pitchFamily="2" charset="-122"/>
                <a:ea typeface="宋体" panose="02010600030101010101" pitchFamily="2" charset="-122"/>
              </a:rPr>
              <a:t>鄂毕</a:t>
            </a:r>
            <a:r>
              <a:rPr lang="zh-CN" altLang="zh-CN" sz="2400" b="1" u="sng" dirty="0">
                <a:solidFill>
                  <a:srgbClr val="FF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河流经沼泽</a:t>
            </a:r>
            <a:r>
              <a:rPr lang="zh-CN" altLang="zh-CN" sz="2400" b="1" dirty="0">
                <a:solidFill>
                  <a:srgbClr val="FF0000"/>
                </a:solidFill>
                <a:latin typeface="宋体" panose="02010600030101010101" pitchFamily="2" charset="-122"/>
                <a:ea typeface="宋体" panose="02010600030101010101" pitchFamily="2" charset="-122"/>
              </a:rPr>
              <a:t>，营养物质被植物吸收，河水中</a:t>
            </a:r>
            <a:r>
              <a:rPr lang="zh-CN" altLang="zh-CN" sz="2400" b="1" u="sng" dirty="0">
                <a:solidFill>
                  <a:srgbClr val="FF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营养物质严重缺乏</a:t>
            </a:r>
            <a:r>
              <a:rPr lang="zh-CN" altLang="zh-CN" sz="2400" b="1" dirty="0">
                <a:solidFill>
                  <a:srgbClr val="FF0000"/>
                </a:solidFill>
                <a:latin typeface="宋体" panose="02010600030101010101" pitchFamily="2" charset="-122"/>
                <a:ea typeface="宋体" panose="02010600030101010101" pitchFamily="2" charset="-122"/>
              </a:rPr>
              <a:t>，不利于浮游生物生长。</a:t>
            </a:r>
            <a:endParaRPr lang="en-US" altLang="zh-CN" sz="2400" b="1" dirty="0">
              <a:solidFill>
                <a:srgbClr val="FF0000"/>
              </a:solidFill>
              <a:latin typeface="宋体" panose="02010600030101010101" pitchFamily="2" charset="-122"/>
              <a:ea typeface="宋体" panose="02010600030101010101" pitchFamily="2" charset="-122"/>
            </a:endParaRPr>
          </a:p>
          <a:p>
            <a:r>
              <a:rPr lang="en-US" altLang="zh-CN" sz="2400" b="1" dirty="0">
                <a:solidFill>
                  <a:srgbClr val="FF0000"/>
                </a:solidFill>
                <a:latin typeface="宋体" panose="02010600030101010101" pitchFamily="2" charset="-122"/>
                <a:ea typeface="宋体" panose="02010600030101010101" pitchFamily="2" charset="-122"/>
              </a:rPr>
              <a:t>D</a:t>
            </a:r>
            <a:r>
              <a:rPr lang="zh-CN" altLang="en-US" sz="2400" b="1" dirty="0">
                <a:solidFill>
                  <a:srgbClr val="FF0000"/>
                </a:solidFill>
                <a:latin typeface="宋体" panose="02010600030101010101" pitchFamily="2" charset="-122"/>
                <a:ea typeface="宋体" panose="02010600030101010101" pitchFamily="2" charset="-122"/>
              </a:rPr>
              <a:t>、</a:t>
            </a:r>
            <a:r>
              <a:rPr lang="zh-CN" altLang="zh-CN" sz="2400" b="1" u="sng" dirty="0">
                <a:solidFill>
                  <a:srgbClr val="FF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北冰洋营养物质和饵料较为贫乏</a:t>
            </a:r>
            <a:r>
              <a:rPr lang="zh-CN" altLang="zh-CN" sz="2400" b="1" dirty="0">
                <a:solidFill>
                  <a:srgbClr val="FF0000"/>
                </a:solidFill>
                <a:latin typeface="宋体" panose="02010600030101010101" pitchFamily="2" charset="-122"/>
                <a:ea typeface="宋体" panose="02010600030101010101" pitchFamily="2" charset="-122"/>
              </a:rPr>
              <a:t>。</a:t>
            </a:r>
          </a:p>
        </p:txBody>
      </p:sp>
    </p:spTree>
    <p:extLst>
      <p:ext uri="{BB962C8B-B14F-4D97-AF65-F5344CB8AC3E}">
        <p14:creationId xmlns:p14="http://schemas.microsoft.com/office/powerpoint/2010/main" xmlns="" val="289662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1"/>
          <p:cNvSpPr>
            <a:spLocks noChangeArrowheads="1"/>
          </p:cNvSpPr>
          <p:nvPr/>
        </p:nvSpPr>
        <p:spPr bwMode="auto">
          <a:xfrm>
            <a:off x="0" y="0"/>
            <a:ext cx="12192000" cy="224676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400050" algn="l" defTabSz="914400" rtl="0" eaLnBrk="1" fontAlgn="base" latinLnBrk="0" hangingPunct="1">
              <a:lnSpc>
                <a:spcPct val="100000"/>
              </a:lnSpc>
              <a:spcBef>
                <a:spcPct val="0"/>
              </a:spcBef>
              <a:spcAft>
                <a:spcPct val="0"/>
              </a:spcAft>
              <a:buClrTx/>
              <a:buSzTx/>
              <a:buFontTx/>
              <a:buNone/>
              <a:tabLst/>
            </a:pPr>
            <a:r>
              <a:rPr lang="zh-CN" altLang="en-US" sz="2800" b="1" dirty="0" smtClean="0">
                <a:solidFill>
                  <a:srgbClr val="333333"/>
                </a:solidFill>
                <a:latin typeface="微软雅黑" panose="020B0503020204020204" pitchFamily="34" charset="-122"/>
                <a:ea typeface="宋体" panose="02010600030101010101" pitchFamily="2" charset="-122"/>
                <a:cs typeface="Courier New" panose="02070309020205020404" pitchFamily="49" charset="0"/>
              </a:rPr>
              <a:t>卤</a:t>
            </a:r>
            <a:r>
              <a:rPr lang="zh-CN" altLang="en-US" sz="2800" b="1" dirty="0" smtClean="0">
                <a:solidFill>
                  <a:srgbClr val="333333"/>
                </a:solidFill>
                <a:latin typeface="微软雅黑" panose="020B0503020204020204" pitchFamily="34" charset="-122"/>
                <a:ea typeface="宋体" panose="02010600030101010101" pitchFamily="2" charset="-122"/>
                <a:cs typeface="Courier New" panose="02070309020205020404" pitchFamily="49" charset="0"/>
              </a:rPr>
              <a:t>虫生存于</a:t>
            </a:r>
            <a:r>
              <a:rPr lang="zh-CN" altLang="en-US" sz="2800" b="1" dirty="0" smtClean="0">
                <a:solidFill>
                  <a:srgbClr val="0000FF"/>
                </a:solidFill>
                <a:latin typeface="微软雅黑" panose="020B0503020204020204" pitchFamily="34" charset="-122"/>
                <a:ea typeface="宋体" panose="02010600030101010101" pitchFamily="2" charset="-122"/>
                <a:cs typeface="Courier New" panose="02070309020205020404" pitchFamily="49" charset="0"/>
              </a:rPr>
              <a:t>高盐海域</a:t>
            </a:r>
            <a:r>
              <a:rPr lang="zh-CN" altLang="en-US" sz="2800" b="1" dirty="0" smtClean="0">
                <a:solidFill>
                  <a:srgbClr val="333333"/>
                </a:solidFill>
                <a:latin typeface="微软雅黑" panose="020B0503020204020204" pitchFamily="34" charset="-122"/>
                <a:ea typeface="宋体" panose="02010600030101010101" pitchFamily="2" charset="-122"/>
                <a:cs typeface="Courier New" panose="02070309020205020404" pitchFamily="49" charset="0"/>
              </a:rPr>
              <a:t>，以</a:t>
            </a:r>
            <a:r>
              <a:rPr lang="zh-CN" altLang="en-US" sz="2800" b="1" dirty="0" smtClean="0">
                <a:solidFill>
                  <a:srgbClr val="0000FF"/>
                </a:solidFill>
                <a:latin typeface="微软雅黑" panose="020B0503020204020204" pitchFamily="34" charset="-122"/>
                <a:ea typeface="宋体" panose="02010600030101010101" pitchFamily="2" charset="-122"/>
                <a:cs typeface="Courier New" panose="02070309020205020404" pitchFamily="49" charset="0"/>
              </a:rPr>
              <a:t>藻类为食</a:t>
            </a:r>
            <a:r>
              <a:rPr lang="zh-CN" altLang="en-US" sz="2800" b="1" dirty="0" smtClean="0">
                <a:solidFill>
                  <a:srgbClr val="333333"/>
                </a:solidFill>
                <a:latin typeface="微软雅黑" panose="020B0503020204020204" pitchFamily="34" charset="-122"/>
                <a:ea typeface="宋体" panose="02010600030101010101" pitchFamily="2" charset="-122"/>
                <a:cs typeface="Courier New" panose="02070309020205020404" pitchFamily="49" charset="0"/>
              </a:rPr>
              <a:t>，是水产养殖的优质活体饵料，也是候鸟的食物来源。</a:t>
            </a:r>
            <a:r>
              <a:rPr lang="zh-CN" altLang="en-US" sz="2800" b="1" dirty="0" smtClean="0">
                <a:solidFill>
                  <a:srgbClr val="0000FF"/>
                </a:solidFill>
                <a:latin typeface="微软雅黑" panose="020B0503020204020204" pitchFamily="34" charset="-122"/>
                <a:ea typeface="宋体" panose="02010600030101010101" pitchFamily="2" charset="-122"/>
                <a:cs typeface="Courier New" panose="02070309020205020404" pitchFamily="49" charset="0"/>
              </a:rPr>
              <a:t>美国大盐湖属内陆盐湖</a:t>
            </a:r>
            <a:r>
              <a:rPr lang="zh-CN" altLang="en-US" sz="2800" b="1" dirty="0" smtClean="0">
                <a:solidFill>
                  <a:srgbClr val="333333"/>
                </a:solidFill>
                <a:latin typeface="微软雅黑" panose="020B0503020204020204" pitchFamily="34" charset="-122"/>
                <a:ea typeface="宋体" panose="02010600030101010101" pitchFamily="2" charset="-122"/>
                <a:cs typeface="Courier New" panose="02070309020205020404" pitchFamily="49" charset="0"/>
              </a:rPr>
              <a:t>，卤虫资源丰富，</a:t>
            </a:r>
            <a:r>
              <a:rPr lang="en-US" altLang="zh-CN" sz="2800" b="1" dirty="0" smtClean="0">
                <a:solidFill>
                  <a:srgbClr val="333333"/>
                </a:solidFill>
                <a:latin typeface="微软雅黑" panose="020B0503020204020204" pitchFamily="34" charset="-122"/>
                <a:ea typeface="宋体" panose="02010600030101010101" pitchFamily="2" charset="-122"/>
                <a:cs typeface="Courier New" panose="02070309020205020404" pitchFamily="49" charset="0"/>
              </a:rPr>
              <a:t>20</a:t>
            </a:r>
            <a:r>
              <a:rPr lang="zh-CN" altLang="en-US" sz="2800" b="1" dirty="0" smtClean="0">
                <a:solidFill>
                  <a:srgbClr val="333333"/>
                </a:solidFill>
                <a:latin typeface="微软雅黑" panose="020B0503020204020204" pitchFamily="34" charset="-122"/>
                <a:ea typeface="宋体" panose="02010600030101010101" pitchFamily="2" charset="-122"/>
                <a:cs typeface="Courier New" panose="02070309020205020404" pitchFamily="49" charset="0"/>
              </a:rPr>
              <a:t>世纪</a:t>
            </a:r>
            <a:r>
              <a:rPr lang="en-US" altLang="zh-CN" sz="2800" b="1" dirty="0" smtClean="0">
                <a:solidFill>
                  <a:srgbClr val="333333"/>
                </a:solidFill>
                <a:latin typeface="微软雅黑" panose="020B0503020204020204" pitchFamily="34" charset="-122"/>
                <a:ea typeface="宋体" panose="02010600030101010101" pitchFamily="2" charset="-122"/>
                <a:cs typeface="Courier New" panose="02070309020205020404" pitchFamily="49" charset="0"/>
              </a:rPr>
              <a:t>50-70</a:t>
            </a:r>
            <a:r>
              <a:rPr lang="zh-CN" altLang="en-US" sz="2800" b="1" dirty="0" smtClean="0">
                <a:solidFill>
                  <a:srgbClr val="333333"/>
                </a:solidFill>
                <a:latin typeface="微软雅黑" panose="020B0503020204020204" pitchFamily="34" charset="-122"/>
                <a:ea typeface="宋体" panose="02010600030101010101" pitchFamily="2" charset="-122"/>
                <a:cs typeface="Courier New" panose="02070309020205020404" pitchFamily="49" charset="0"/>
              </a:rPr>
              <a:t>年代，大盐湖卤虫产业规模小，产品需低温运输，主要用于喂养观赏鱼类。</a:t>
            </a:r>
            <a:r>
              <a:rPr lang="en-US" altLang="zh-CN" sz="2800" b="1" dirty="0" smtClean="0">
                <a:solidFill>
                  <a:srgbClr val="333333"/>
                </a:solidFill>
                <a:latin typeface="微软雅黑" panose="020B0503020204020204" pitchFamily="34" charset="-122"/>
                <a:ea typeface="宋体" panose="02010600030101010101" pitchFamily="2" charset="-122"/>
                <a:cs typeface="Courier New" panose="02070309020205020404" pitchFamily="49" charset="0"/>
              </a:rPr>
              <a:t>80</a:t>
            </a:r>
            <a:r>
              <a:rPr lang="zh-CN" altLang="en-US" sz="2800" b="1" dirty="0" smtClean="0">
                <a:solidFill>
                  <a:srgbClr val="333333"/>
                </a:solidFill>
                <a:latin typeface="微软雅黑" panose="020B0503020204020204" pitchFamily="34" charset="-122"/>
                <a:ea typeface="宋体" panose="02010600030101010101" pitchFamily="2" charset="-122"/>
                <a:cs typeface="Courier New" panose="02070309020205020404" pitchFamily="49" charset="0"/>
              </a:rPr>
              <a:t>年代以来，随着水产养殖业快速发展，大盐湖卤虫产业规模不断扩大。</a:t>
            </a:r>
          </a:p>
          <a:p>
            <a:pPr marL="0" marR="0" lvl="0" indent="400050" algn="l" defTabSz="914400" rtl="0" eaLnBrk="0" fontAlgn="base" latinLnBrk="0" hangingPunct="0">
              <a:lnSpc>
                <a:spcPct val="100000"/>
              </a:lnSpc>
              <a:spcBef>
                <a:spcPct val="0"/>
              </a:spcBef>
              <a:spcAft>
                <a:spcPct val="0"/>
              </a:spcAft>
              <a:buClrTx/>
              <a:buSzTx/>
              <a:buFontTx/>
              <a:buNone/>
              <a:tabLst/>
            </a:pPr>
            <a:r>
              <a:rPr lang="zh-CN" altLang="en-US" sz="2800" b="1" dirty="0" smtClean="0">
                <a:solidFill>
                  <a:srgbClr val="333333"/>
                </a:solidFill>
                <a:latin typeface="微软雅黑" panose="020B0503020204020204" pitchFamily="34" charset="-122"/>
                <a:ea typeface="宋体" panose="02010600030101010101" pitchFamily="2" charset="-122"/>
                <a:cs typeface="Courier New" panose="02070309020205020404" pitchFamily="49" charset="0"/>
              </a:rPr>
              <a:t>（</a:t>
            </a:r>
            <a:r>
              <a:rPr lang="en-US" altLang="zh-CN" sz="2800" b="1" dirty="0" smtClean="0">
                <a:solidFill>
                  <a:srgbClr val="333333"/>
                </a:solidFill>
                <a:latin typeface="微软雅黑" panose="020B0503020204020204" pitchFamily="34" charset="-122"/>
                <a:ea typeface="宋体" panose="02010600030101010101" pitchFamily="2" charset="-122"/>
                <a:cs typeface="Courier New" panose="02070309020205020404" pitchFamily="49" charset="0"/>
              </a:rPr>
              <a:t>1</a:t>
            </a:r>
            <a:r>
              <a:rPr lang="zh-CN" altLang="en-US" sz="2800" b="1" dirty="0" smtClean="0">
                <a:solidFill>
                  <a:srgbClr val="333333"/>
                </a:solidFill>
                <a:latin typeface="微软雅黑" panose="020B0503020204020204" pitchFamily="34" charset="-122"/>
                <a:ea typeface="宋体" panose="02010600030101010101" pitchFamily="2" charset="-122"/>
                <a:cs typeface="Courier New" panose="02070309020205020404" pitchFamily="49" charset="0"/>
              </a:rPr>
              <a:t>）分析大盐湖盛产卤虫的原因。（</a:t>
            </a:r>
            <a:r>
              <a:rPr lang="en-US" altLang="zh-CN" sz="2800" b="1" dirty="0" smtClean="0">
                <a:solidFill>
                  <a:srgbClr val="333333"/>
                </a:solidFill>
                <a:latin typeface="微软雅黑" panose="020B0503020204020204" pitchFamily="34" charset="-122"/>
                <a:ea typeface="宋体" panose="02010600030101010101" pitchFamily="2" charset="-122"/>
                <a:cs typeface="Courier New" panose="02070309020205020404" pitchFamily="49" charset="0"/>
              </a:rPr>
              <a:t>6</a:t>
            </a:r>
            <a:r>
              <a:rPr lang="zh-CN" altLang="en-US" sz="2800" b="1" dirty="0" smtClean="0">
                <a:solidFill>
                  <a:srgbClr val="333333"/>
                </a:solidFill>
                <a:latin typeface="微软雅黑" panose="020B0503020204020204" pitchFamily="34" charset="-122"/>
                <a:ea typeface="宋体" panose="02010600030101010101" pitchFamily="2" charset="-122"/>
                <a:cs typeface="Courier New" panose="02070309020205020404" pitchFamily="49" charset="0"/>
              </a:rPr>
              <a:t>分）</a:t>
            </a:r>
          </a:p>
        </p:txBody>
      </p:sp>
      <p:pic>
        <p:nvPicPr>
          <p:cNvPr id="28674" name="图片 10" descr="QQ截图20150615135010"/>
          <p:cNvPicPr>
            <a:picLocks noChangeAspect="1" noChangeArrowheads="1"/>
          </p:cNvPicPr>
          <p:nvPr/>
        </p:nvPicPr>
        <p:blipFill>
          <a:blip r:embed="rId2" cstate="print">
            <a:lum bright="-4000" contrast="20000"/>
          </a:blip>
          <a:srcRect/>
          <a:stretch>
            <a:fillRect/>
          </a:stretch>
        </p:blipFill>
        <p:spPr bwMode="auto">
          <a:xfrm>
            <a:off x="7566121" y="1870527"/>
            <a:ext cx="4625879" cy="4370615"/>
          </a:xfrm>
          <a:prstGeom prst="rect">
            <a:avLst/>
          </a:prstGeom>
          <a:noFill/>
          <a:ln w="9525">
            <a:noFill/>
            <a:miter lim="800000"/>
            <a:headEnd/>
            <a:tailEnd/>
          </a:ln>
          <a:effectLst/>
        </p:spPr>
      </p:pic>
      <p:sp>
        <p:nvSpPr>
          <p:cNvPr id="7" name="文本框 13">
            <a:extLst>
              <a:ext uri="{FF2B5EF4-FFF2-40B4-BE49-F238E27FC236}">
                <a16:creationId xmlns:a16="http://schemas.microsoft.com/office/drawing/2014/main" xmlns="" id="{7FA44183-B67B-47DE-9D2C-A74E4C4A624D}"/>
              </a:ext>
            </a:extLst>
          </p:cNvPr>
          <p:cNvSpPr txBox="1"/>
          <p:nvPr/>
        </p:nvSpPr>
        <p:spPr>
          <a:xfrm>
            <a:off x="0" y="2185858"/>
            <a:ext cx="7881257" cy="707886"/>
          </a:xfrm>
          <a:prstGeom prst="rect">
            <a:avLst/>
          </a:prstGeom>
          <a:noFill/>
        </p:spPr>
        <p:txBody>
          <a:bodyPr wrap="square" rtlCol="0">
            <a:spAutoFit/>
          </a:bodyPr>
          <a:lstStyle/>
          <a:p>
            <a:r>
              <a:rPr lang="en-US" altLang="zh-CN" sz="2000" b="1" dirty="0">
                <a:solidFill>
                  <a:srgbClr val="FF0000"/>
                </a:solidFill>
              </a:rPr>
              <a:t>【</a:t>
            </a:r>
            <a:r>
              <a:rPr lang="zh-CN" altLang="en-US" sz="2000" b="1" dirty="0">
                <a:solidFill>
                  <a:srgbClr val="FF0000"/>
                </a:solidFill>
              </a:rPr>
              <a:t>解析</a:t>
            </a:r>
            <a:r>
              <a:rPr lang="en-US" altLang="zh-CN" sz="2000" b="1" dirty="0">
                <a:solidFill>
                  <a:srgbClr val="FF0000"/>
                </a:solidFill>
              </a:rPr>
              <a:t>】1</a:t>
            </a:r>
            <a:r>
              <a:rPr lang="zh-CN" altLang="en-US" sz="2000" b="1" dirty="0">
                <a:solidFill>
                  <a:srgbClr val="FF0000"/>
                </a:solidFill>
              </a:rPr>
              <a:t>、影响渔业的一般因素：水域范围（生存空间）、饵料。</a:t>
            </a:r>
            <a:endParaRPr lang="en-US" altLang="zh-CN" sz="2000" b="1" dirty="0">
              <a:solidFill>
                <a:srgbClr val="FF0000"/>
              </a:solidFill>
            </a:endParaRPr>
          </a:p>
          <a:p>
            <a:r>
              <a:rPr lang="en-US" altLang="zh-CN" sz="2000" b="1" dirty="0">
                <a:solidFill>
                  <a:srgbClr val="FF0000"/>
                </a:solidFill>
              </a:rPr>
              <a:t>2</a:t>
            </a:r>
            <a:r>
              <a:rPr lang="zh-CN" altLang="en-US" sz="2000" b="1" dirty="0">
                <a:solidFill>
                  <a:srgbClr val="FF0000"/>
                </a:solidFill>
              </a:rPr>
              <a:t>、影响农业区位因素一般思路：</a:t>
            </a:r>
            <a:r>
              <a:rPr lang="en-US" altLang="zh-CN" sz="2000" b="1" dirty="0">
                <a:solidFill>
                  <a:srgbClr val="FF0000"/>
                </a:solidFill>
              </a:rPr>
              <a:t>a</a:t>
            </a:r>
            <a:r>
              <a:rPr lang="zh-CN" altLang="en-US" sz="2000" b="1" dirty="0">
                <a:solidFill>
                  <a:srgbClr val="FF0000"/>
                </a:solidFill>
              </a:rPr>
              <a:t>、区域特征，</a:t>
            </a:r>
            <a:r>
              <a:rPr lang="en-US" altLang="zh-CN" sz="2000" b="1" dirty="0">
                <a:solidFill>
                  <a:srgbClr val="FF0000"/>
                </a:solidFill>
              </a:rPr>
              <a:t>b</a:t>
            </a:r>
            <a:r>
              <a:rPr lang="zh-CN" altLang="en-US" sz="2000" b="1" dirty="0">
                <a:solidFill>
                  <a:srgbClr val="FF0000"/>
                </a:solidFill>
              </a:rPr>
              <a:t>、农产品习性。</a:t>
            </a:r>
          </a:p>
        </p:txBody>
      </p:sp>
      <p:sp>
        <p:nvSpPr>
          <p:cNvPr id="8" name="矩形 7"/>
          <p:cNvSpPr/>
          <p:nvPr/>
        </p:nvSpPr>
        <p:spPr>
          <a:xfrm>
            <a:off x="344491" y="3447534"/>
            <a:ext cx="646331" cy="369332"/>
          </a:xfrm>
          <a:prstGeom prst="rect">
            <a:avLst/>
          </a:prstGeom>
        </p:spPr>
        <p:txBody>
          <a:bodyPr wrap="none">
            <a:spAutoFit/>
          </a:bodyPr>
          <a:lstStyle/>
          <a:p>
            <a:r>
              <a:rPr lang="zh-CN" altLang="en-US" b="1" dirty="0" smtClean="0">
                <a:solidFill>
                  <a:srgbClr val="0000FF"/>
                </a:solidFill>
                <a:latin typeface="微软雅黑" panose="020B0503020204020204" pitchFamily="34" charset="-122"/>
                <a:ea typeface="宋体" panose="02010600030101010101" pitchFamily="2" charset="-122"/>
                <a:cs typeface="Courier New" panose="02070309020205020404" pitchFamily="49" charset="0"/>
              </a:rPr>
              <a:t>卤虫</a:t>
            </a:r>
            <a:endParaRPr lang="zh-CN" altLang="en-US" b="1" dirty="0">
              <a:solidFill>
                <a:srgbClr val="0000FF"/>
              </a:solidFill>
            </a:endParaRPr>
          </a:p>
        </p:txBody>
      </p:sp>
      <p:sp>
        <p:nvSpPr>
          <p:cNvPr id="9" name="左大括号 8"/>
          <p:cNvSpPr/>
          <p:nvPr/>
        </p:nvSpPr>
        <p:spPr>
          <a:xfrm>
            <a:off x="856343" y="3047999"/>
            <a:ext cx="377372" cy="1161143"/>
          </a:xfrm>
          <a:prstGeom prst="lef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b="1">
              <a:solidFill>
                <a:srgbClr val="0000FF"/>
              </a:solidFill>
            </a:endParaRPr>
          </a:p>
        </p:txBody>
      </p:sp>
      <p:sp>
        <p:nvSpPr>
          <p:cNvPr id="10" name="矩形 9"/>
          <p:cNvSpPr/>
          <p:nvPr/>
        </p:nvSpPr>
        <p:spPr>
          <a:xfrm>
            <a:off x="1289317" y="2866962"/>
            <a:ext cx="1107996" cy="369332"/>
          </a:xfrm>
          <a:prstGeom prst="rect">
            <a:avLst/>
          </a:prstGeom>
        </p:spPr>
        <p:txBody>
          <a:bodyPr wrap="none">
            <a:spAutoFit/>
          </a:bodyPr>
          <a:lstStyle/>
          <a:p>
            <a:r>
              <a:rPr lang="zh-CN" altLang="en-US" b="1" dirty="0" smtClean="0">
                <a:solidFill>
                  <a:srgbClr val="0000FF"/>
                </a:solidFill>
                <a:latin typeface="微软雅黑" panose="020B0503020204020204" pitchFamily="34" charset="-122"/>
                <a:ea typeface="宋体" panose="02010600030101010101" pitchFamily="2" charset="-122"/>
                <a:cs typeface="Courier New" panose="02070309020205020404" pitchFamily="49" charset="0"/>
              </a:rPr>
              <a:t>高盐海域</a:t>
            </a:r>
            <a:endParaRPr lang="zh-CN" altLang="en-US" b="1" dirty="0">
              <a:solidFill>
                <a:srgbClr val="0000FF"/>
              </a:solidFill>
            </a:endParaRPr>
          </a:p>
        </p:txBody>
      </p:sp>
      <p:sp>
        <p:nvSpPr>
          <p:cNvPr id="11" name="矩形 10"/>
          <p:cNvSpPr/>
          <p:nvPr/>
        </p:nvSpPr>
        <p:spPr>
          <a:xfrm>
            <a:off x="1318346" y="4028106"/>
            <a:ext cx="1107996" cy="369332"/>
          </a:xfrm>
          <a:prstGeom prst="rect">
            <a:avLst/>
          </a:prstGeom>
        </p:spPr>
        <p:txBody>
          <a:bodyPr wrap="none">
            <a:spAutoFit/>
          </a:bodyPr>
          <a:lstStyle/>
          <a:p>
            <a:r>
              <a:rPr lang="zh-CN" altLang="en-US" b="1" dirty="0" smtClean="0">
                <a:solidFill>
                  <a:srgbClr val="0000FF"/>
                </a:solidFill>
                <a:latin typeface="微软雅黑" panose="020B0503020204020204" pitchFamily="34" charset="-122"/>
                <a:ea typeface="宋体" panose="02010600030101010101" pitchFamily="2" charset="-122"/>
                <a:cs typeface="Courier New" panose="02070309020205020404" pitchFamily="49" charset="0"/>
              </a:rPr>
              <a:t>藻类为食</a:t>
            </a:r>
            <a:endParaRPr lang="zh-CN" altLang="en-US" b="1" dirty="0">
              <a:solidFill>
                <a:srgbClr val="0000FF"/>
              </a:solidFill>
            </a:endParaRPr>
          </a:p>
        </p:txBody>
      </p:sp>
      <p:sp>
        <p:nvSpPr>
          <p:cNvPr id="12" name="矩形 11"/>
          <p:cNvSpPr/>
          <p:nvPr/>
        </p:nvSpPr>
        <p:spPr>
          <a:xfrm>
            <a:off x="4859133" y="3505591"/>
            <a:ext cx="877163" cy="369332"/>
          </a:xfrm>
          <a:prstGeom prst="rect">
            <a:avLst/>
          </a:prstGeom>
        </p:spPr>
        <p:txBody>
          <a:bodyPr wrap="none">
            <a:spAutoFit/>
          </a:bodyPr>
          <a:lstStyle/>
          <a:p>
            <a:r>
              <a:rPr lang="zh-CN" altLang="en-US" b="1" dirty="0" smtClean="0">
                <a:solidFill>
                  <a:srgbClr val="0000FF"/>
                </a:solidFill>
                <a:latin typeface="微软雅黑" panose="020B0503020204020204" pitchFamily="34" charset="-122"/>
                <a:ea typeface="宋体" panose="02010600030101010101" pitchFamily="2" charset="-122"/>
                <a:cs typeface="Courier New" panose="02070309020205020404" pitchFamily="49" charset="0"/>
              </a:rPr>
              <a:t>大盐湖</a:t>
            </a:r>
            <a:endParaRPr lang="zh-CN" altLang="en-US" b="1" dirty="0">
              <a:solidFill>
                <a:srgbClr val="0000FF"/>
              </a:solidFill>
            </a:endParaRPr>
          </a:p>
        </p:txBody>
      </p:sp>
      <p:sp>
        <p:nvSpPr>
          <p:cNvPr id="13" name="右大括号 12"/>
          <p:cNvSpPr/>
          <p:nvPr/>
        </p:nvSpPr>
        <p:spPr>
          <a:xfrm>
            <a:off x="4281714" y="2989943"/>
            <a:ext cx="580571" cy="1335314"/>
          </a:xfrm>
          <a:prstGeom prst="righ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b="1">
              <a:solidFill>
                <a:srgbClr val="0000FF"/>
              </a:solidFill>
            </a:endParaRPr>
          </a:p>
        </p:txBody>
      </p:sp>
      <p:sp>
        <p:nvSpPr>
          <p:cNvPr id="14" name="矩形 13"/>
          <p:cNvSpPr/>
          <p:nvPr/>
        </p:nvSpPr>
        <p:spPr>
          <a:xfrm>
            <a:off x="3161659" y="2808905"/>
            <a:ext cx="1107996" cy="369332"/>
          </a:xfrm>
          <a:prstGeom prst="rect">
            <a:avLst/>
          </a:prstGeom>
        </p:spPr>
        <p:txBody>
          <a:bodyPr wrap="none">
            <a:spAutoFit/>
          </a:bodyPr>
          <a:lstStyle/>
          <a:p>
            <a:r>
              <a:rPr lang="zh-CN" altLang="en-US" b="1" dirty="0" smtClean="0">
                <a:solidFill>
                  <a:srgbClr val="0000FF"/>
                </a:solidFill>
                <a:latin typeface="微软雅黑" panose="020B0503020204020204" pitchFamily="34" charset="-122"/>
                <a:ea typeface="宋体" panose="02010600030101010101" pitchFamily="2" charset="-122"/>
                <a:cs typeface="Courier New" panose="02070309020205020404" pitchFamily="49" charset="0"/>
              </a:rPr>
              <a:t>内陆盐湖</a:t>
            </a:r>
            <a:endParaRPr lang="zh-CN" altLang="en-US" b="1" dirty="0">
              <a:solidFill>
                <a:srgbClr val="0000FF"/>
              </a:solidFill>
            </a:endParaRPr>
          </a:p>
        </p:txBody>
      </p:sp>
      <p:sp>
        <p:nvSpPr>
          <p:cNvPr id="15" name="矩形 14"/>
          <p:cNvSpPr/>
          <p:nvPr/>
        </p:nvSpPr>
        <p:spPr>
          <a:xfrm>
            <a:off x="2929431" y="4013591"/>
            <a:ext cx="1338828" cy="646331"/>
          </a:xfrm>
          <a:prstGeom prst="rect">
            <a:avLst/>
          </a:prstGeom>
        </p:spPr>
        <p:txBody>
          <a:bodyPr wrap="none">
            <a:spAutoFit/>
          </a:bodyPr>
          <a:lstStyle/>
          <a:p>
            <a:r>
              <a:rPr lang="zh-CN" altLang="en-US" b="1" dirty="0" smtClean="0">
                <a:solidFill>
                  <a:srgbClr val="0000FF"/>
                </a:solidFill>
                <a:latin typeface="微软雅黑" panose="020B0503020204020204" pitchFamily="34" charset="-122"/>
                <a:ea typeface="宋体" panose="02010600030101010101" pitchFamily="2" charset="-122"/>
                <a:cs typeface="Courier New" panose="02070309020205020404" pitchFamily="49" charset="0"/>
              </a:rPr>
              <a:t>藻类等</a:t>
            </a:r>
            <a:endParaRPr lang="en-US" altLang="zh-CN" b="1" dirty="0" smtClean="0">
              <a:solidFill>
                <a:srgbClr val="0000FF"/>
              </a:solidFill>
              <a:latin typeface="微软雅黑" panose="020B0503020204020204" pitchFamily="34" charset="-122"/>
              <a:ea typeface="宋体" panose="02010600030101010101" pitchFamily="2" charset="-122"/>
              <a:cs typeface="Courier New" panose="02070309020205020404" pitchFamily="49" charset="0"/>
            </a:endParaRPr>
          </a:p>
          <a:p>
            <a:r>
              <a:rPr lang="zh-CN" altLang="en-US" b="1" dirty="0" smtClean="0">
                <a:solidFill>
                  <a:srgbClr val="0000FF"/>
                </a:solidFill>
                <a:latin typeface="微软雅黑" panose="020B0503020204020204" pitchFamily="34" charset="-122"/>
                <a:ea typeface="宋体" panose="02010600030101010101" pitchFamily="2" charset="-122"/>
                <a:cs typeface="Courier New" panose="02070309020205020404" pitchFamily="49" charset="0"/>
              </a:rPr>
              <a:t>饵料丰富？</a:t>
            </a:r>
            <a:endParaRPr lang="zh-CN" altLang="en-US" b="1" dirty="0">
              <a:solidFill>
                <a:srgbClr val="0000FF"/>
              </a:solidFill>
            </a:endParaRPr>
          </a:p>
        </p:txBody>
      </p:sp>
      <p:sp>
        <p:nvSpPr>
          <p:cNvPr id="16" name="椭圆 15"/>
          <p:cNvSpPr/>
          <p:nvPr/>
        </p:nvSpPr>
        <p:spPr>
          <a:xfrm>
            <a:off x="2801258" y="4020457"/>
            <a:ext cx="1378857" cy="769257"/>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0" y="4709049"/>
            <a:ext cx="7794171" cy="1200329"/>
          </a:xfrm>
          <a:prstGeom prst="rect">
            <a:avLst/>
          </a:prstGeom>
        </p:spPr>
        <p:txBody>
          <a:bodyPr wrap="square">
            <a:spAutoFit/>
          </a:bodyPr>
          <a:lstStyle/>
          <a:p>
            <a:r>
              <a:rPr lang="en-US" altLang="zh-CN" sz="2400" b="1" dirty="0" smtClean="0">
                <a:solidFill>
                  <a:srgbClr val="FF0000"/>
                </a:solidFill>
                <a:latin typeface="宋体" panose="02010600030101010101" pitchFamily="2" charset="-122"/>
                <a:ea typeface="宋体" panose="02010600030101010101" pitchFamily="2" charset="-122"/>
              </a:rPr>
              <a:t>1</a:t>
            </a:r>
            <a:r>
              <a:rPr lang="zh-CN" altLang="en-US" sz="2400" b="1" dirty="0" smtClean="0">
                <a:solidFill>
                  <a:srgbClr val="FF0000"/>
                </a:solidFill>
                <a:latin typeface="宋体" panose="02010600030101010101" pitchFamily="2" charset="-122"/>
                <a:ea typeface="宋体" panose="02010600030101010101" pitchFamily="2" charset="-122"/>
              </a:rPr>
              <a:t>、</a:t>
            </a:r>
            <a:r>
              <a:rPr lang="zh-CN" altLang="zh-CN" sz="2400" b="1" dirty="0" smtClean="0">
                <a:solidFill>
                  <a:srgbClr val="FF0000"/>
                </a:solidFill>
                <a:latin typeface="宋体" panose="02010600030101010101" pitchFamily="2" charset="-122"/>
                <a:ea typeface="宋体" panose="02010600030101010101" pitchFamily="2" charset="-122"/>
              </a:rPr>
              <a:t>属于内陆盐湖，为高盐水域。（</a:t>
            </a:r>
            <a:r>
              <a:rPr lang="en-US" altLang="zh-CN" sz="2400" b="1" dirty="0" smtClean="0">
                <a:solidFill>
                  <a:srgbClr val="FF0000"/>
                </a:solidFill>
                <a:latin typeface="宋体" panose="02010600030101010101" pitchFamily="2" charset="-122"/>
                <a:ea typeface="宋体" panose="02010600030101010101" pitchFamily="2" charset="-122"/>
              </a:rPr>
              <a:t>3</a:t>
            </a:r>
            <a:r>
              <a:rPr lang="zh-CN" altLang="zh-CN" sz="2400" b="1" dirty="0" smtClean="0">
                <a:solidFill>
                  <a:srgbClr val="FF0000"/>
                </a:solidFill>
                <a:latin typeface="宋体" panose="02010600030101010101" pitchFamily="2" charset="-122"/>
                <a:ea typeface="宋体" panose="02010600030101010101" pitchFamily="2" charset="-122"/>
              </a:rPr>
              <a:t>分）</a:t>
            </a:r>
            <a:endParaRPr lang="en-US" altLang="zh-CN" sz="2400" b="1" dirty="0" smtClean="0">
              <a:solidFill>
                <a:srgbClr val="FF0000"/>
              </a:solidFill>
              <a:latin typeface="宋体" panose="02010600030101010101" pitchFamily="2" charset="-122"/>
              <a:ea typeface="宋体" panose="02010600030101010101" pitchFamily="2" charset="-122"/>
            </a:endParaRPr>
          </a:p>
          <a:p>
            <a:r>
              <a:rPr lang="en-US" altLang="zh-CN" sz="2400" b="1" u="sng" dirty="0" smtClean="0">
                <a:solidFill>
                  <a:srgbClr val="FF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2</a:t>
            </a:r>
            <a:r>
              <a:rPr lang="zh-CN" altLang="en-US" sz="2400" b="1" u="sng" dirty="0" smtClean="0">
                <a:solidFill>
                  <a:srgbClr val="FF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zh-CN" altLang="zh-CN" sz="2400" b="1" u="sng" dirty="0" smtClean="0">
                <a:solidFill>
                  <a:srgbClr val="FF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注入该湖的河水带来大量的营养物质，适合藻类等卤虫饵料的生长。（</a:t>
            </a:r>
            <a:r>
              <a:rPr lang="en-US" altLang="zh-CN" sz="2400" b="1" u="sng" dirty="0" smtClean="0">
                <a:solidFill>
                  <a:srgbClr val="FF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3</a:t>
            </a:r>
            <a:r>
              <a:rPr lang="zh-CN" altLang="zh-CN" sz="2400" b="1" u="sng" dirty="0" smtClean="0">
                <a:solidFill>
                  <a:srgbClr val="FF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分）</a:t>
            </a:r>
            <a:endParaRPr lang="zh-CN" altLang="zh-CN" sz="2400" b="1" u="sng" dirty="0">
              <a:solidFill>
                <a:srgbClr val="FF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endParaRPr>
          </a:p>
        </p:txBody>
      </p:sp>
      <p:sp>
        <p:nvSpPr>
          <p:cNvPr id="18" name="矩形 17"/>
          <p:cNvSpPr/>
          <p:nvPr/>
        </p:nvSpPr>
        <p:spPr>
          <a:xfrm>
            <a:off x="0" y="5870192"/>
            <a:ext cx="8026400" cy="461665"/>
          </a:xfrm>
          <a:prstGeom prst="rect">
            <a:avLst/>
          </a:prstGeom>
        </p:spPr>
        <p:txBody>
          <a:bodyPr wrap="square">
            <a:spAutoFit/>
          </a:bodyPr>
          <a:lstStyle/>
          <a:p>
            <a:r>
              <a:rPr lang="en-US" altLang="zh-CN" sz="2400" b="1" u="sng" dirty="0" smtClean="0">
                <a:solidFill>
                  <a:srgbClr val="FF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zh-CN" altLang="en-US" sz="2400" b="1" u="sng" dirty="0" smtClean="0">
                <a:solidFill>
                  <a:srgbClr val="FF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常见问题</a:t>
            </a:r>
            <a:r>
              <a:rPr lang="en-US" altLang="zh-CN" sz="2400" b="1" u="sng" dirty="0" smtClean="0">
                <a:solidFill>
                  <a:srgbClr val="FF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zh-CN" altLang="en-US" sz="2400" b="1" u="sng" dirty="0" smtClean="0">
                <a:solidFill>
                  <a:srgbClr val="FF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藻类等饵料丰富，只有结论，没有成因分析！</a:t>
            </a:r>
            <a:endParaRPr lang="zh-CN" altLang="zh-CN" sz="2400" b="1" u="sng" dirty="0">
              <a:solidFill>
                <a:srgbClr val="FF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blinds(horizontal)">
                                      <p:cBhvr>
                                        <p:cTn id="11" dur="500"/>
                                        <p:tgtEl>
                                          <p:spTgt spid="8"/>
                                        </p:tgtEl>
                                      </p:cBhvr>
                                    </p:animEffect>
                                  </p:childTnLst>
                                </p:cTn>
                              </p:par>
                              <p:par>
                                <p:cTn id="12" presetID="3" presetClass="entr" presetSubtype="1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blinds(horizontal)">
                                      <p:cBhvr>
                                        <p:cTn id="14" dur="500"/>
                                        <p:tgtEl>
                                          <p:spTgt spid="9"/>
                                        </p:tgtEl>
                                      </p:cBhvr>
                                    </p:animEffect>
                                  </p:childTnLst>
                                </p:cTn>
                              </p:par>
                              <p:par>
                                <p:cTn id="15" presetID="3" presetClass="entr" presetSubtype="1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linds(horizontal)">
                                      <p:cBhvr>
                                        <p:cTn id="17" dur="500"/>
                                        <p:tgtEl>
                                          <p:spTgt spid="10"/>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blinds(horizontal)">
                                      <p:cBhvr>
                                        <p:cTn id="20" dur="50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blinds(horizontal)">
                                      <p:cBhvr>
                                        <p:cTn id="25" dur="500"/>
                                        <p:tgtEl>
                                          <p:spTgt spid="12"/>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blinds(horizontal)">
                                      <p:cBhvr>
                                        <p:cTn id="28" dur="500"/>
                                        <p:tgtEl>
                                          <p:spTgt spid="13"/>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blinds(horizontal)">
                                      <p:cBhvr>
                                        <p:cTn id="31" dur="500"/>
                                        <p:tgtEl>
                                          <p:spTgt spid="14"/>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blinds(horizontal)">
                                      <p:cBhvr>
                                        <p:cTn id="34" dur="500"/>
                                        <p:tgtEl>
                                          <p:spTgt spid="15"/>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blinds(horizontal)">
                                      <p:cBhvr>
                                        <p:cTn id="37" dur="500"/>
                                        <p:tgtEl>
                                          <p:spTgt spid="16"/>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blinds(horizontal)">
                                      <p:cBhvr>
                                        <p:cTn id="42" dur="500"/>
                                        <p:tgtEl>
                                          <p:spTgt spid="17"/>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blinds(horizontal)">
                                      <p:cBhvr>
                                        <p:cTn id="4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animBg="1"/>
      <p:bldP spid="10" grpId="0"/>
      <p:bldP spid="11" grpId="0"/>
      <p:bldP spid="12" grpId="0"/>
      <p:bldP spid="13" grpId="0" animBg="1"/>
      <p:bldP spid="14" grpId="0"/>
      <p:bldP spid="15" grpId="0"/>
      <p:bldP spid="16" grpId="0" animBg="1"/>
      <p:bldP spid="17" grpId="0"/>
      <p:bldP spid="1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1"/>
          <p:cNvSpPr>
            <a:spLocks noChangeArrowheads="1"/>
          </p:cNvSpPr>
          <p:nvPr/>
        </p:nvSpPr>
        <p:spPr bwMode="auto">
          <a:xfrm>
            <a:off x="0" y="1"/>
            <a:ext cx="12192000" cy="267765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400050" algn="l" defTabSz="914400" rtl="0" eaLnBrk="1" fontAlgn="base" latinLnBrk="0" hangingPunct="1">
              <a:lnSpc>
                <a:spcPct val="100000"/>
              </a:lnSpc>
              <a:spcBef>
                <a:spcPct val="0"/>
              </a:spcBef>
              <a:spcAft>
                <a:spcPct val="0"/>
              </a:spcAft>
              <a:buClrTx/>
              <a:buSzTx/>
              <a:buFontTx/>
              <a:buNone/>
              <a:tabLst/>
            </a:pPr>
            <a:r>
              <a:rPr lang="zh-CN" altLang="en-US" sz="2800" b="1" dirty="0" smtClean="0">
                <a:solidFill>
                  <a:srgbClr val="333333"/>
                </a:solidFill>
                <a:latin typeface="微软雅黑" panose="020B0503020204020204" pitchFamily="34" charset="-122"/>
                <a:ea typeface="宋体" panose="02010600030101010101" pitchFamily="2" charset="-122"/>
                <a:cs typeface="Courier New" panose="02070309020205020404" pitchFamily="49" charset="0"/>
              </a:rPr>
              <a:t>卤</a:t>
            </a:r>
            <a:r>
              <a:rPr lang="zh-CN" altLang="en-US" sz="2800" b="1" dirty="0" smtClean="0">
                <a:solidFill>
                  <a:srgbClr val="333333"/>
                </a:solidFill>
                <a:latin typeface="微软雅黑" panose="020B0503020204020204" pitchFamily="34" charset="-122"/>
                <a:ea typeface="宋体" panose="02010600030101010101" pitchFamily="2" charset="-122"/>
                <a:cs typeface="Courier New" panose="02070309020205020404" pitchFamily="49" charset="0"/>
              </a:rPr>
              <a:t>虫生存于高盐海域，以藻类为食，是水产养殖的优质活体饵料，也是候鸟的食物来源。美国大盐湖属内陆盐湖，卤虫</a:t>
            </a:r>
            <a:r>
              <a:rPr lang="zh-CN" altLang="en-US" sz="2800" b="1" dirty="0" smtClean="0">
                <a:solidFill>
                  <a:srgbClr val="333333"/>
                </a:solidFill>
                <a:latin typeface="微软雅黑" panose="020B0503020204020204" pitchFamily="34" charset="-122"/>
                <a:ea typeface="宋体" panose="02010600030101010101" pitchFamily="2" charset="-122"/>
                <a:cs typeface="Courier New" panose="02070309020205020404" pitchFamily="49" charset="0"/>
              </a:rPr>
              <a:t>资源丰富，</a:t>
            </a:r>
            <a:r>
              <a:rPr lang="en-US" altLang="zh-CN" sz="2800" b="1" dirty="0" smtClean="0">
                <a:solidFill>
                  <a:srgbClr val="333333"/>
                </a:solidFill>
                <a:latin typeface="微软雅黑" panose="020B0503020204020204" pitchFamily="34" charset="-122"/>
                <a:ea typeface="宋体" panose="02010600030101010101" pitchFamily="2" charset="-122"/>
                <a:cs typeface="Courier New" panose="02070309020205020404" pitchFamily="49" charset="0"/>
              </a:rPr>
              <a:t>20</a:t>
            </a:r>
            <a:r>
              <a:rPr lang="zh-CN" altLang="en-US" sz="2800" b="1" dirty="0" smtClean="0">
                <a:solidFill>
                  <a:srgbClr val="333333"/>
                </a:solidFill>
                <a:latin typeface="微软雅黑" panose="020B0503020204020204" pitchFamily="34" charset="-122"/>
                <a:ea typeface="宋体" panose="02010600030101010101" pitchFamily="2" charset="-122"/>
                <a:cs typeface="Courier New" panose="02070309020205020404" pitchFamily="49" charset="0"/>
              </a:rPr>
              <a:t>世纪</a:t>
            </a:r>
            <a:r>
              <a:rPr lang="en-US" altLang="zh-CN" sz="2800" b="1" dirty="0" smtClean="0">
                <a:solidFill>
                  <a:srgbClr val="333333"/>
                </a:solidFill>
                <a:latin typeface="微软雅黑" panose="020B0503020204020204" pitchFamily="34" charset="-122"/>
                <a:ea typeface="宋体" panose="02010600030101010101" pitchFamily="2" charset="-122"/>
                <a:cs typeface="Courier New" panose="02070309020205020404" pitchFamily="49" charset="0"/>
              </a:rPr>
              <a:t>50-70</a:t>
            </a:r>
            <a:r>
              <a:rPr lang="zh-CN" altLang="en-US" sz="2800" b="1" dirty="0" smtClean="0">
                <a:solidFill>
                  <a:srgbClr val="333333"/>
                </a:solidFill>
                <a:latin typeface="微软雅黑" panose="020B0503020204020204" pitchFamily="34" charset="-122"/>
                <a:ea typeface="宋体" panose="02010600030101010101" pitchFamily="2" charset="-122"/>
                <a:cs typeface="Courier New" panose="02070309020205020404" pitchFamily="49" charset="0"/>
              </a:rPr>
              <a:t>年代，大盐湖卤虫</a:t>
            </a:r>
            <a:r>
              <a:rPr lang="zh-CN" altLang="en-US" sz="2800" b="1" dirty="0" smtClean="0">
                <a:solidFill>
                  <a:srgbClr val="0000FF"/>
                </a:solidFill>
                <a:latin typeface="微软雅黑" panose="020B0503020204020204" pitchFamily="34" charset="-122"/>
                <a:ea typeface="宋体" panose="02010600030101010101" pitchFamily="2" charset="-122"/>
                <a:cs typeface="Courier New" panose="02070309020205020404" pitchFamily="49" charset="0"/>
              </a:rPr>
              <a:t>产业规模小</a:t>
            </a:r>
            <a:r>
              <a:rPr lang="zh-CN" altLang="en-US" sz="2800" b="1" dirty="0" smtClean="0">
                <a:solidFill>
                  <a:srgbClr val="333333"/>
                </a:solidFill>
                <a:latin typeface="微软雅黑" panose="020B0503020204020204" pitchFamily="34" charset="-122"/>
                <a:ea typeface="宋体" panose="02010600030101010101" pitchFamily="2" charset="-122"/>
                <a:cs typeface="Courier New" panose="02070309020205020404" pitchFamily="49" charset="0"/>
              </a:rPr>
              <a:t>，产品需</a:t>
            </a:r>
            <a:r>
              <a:rPr lang="zh-CN" altLang="en-US" sz="2800" b="1" dirty="0" smtClean="0">
                <a:solidFill>
                  <a:srgbClr val="0000FF"/>
                </a:solidFill>
                <a:latin typeface="微软雅黑" panose="020B0503020204020204" pitchFamily="34" charset="-122"/>
                <a:ea typeface="宋体" panose="02010600030101010101" pitchFamily="2" charset="-122"/>
                <a:cs typeface="Courier New" panose="02070309020205020404" pitchFamily="49" charset="0"/>
              </a:rPr>
              <a:t>低温运输</a:t>
            </a:r>
            <a:r>
              <a:rPr lang="zh-CN" altLang="en-US" sz="2800" b="1" dirty="0" smtClean="0">
                <a:solidFill>
                  <a:srgbClr val="333333"/>
                </a:solidFill>
                <a:latin typeface="微软雅黑" panose="020B0503020204020204" pitchFamily="34" charset="-122"/>
                <a:ea typeface="宋体" panose="02010600030101010101" pitchFamily="2" charset="-122"/>
                <a:cs typeface="Courier New" panose="02070309020205020404" pitchFamily="49" charset="0"/>
              </a:rPr>
              <a:t>，主要用于</a:t>
            </a:r>
            <a:r>
              <a:rPr lang="zh-CN" altLang="en-US" sz="2800" b="1" dirty="0" smtClean="0">
                <a:solidFill>
                  <a:srgbClr val="0000FF"/>
                </a:solidFill>
                <a:latin typeface="微软雅黑" panose="020B0503020204020204" pitchFamily="34" charset="-122"/>
                <a:ea typeface="宋体" panose="02010600030101010101" pitchFamily="2" charset="-122"/>
                <a:cs typeface="Courier New" panose="02070309020205020404" pitchFamily="49" charset="0"/>
              </a:rPr>
              <a:t>喂养观赏鱼类</a:t>
            </a:r>
            <a:r>
              <a:rPr lang="zh-CN" altLang="en-US" sz="2800" b="1" dirty="0" smtClean="0">
                <a:solidFill>
                  <a:srgbClr val="333333"/>
                </a:solidFill>
                <a:latin typeface="微软雅黑" panose="020B0503020204020204" pitchFamily="34" charset="-122"/>
                <a:ea typeface="宋体" panose="02010600030101010101" pitchFamily="2" charset="-122"/>
                <a:cs typeface="Courier New" panose="02070309020205020404" pitchFamily="49" charset="0"/>
              </a:rPr>
              <a:t>。</a:t>
            </a:r>
            <a:r>
              <a:rPr lang="en-US" altLang="zh-CN" sz="2800" b="1" dirty="0" smtClean="0">
                <a:solidFill>
                  <a:srgbClr val="333333"/>
                </a:solidFill>
                <a:latin typeface="微软雅黑" panose="020B0503020204020204" pitchFamily="34" charset="-122"/>
                <a:ea typeface="宋体" panose="02010600030101010101" pitchFamily="2" charset="-122"/>
                <a:cs typeface="Courier New" panose="02070309020205020404" pitchFamily="49" charset="0"/>
              </a:rPr>
              <a:t>80</a:t>
            </a:r>
            <a:r>
              <a:rPr lang="zh-CN" altLang="en-US" sz="2800" b="1" dirty="0" smtClean="0">
                <a:solidFill>
                  <a:srgbClr val="333333"/>
                </a:solidFill>
                <a:latin typeface="微软雅黑" panose="020B0503020204020204" pitchFamily="34" charset="-122"/>
                <a:ea typeface="宋体" panose="02010600030101010101" pitchFamily="2" charset="-122"/>
                <a:cs typeface="Courier New" panose="02070309020205020404" pitchFamily="49" charset="0"/>
              </a:rPr>
              <a:t>年代以来，随着</a:t>
            </a:r>
            <a:r>
              <a:rPr lang="zh-CN" altLang="en-US" sz="2800" b="1" dirty="0" smtClean="0">
                <a:solidFill>
                  <a:srgbClr val="0000FF"/>
                </a:solidFill>
                <a:latin typeface="微软雅黑" panose="020B0503020204020204" pitchFamily="34" charset="-122"/>
                <a:ea typeface="宋体" panose="02010600030101010101" pitchFamily="2" charset="-122"/>
                <a:cs typeface="Courier New" panose="02070309020205020404" pitchFamily="49" charset="0"/>
              </a:rPr>
              <a:t>水产养殖业快速</a:t>
            </a:r>
            <a:r>
              <a:rPr lang="zh-CN" altLang="en-US" sz="2800" b="1" dirty="0" smtClean="0">
                <a:solidFill>
                  <a:srgbClr val="333333"/>
                </a:solidFill>
                <a:latin typeface="微软雅黑" panose="020B0503020204020204" pitchFamily="34" charset="-122"/>
                <a:ea typeface="宋体" panose="02010600030101010101" pitchFamily="2" charset="-122"/>
                <a:cs typeface="Courier New" panose="02070309020205020404" pitchFamily="49" charset="0"/>
              </a:rPr>
              <a:t>发展，大</a:t>
            </a:r>
            <a:r>
              <a:rPr lang="zh-CN" altLang="en-US" sz="2800" b="1" dirty="0" smtClean="0">
                <a:solidFill>
                  <a:srgbClr val="0000FF"/>
                </a:solidFill>
                <a:latin typeface="微软雅黑" panose="020B0503020204020204" pitchFamily="34" charset="-122"/>
                <a:ea typeface="宋体" panose="02010600030101010101" pitchFamily="2" charset="-122"/>
                <a:cs typeface="Courier New" panose="02070309020205020404" pitchFamily="49" charset="0"/>
              </a:rPr>
              <a:t>盐湖卤虫产业规模不断扩大</a:t>
            </a:r>
            <a:r>
              <a:rPr lang="zh-CN" altLang="en-US" sz="2800" b="1" dirty="0" smtClean="0">
                <a:solidFill>
                  <a:srgbClr val="333333"/>
                </a:solidFill>
                <a:latin typeface="微软雅黑" panose="020B0503020204020204" pitchFamily="34" charset="-122"/>
                <a:ea typeface="宋体" panose="02010600030101010101" pitchFamily="2" charset="-122"/>
                <a:cs typeface="Courier New" panose="02070309020205020404" pitchFamily="49" charset="0"/>
              </a:rPr>
              <a:t>。</a:t>
            </a:r>
          </a:p>
          <a:p>
            <a:pPr lvl="0"/>
            <a:r>
              <a:rPr lang="zh-CN" altLang="en-US" sz="2800" dirty="0" smtClean="0"/>
              <a:t>（</a:t>
            </a:r>
            <a:r>
              <a:rPr lang="en-US" altLang="zh-CN" sz="2800" dirty="0" smtClean="0"/>
              <a:t>4</a:t>
            </a:r>
            <a:r>
              <a:rPr lang="zh-CN" altLang="en-US" sz="2800" dirty="0" smtClean="0"/>
              <a:t>）</a:t>
            </a:r>
            <a:r>
              <a:rPr lang="zh-CN" altLang="zh-CN" sz="2800" dirty="0" smtClean="0"/>
              <a:t>你</a:t>
            </a:r>
            <a:r>
              <a:rPr lang="zh-CN" altLang="zh-CN" sz="2800" dirty="0" smtClean="0"/>
              <a:t>是否赞同继续在大盐湖发展卤虫捕捞业？请表明态度并说明理由。（</a:t>
            </a:r>
            <a:r>
              <a:rPr lang="en-US" altLang="zh-CN" sz="2800" dirty="0" smtClean="0"/>
              <a:t>4</a:t>
            </a:r>
            <a:r>
              <a:rPr lang="zh-CN" altLang="zh-CN" sz="2800" dirty="0" smtClean="0"/>
              <a:t>分）</a:t>
            </a:r>
            <a:endParaRPr lang="zh-CN" altLang="zh-CN" sz="2800" dirty="0"/>
          </a:p>
        </p:txBody>
      </p:sp>
      <p:pic>
        <p:nvPicPr>
          <p:cNvPr id="5" name="图片 10" descr="QQ截图20150615135010"/>
          <p:cNvPicPr>
            <a:picLocks noChangeAspect="1" noChangeArrowheads="1"/>
          </p:cNvPicPr>
          <p:nvPr/>
        </p:nvPicPr>
        <p:blipFill>
          <a:blip r:embed="rId2" cstate="print">
            <a:lum bright="-4000" contrast="20000"/>
          </a:blip>
          <a:srcRect/>
          <a:stretch>
            <a:fillRect/>
          </a:stretch>
        </p:blipFill>
        <p:spPr bwMode="auto">
          <a:xfrm>
            <a:off x="7566121" y="2233384"/>
            <a:ext cx="4625879" cy="4370615"/>
          </a:xfrm>
          <a:prstGeom prst="rect">
            <a:avLst/>
          </a:prstGeom>
          <a:noFill/>
          <a:ln w="9525">
            <a:noFill/>
            <a:miter lim="800000"/>
            <a:headEnd/>
            <a:tailEnd/>
          </a:ln>
          <a:effectLst/>
        </p:spPr>
      </p:pic>
      <p:sp>
        <p:nvSpPr>
          <p:cNvPr id="6" name="文本框 13">
            <a:extLst>
              <a:ext uri="{FF2B5EF4-FFF2-40B4-BE49-F238E27FC236}">
                <a16:creationId xmlns:a16="http://schemas.microsoft.com/office/drawing/2014/main" xmlns="" id="{7FA44183-B67B-47DE-9D2C-A74E4C4A624D}"/>
              </a:ext>
            </a:extLst>
          </p:cNvPr>
          <p:cNvSpPr txBox="1"/>
          <p:nvPr/>
        </p:nvSpPr>
        <p:spPr>
          <a:xfrm>
            <a:off x="0" y="2650315"/>
            <a:ext cx="7881257" cy="400110"/>
          </a:xfrm>
          <a:prstGeom prst="rect">
            <a:avLst/>
          </a:prstGeom>
          <a:noFill/>
        </p:spPr>
        <p:txBody>
          <a:bodyPr wrap="square" rtlCol="0">
            <a:spAutoFit/>
          </a:bodyPr>
          <a:lstStyle/>
          <a:p>
            <a:r>
              <a:rPr lang="en-US" altLang="zh-CN" sz="2000" b="1" dirty="0" smtClean="0">
                <a:solidFill>
                  <a:srgbClr val="FF0000"/>
                </a:solidFill>
              </a:rPr>
              <a:t>【</a:t>
            </a:r>
            <a:r>
              <a:rPr lang="zh-CN" altLang="en-US" sz="2000" b="1" dirty="0" smtClean="0">
                <a:solidFill>
                  <a:srgbClr val="FF0000"/>
                </a:solidFill>
              </a:rPr>
              <a:t>解析</a:t>
            </a:r>
            <a:r>
              <a:rPr lang="en-US" altLang="zh-CN" sz="2000" b="1" dirty="0" smtClean="0">
                <a:solidFill>
                  <a:srgbClr val="FF0000"/>
                </a:solidFill>
              </a:rPr>
              <a:t>】</a:t>
            </a:r>
            <a:r>
              <a:rPr lang="zh-CN" altLang="en-US" sz="2000" b="1" dirty="0" smtClean="0">
                <a:solidFill>
                  <a:srgbClr val="FF0000"/>
                </a:solidFill>
              </a:rPr>
              <a:t>答题角度：</a:t>
            </a:r>
            <a:r>
              <a:rPr lang="en-US" altLang="zh-CN" sz="2000" b="1" dirty="0" smtClean="0">
                <a:solidFill>
                  <a:srgbClr val="FF0000"/>
                </a:solidFill>
              </a:rPr>
              <a:t>A</a:t>
            </a:r>
            <a:r>
              <a:rPr lang="zh-CN" altLang="en-US" sz="2000" b="1" dirty="0" smtClean="0">
                <a:solidFill>
                  <a:srgbClr val="FF0000"/>
                </a:solidFill>
              </a:rPr>
              <a:t>、区位条件；</a:t>
            </a:r>
            <a:r>
              <a:rPr lang="en-US" altLang="zh-CN" sz="2000" b="1" dirty="0" smtClean="0">
                <a:solidFill>
                  <a:srgbClr val="FF0000"/>
                </a:solidFill>
              </a:rPr>
              <a:t>B</a:t>
            </a:r>
            <a:r>
              <a:rPr lang="zh-CN" altLang="en-US" sz="2000" b="1" dirty="0" smtClean="0">
                <a:solidFill>
                  <a:srgbClr val="FF0000"/>
                </a:solidFill>
              </a:rPr>
              <a:t>、影响（经济、社会、生态）。</a:t>
            </a:r>
            <a:endParaRPr lang="zh-CN" altLang="en-US" sz="2000" b="1" dirty="0">
              <a:solidFill>
                <a:srgbClr val="FF0000"/>
              </a:solidFill>
            </a:endParaRPr>
          </a:p>
        </p:txBody>
      </p:sp>
      <p:sp>
        <p:nvSpPr>
          <p:cNvPr id="7" name="矩形 6"/>
          <p:cNvSpPr/>
          <p:nvPr/>
        </p:nvSpPr>
        <p:spPr>
          <a:xfrm>
            <a:off x="232227" y="3278779"/>
            <a:ext cx="7257144" cy="2308324"/>
          </a:xfrm>
          <a:prstGeom prst="rect">
            <a:avLst/>
          </a:prstGeom>
        </p:spPr>
        <p:txBody>
          <a:bodyPr wrap="square">
            <a:spAutoFit/>
          </a:bodyPr>
          <a:lstStyle/>
          <a:p>
            <a:r>
              <a:rPr lang="zh-CN" altLang="zh-CN" sz="2400" b="1" dirty="0" smtClean="0">
                <a:solidFill>
                  <a:srgbClr val="FF0000"/>
                </a:solidFill>
                <a:latin typeface="宋体" panose="02010600030101010101" pitchFamily="2" charset="-122"/>
                <a:ea typeface="宋体" panose="02010600030101010101" pitchFamily="2" charset="-122"/>
              </a:rPr>
              <a:t>赞成理由：卤虫</a:t>
            </a:r>
            <a:r>
              <a:rPr lang="zh-CN" altLang="zh-CN" sz="2400" b="1" u="sng" dirty="0" smtClean="0">
                <a:solidFill>
                  <a:srgbClr val="FF0000"/>
                </a:solidFill>
                <a:latin typeface="宋体" panose="02010600030101010101" pitchFamily="2" charset="-122"/>
                <a:ea typeface="宋体" panose="02010600030101010101" pitchFamily="2" charset="-122"/>
              </a:rPr>
              <a:t>资源丰富</a:t>
            </a:r>
            <a:r>
              <a:rPr lang="zh-CN" altLang="zh-CN" sz="2400" b="1" dirty="0" smtClean="0">
                <a:solidFill>
                  <a:srgbClr val="FF0000"/>
                </a:solidFill>
                <a:latin typeface="宋体" panose="02010600030101010101" pitchFamily="2" charset="-122"/>
                <a:ea typeface="宋体" panose="02010600030101010101" pitchFamily="2" charset="-122"/>
              </a:rPr>
              <a:t>，</a:t>
            </a:r>
            <a:r>
              <a:rPr lang="zh-CN" altLang="zh-CN" sz="2400" b="1" u="sng" dirty="0" smtClean="0">
                <a:solidFill>
                  <a:srgbClr val="FF0000"/>
                </a:solidFill>
                <a:latin typeface="宋体" panose="02010600030101010101" pitchFamily="2" charset="-122"/>
                <a:ea typeface="宋体" panose="02010600030101010101" pitchFamily="2" charset="-122"/>
              </a:rPr>
              <a:t>市场需求大</a:t>
            </a:r>
            <a:r>
              <a:rPr lang="zh-CN" altLang="zh-CN" sz="2400" b="1" dirty="0" smtClean="0">
                <a:solidFill>
                  <a:srgbClr val="FF0000"/>
                </a:solidFill>
                <a:latin typeface="宋体" panose="02010600030101010101" pitchFamily="2" charset="-122"/>
                <a:ea typeface="宋体" panose="02010600030101010101" pitchFamily="2" charset="-122"/>
              </a:rPr>
              <a:t>，</a:t>
            </a:r>
            <a:r>
              <a:rPr lang="zh-CN" altLang="zh-CN" sz="2400" b="1" u="sng" dirty="0" smtClean="0">
                <a:solidFill>
                  <a:srgbClr val="FF0000"/>
                </a:solidFill>
                <a:latin typeface="宋体" panose="02010600030101010101" pitchFamily="2" charset="-122"/>
                <a:ea typeface="宋体" panose="02010600030101010101" pitchFamily="2" charset="-122"/>
              </a:rPr>
              <a:t>经济价值高</a:t>
            </a:r>
            <a:r>
              <a:rPr lang="zh-CN" altLang="zh-CN" sz="2400" b="1" dirty="0" smtClean="0">
                <a:solidFill>
                  <a:srgbClr val="FF0000"/>
                </a:solidFill>
                <a:latin typeface="宋体" panose="02010600030101010101" pitchFamily="2" charset="-122"/>
                <a:ea typeface="宋体" panose="02010600030101010101" pitchFamily="2" charset="-122"/>
              </a:rPr>
              <a:t>，</a:t>
            </a:r>
            <a:r>
              <a:rPr lang="zh-CN" altLang="zh-CN" sz="2400" b="1" u="sng" dirty="0" smtClean="0">
                <a:solidFill>
                  <a:srgbClr val="FF0000"/>
                </a:solidFill>
                <a:latin typeface="宋体" panose="02010600030101010101" pitchFamily="2" charset="-122"/>
                <a:ea typeface="宋体" panose="02010600030101010101" pitchFamily="2" charset="-122"/>
              </a:rPr>
              <a:t>技术成熟</a:t>
            </a:r>
            <a:r>
              <a:rPr lang="zh-CN" altLang="zh-CN" sz="2400" b="1" dirty="0" smtClean="0">
                <a:solidFill>
                  <a:srgbClr val="FF0000"/>
                </a:solidFill>
                <a:latin typeface="宋体" panose="02010600030101010101" pitchFamily="2" charset="-122"/>
                <a:ea typeface="宋体" panose="02010600030101010101" pitchFamily="2" charset="-122"/>
              </a:rPr>
              <a:t>，</a:t>
            </a:r>
            <a:r>
              <a:rPr lang="zh-CN" altLang="zh-CN" sz="2400" b="1" u="sng" dirty="0" smtClean="0">
                <a:solidFill>
                  <a:srgbClr val="FF0000"/>
                </a:solidFill>
                <a:latin typeface="宋体" panose="02010600030101010101" pitchFamily="2" charset="-122"/>
                <a:ea typeface="宋体" panose="02010600030101010101" pitchFamily="2" charset="-122"/>
              </a:rPr>
              <a:t>增加就业</a:t>
            </a:r>
            <a:r>
              <a:rPr lang="zh-CN" altLang="zh-CN" sz="2400" b="1" dirty="0" smtClean="0">
                <a:solidFill>
                  <a:srgbClr val="FF0000"/>
                </a:solidFill>
                <a:latin typeface="宋体" panose="02010600030101010101" pitchFamily="2" charset="-122"/>
                <a:ea typeface="宋体" panose="02010600030101010101" pitchFamily="2" charset="-122"/>
              </a:rPr>
              <a:t>等。（</a:t>
            </a:r>
            <a:r>
              <a:rPr lang="en-US" altLang="zh-CN" sz="2400" b="1" dirty="0" smtClean="0">
                <a:solidFill>
                  <a:srgbClr val="FF0000"/>
                </a:solidFill>
                <a:latin typeface="宋体" panose="02010600030101010101" pitchFamily="2" charset="-122"/>
                <a:ea typeface="宋体" panose="02010600030101010101" pitchFamily="2" charset="-122"/>
              </a:rPr>
              <a:t>4</a:t>
            </a:r>
            <a:r>
              <a:rPr lang="zh-CN" altLang="zh-CN" sz="2400" b="1" dirty="0" smtClean="0">
                <a:solidFill>
                  <a:srgbClr val="FF0000"/>
                </a:solidFill>
                <a:latin typeface="宋体" panose="02010600030101010101" pitchFamily="2" charset="-122"/>
                <a:ea typeface="宋体" panose="02010600030101010101" pitchFamily="2" charset="-122"/>
              </a:rPr>
              <a:t>分</a:t>
            </a:r>
            <a:r>
              <a:rPr lang="zh-CN" altLang="zh-CN" sz="2400" b="1" dirty="0" smtClean="0">
                <a:solidFill>
                  <a:srgbClr val="FF0000"/>
                </a:solidFill>
                <a:latin typeface="宋体" panose="02010600030101010101" pitchFamily="2" charset="-122"/>
                <a:ea typeface="宋体" panose="02010600030101010101" pitchFamily="2" charset="-122"/>
              </a:rPr>
              <a:t>）</a:t>
            </a:r>
            <a:endParaRPr lang="en-US" altLang="zh-CN" sz="2400" b="1" dirty="0" smtClean="0">
              <a:solidFill>
                <a:srgbClr val="FF0000"/>
              </a:solidFill>
              <a:latin typeface="宋体" panose="02010600030101010101" pitchFamily="2" charset="-122"/>
              <a:ea typeface="宋体" panose="02010600030101010101" pitchFamily="2" charset="-122"/>
            </a:endParaRPr>
          </a:p>
          <a:p>
            <a:endParaRPr lang="en-US" altLang="zh-CN" sz="2400" b="1" dirty="0" smtClean="0">
              <a:solidFill>
                <a:srgbClr val="FF0000"/>
              </a:solidFill>
              <a:latin typeface="宋体" panose="02010600030101010101" pitchFamily="2" charset="-122"/>
              <a:ea typeface="宋体" panose="02010600030101010101" pitchFamily="2" charset="-122"/>
            </a:endParaRPr>
          </a:p>
          <a:p>
            <a:endParaRPr lang="zh-CN" altLang="zh-CN" sz="2400" b="1" dirty="0" smtClean="0">
              <a:solidFill>
                <a:srgbClr val="FF0000"/>
              </a:solidFill>
              <a:latin typeface="宋体" panose="02010600030101010101" pitchFamily="2" charset="-122"/>
              <a:ea typeface="宋体" panose="02010600030101010101" pitchFamily="2" charset="-122"/>
            </a:endParaRPr>
          </a:p>
          <a:p>
            <a:r>
              <a:rPr lang="zh-CN" altLang="zh-CN" sz="2400" b="1" dirty="0" smtClean="0">
                <a:solidFill>
                  <a:srgbClr val="FF0000"/>
                </a:solidFill>
                <a:latin typeface="宋体" panose="02010600030101010101" pitchFamily="2" charset="-122"/>
                <a:ea typeface="宋体" panose="02010600030101010101" pitchFamily="2" charset="-122"/>
              </a:rPr>
              <a:t>不赞成理由：让卤虫自然生长，维护</a:t>
            </a:r>
            <a:r>
              <a:rPr lang="zh-CN" altLang="zh-CN" sz="2400" b="1" u="sng" dirty="0" smtClean="0">
                <a:solidFill>
                  <a:srgbClr val="FF0000"/>
                </a:solidFill>
                <a:latin typeface="宋体" panose="02010600030101010101" pitchFamily="2" charset="-122"/>
                <a:ea typeface="宋体" panose="02010600030101010101" pitchFamily="2" charset="-122"/>
              </a:rPr>
              <a:t>生物链的稳定</a:t>
            </a:r>
            <a:r>
              <a:rPr lang="zh-CN" altLang="zh-CN" sz="2400" b="1" dirty="0" smtClean="0">
                <a:solidFill>
                  <a:srgbClr val="FF0000"/>
                </a:solidFill>
                <a:latin typeface="宋体" panose="02010600030101010101" pitchFamily="2" charset="-122"/>
                <a:ea typeface="宋体" panose="02010600030101010101" pitchFamily="2" charset="-122"/>
              </a:rPr>
              <a:t>，</a:t>
            </a:r>
            <a:r>
              <a:rPr lang="zh-CN" altLang="zh-CN" sz="2400" b="1" u="sng" dirty="0" smtClean="0">
                <a:solidFill>
                  <a:srgbClr val="FF0000"/>
                </a:solidFill>
                <a:latin typeface="宋体" panose="02010600030101010101" pitchFamily="2" charset="-122"/>
                <a:ea typeface="宋体" panose="02010600030101010101" pitchFamily="2" charset="-122"/>
              </a:rPr>
              <a:t>保护湿地</a:t>
            </a:r>
            <a:r>
              <a:rPr lang="zh-CN" altLang="zh-CN" sz="2400" b="1" dirty="0" smtClean="0">
                <a:solidFill>
                  <a:srgbClr val="FF0000"/>
                </a:solidFill>
                <a:latin typeface="宋体" panose="02010600030101010101" pitchFamily="2" charset="-122"/>
                <a:ea typeface="宋体" panose="02010600030101010101" pitchFamily="2" charset="-122"/>
              </a:rPr>
              <a:t>，</a:t>
            </a:r>
            <a:r>
              <a:rPr lang="zh-CN" altLang="zh-CN" sz="2400" b="1" u="sng" dirty="0" smtClean="0">
                <a:solidFill>
                  <a:srgbClr val="FF0000"/>
                </a:solidFill>
                <a:latin typeface="宋体" panose="02010600030101010101" pitchFamily="2" charset="-122"/>
                <a:ea typeface="宋体" panose="02010600030101010101" pitchFamily="2" charset="-122"/>
              </a:rPr>
              <a:t>保护生物多样性</a:t>
            </a:r>
            <a:r>
              <a:rPr lang="zh-CN" altLang="zh-CN" sz="2400" b="1" dirty="0" smtClean="0">
                <a:solidFill>
                  <a:srgbClr val="FF0000"/>
                </a:solidFill>
                <a:latin typeface="宋体" panose="02010600030101010101" pitchFamily="2" charset="-122"/>
                <a:ea typeface="宋体" panose="02010600030101010101" pitchFamily="2" charset="-122"/>
              </a:rPr>
              <a:t>等。</a:t>
            </a:r>
            <a:endParaRPr lang="zh-CN" altLang="zh-CN" sz="2400" b="1" dirty="0">
              <a:solidFill>
                <a:srgbClr val="FF0000"/>
              </a:solidFill>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0486" y="0"/>
            <a:ext cx="10515600" cy="1325563"/>
          </a:xfrm>
        </p:spPr>
        <p:txBody>
          <a:bodyPr/>
          <a:lstStyle/>
          <a:p>
            <a:r>
              <a:rPr lang="en-US" altLang="zh-CN" dirty="0" smtClean="0"/>
              <a:t>【</a:t>
            </a:r>
            <a:r>
              <a:rPr lang="zh-CN" altLang="en-US" dirty="0" smtClean="0"/>
              <a:t>概念拓展</a:t>
            </a:r>
            <a:r>
              <a:rPr lang="en-US" altLang="zh-CN" dirty="0" smtClean="0"/>
              <a:t>——</a:t>
            </a:r>
            <a:r>
              <a:rPr lang="zh-CN" altLang="en-US" dirty="0" smtClean="0"/>
              <a:t>生物链</a:t>
            </a:r>
            <a:r>
              <a:rPr lang="en-US" altLang="zh-CN" dirty="0" smtClean="0"/>
              <a:t>】</a:t>
            </a:r>
            <a:endParaRPr lang="zh-CN" altLang="en-US" dirty="0"/>
          </a:p>
        </p:txBody>
      </p:sp>
      <p:sp>
        <p:nvSpPr>
          <p:cNvPr id="3" name="内容占位符 2"/>
          <p:cNvSpPr>
            <a:spLocks noGrp="1"/>
          </p:cNvSpPr>
          <p:nvPr>
            <p:ph idx="1"/>
          </p:nvPr>
        </p:nvSpPr>
        <p:spPr>
          <a:xfrm>
            <a:off x="0" y="1128939"/>
            <a:ext cx="12192000" cy="1367518"/>
          </a:xfrm>
        </p:spPr>
        <p:txBody>
          <a:bodyPr>
            <a:normAutofit/>
          </a:bodyPr>
          <a:lstStyle/>
          <a:p>
            <a:pPr>
              <a:buNone/>
            </a:pPr>
            <a:r>
              <a:rPr lang="zh-CN" altLang="en-US" dirty="0" smtClean="0"/>
              <a:t>         生物链</a:t>
            </a:r>
            <a:r>
              <a:rPr lang="zh-CN" altLang="en-US" dirty="0" smtClean="0"/>
              <a:t>也可以理解为自然界中的食物链，它形成了大自然</a:t>
            </a:r>
            <a:r>
              <a:rPr lang="zh-CN" altLang="en-US" dirty="0" smtClean="0"/>
              <a:t>中</a:t>
            </a:r>
            <a:r>
              <a:rPr lang="en-US" altLang="zh-CN" dirty="0" smtClean="0"/>
              <a:t>“</a:t>
            </a:r>
            <a:r>
              <a:rPr lang="zh-CN" altLang="en-US" dirty="0" smtClean="0"/>
              <a:t>一物降一物</a:t>
            </a:r>
            <a:r>
              <a:rPr lang="en-US" altLang="zh-CN" dirty="0" smtClean="0"/>
              <a:t>”</a:t>
            </a:r>
            <a:r>
              <a:rPr lang="zh-CN" altLang="en-US" dirty="0" smtClean="0"/>
              <a:t>的</a:t>
            </a:r>
            <a:r>
              <a:rPr lang="zh-CN" altLang="en-US" dirty="0" smtClean="0"/>
              <a:t>现象，维系着物种间天然的数量平衡。</a:t>
            </a:r>
            <a:endParaRPr lang="zh-CN" altLang="en-US" dirty="0"/>
          </a:p>
        </p:txBody>
      </p:sp>
      <p:pic>
        <p:nvPicPr>
          <p:cNvPr id="34818" name="Picture 2" descr="https://timgsa.baidu.com/timg?image&amp;quality=80&amp;size=b9999_10000&amp;sec=1606104046063&amp;di=0ab35398e68dbc5338888205d7884015&amp;imgtype=0&amp;src=http%3A%2F%2Fpics2.baidu.com%2Ffeed%2F3b87e950352ac65c285d490ba5cb021793138a29.jpeg%3Ftoken%3D5853ea8978d4da121fadce92deef23ee"/>
          <p:cNvPicPr>
            <a:picLocks noChangeAspect="1" noChangeArrowheads="1"/>
          </p:cNvPicPr>
          <p:nvPr/>
        </p:nvPicPr>
        <p:blipFill>
          <a:blip r:embed="rId2" cstate="print"/>
          <a:srcRect/>
          <a:stretch>
            <a:fillRect/>
          </a:stretch>
        </p:blipFill>
        <p:spPr bwMode="auto">
          <a:xfrm>
            <a:off x="1839232" y="2314348"/>
            <a:ext cx="6684912" cy="4543652"/>
          </a:xfrm>
          <a:prstGeom prst="rect">
            <a:avLst/>
          </a:prstGeom>
          <a:noFill/>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34DDC1F3-E323-43ED-94CF-A9D65AA82E4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7169" name="图片 11" descr="2017年全国普通高等学校招生统一考试文综地理（全国卷3）【解析】">
            <a:extLst>
              <a:ext uri="{FF2B5EF4-FFF2-40B4-BE49-F238E27FC236}">
                <a16:creationId xmlns:a16="http://schemas.microsoft.com/office/drawing/2014/main" xmlns="" id="{753C0C0B-07B3-48F1-88AF-31329280928A}"/>
              </a:ext>
            </a:extLst>
          </p:cNvPr>
          <p:cNvPicPr>
            <a:picLocks noChangeAspect="1" noChangeArrowheads="1"/>
          </p:cNvPicPr>
          <p:nvPr/>
        </p:nvPicPr>
        <p:blipFill>
          <a:blip r:embed="rId2" cstate="print">
            <a:lum bright="-38000" contrast="60000"/>
            <a:extLst>
              <a:ext uri="{28A0092B-C50C-407E-A947-70E740481C1C}">
                <a14:useLocalDpi xmlns:a14="http://schemas.microsoft.com/office/drawing/2010/main" xmlns="" val="0"/>
              </a:ext>
            </a:extLst>
          </a:blip>
          <a:srcRect/>
          <a:stretch>
            <a:fillRect/>
          </a:stretch>
        </p:blipFill>
        <p:spPr bwMode="auto">
          <a:xfrm>
            <a:off x="5741123" y="3359219"/>
            <a:ext cx="6450877" cy="3498781"/>
          </a:xfrm>
          <a:prstGeom prst="rect">
            <a:avLst/>
          </a:prstGeom>
          <a:noFill/>
          <a:extLst>
            <a:ext uri="{909E8E84-426E-40DD-AFC4-6F175D3DCCD1}">
              <a14:hiddenFill xmlns:a14="http://schemas.microsoft.com/office/drawing/2010/main" xmlns="">
                <a:solidFill>
                  <a:srgbClr val="FFFFFF"/>
                </a:solidFill>
              </a14:hiddenFill>
            </a:ext>
          </a:extLst>
        </p:spPr>
      </p:pic>
      <p:sp>
        <p:nvSpPr>
          <p:cNvPr id="3" name="Rectangle 3">
            <a:extLst>
              <a:ext uri="{FF2B5EF4-FFF2-40B4-BE49-F238E27FC236}">
                <a16:creationId xmlns:a16="http://schemas.microsoft.com/office/drawing/2014/main" xmlns="" id="{9CD8CB75-B05B-4541-81BC-3F1D571D3D62}"/>
              </a:ext>
            </a:extLst>
          </p:cNvPr>
          <p:cNvSpPr>
            <a:spLocks noChangeArrowheads="1"/>
          </p:cNvSpPr>
          <p:nvPr/>
        </p:nvSpPr>
        <p:spPr bwMode="auto">
          <a:xfrm>
            <a:off x="0" y="92327"/>
            <a:ext cx="12192000" cy="18158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381000" algn="l"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dirty="0">
                <a:ln>
                  <a:noFill/>
                </a:ln>
                <a:solidFill>
                  <a:schemeClr val="tx1"/>
                </a:solidFill>
                <a:effectLst/>
                <a:latin typeface="华文宋体" panose="02010600040101010101" pitchFamily="2" charset="-122"/>
                <a:ea typeface="华文宋体" panose="02010600040101010101" pitchFamily="2" charset="-122"/>
                <a:cs typeface="宋体" panose="02010600030101010101" pitchFamily="2" charset="-122"/>
              </a:rPr>
              <a:t>  白斑狗鱼肉质细嫩，营养丰富，有“鱼中软黄金”之称，白斑狗鱼是肉食性鱼，适宜在</a:t>
            </a:r>
            <a:r>
              <a:rPr kumimoji="0" lang="en-US" altLang="zh-CN" sz="2800" b="0" i="0" u="none" strike="noStrike" cap="none" normalizeH="0" baseline="0" dirty="0">
                <a:ln>
                  <a:noFill/>
                </a:ln>
                <a:solidFill>
                  <a:schemeClr val="tx1"/>
                </a:solidFill>
                <a:effectLst/>
                <a:latin typeface="华文宋体" panose="02010600040101010101" pitchFamily="2" charset="-122"/>
                <a:ea typeface="华文宋体" panose="02010600040101010101" pitchFamily="2" charset="-122"/>
                <a:cs typeface="宋体" panose="02010600030101010101" pitchFamily="2" charset="-122"/>
              </a:rPr>
              <a:t>16℃</a:t>
            </a:r>
            <a:r>
              <a:rPr kumimoji="0" lang="zh-CN" altLang="en-US" sz="2800" b="0" i="0" u="none" strike="noStrike" cap="none" normalizeH="0" baseline="0" dirty="0">
                <a:ln>
                  <a:noFill/>
                </a:ln>
                <a:solidFill>
                  <a:schemeClr val="tx1"/>
                </a:solidFill>
                <a:effectLst/>
                <a:latin typeface="华文宋体" panose="02010600040101010101" pitchFamily="2" charset="-122"/>
                <a:ea typeface="华文宋体" panose="02010600040101010101" pitchFamily="2" charset="-122"/>
                <a:cs typeface="宋体" panose="02010600030101010101" pitchFamily="2" charset="-122"/>
              </a:rPr>
              <a:t>以下的水域产卵繁殖，分布于亚洲、欧洲和北美洲的北部冷水水域，栖息环境多为水质清澈、水草丛生的河流，在我国仅见于新疆的额尔齐斯河流域。额尔齐斯河是我国唯一属于北冰洋水系的河流。</a:t>
            </a:r>
            <a:endParaRPr kumimoji="0" lang="zh-CN" altLang="en-US" sz="2800" b="0" i="0" u="none" strike="noStrike" cap="none" normalizeH="0" baseline="0" dirty="0">
              <a:ln>
                <a:noFill/>
              </a:ln>
              <a:solidFill>
                <a:schemeClr val="tx1"/>
              </a:solidFill>
              <a:effectLst/>
              <a:latin typeface="华文宋体" panose="02010600040101010101" pitchFamily="2" charset="-122"/>
              <a:ea typeface="华文宋体" panose="02010600040101010101" pitchFamily="2" charset="-122"/>
            </a:endParaRPr>
          </a:p>
        </p:txBody>
      </p:sp>
      <p:sp>
        <p:nvSpPr>
          <p:cNvPr id="6" name="文本框 5">
            <a:extLst>
              <a:ext uri="{FF2B5EF4-FFF2-40B4-BE49-F238E27FC236}">
                <a16:creationId xmlns:a16="http://schemas.microsoft.com/office/drawing/2014/main" xmlns="" id="{59C522B3-620C-408C-9C6C-DEA26015A327}"/>
              </a:ext>
            </a:extLst>
          </p:cNvPr>
          <p:cNvSpPr txBox="1"/>
          <p:nvPr/>
        </p:nvSpPr>
        <p:spPr>
          <a:xfrm>
            <a:off x="0" y="1987382"/>
            <a:ext cx="12192000" cy="523220"/>
          </a:xfrm>
          <a:prstGeom prst="rect">
            <a:avLst/>
          </a:prstGeom>
          <a:noFill/>
        </p:spPr>
        <p:txBody>
          <a:bodyPr wrap="square">
            <a:spAutoFit/>
          </a:bodyPr>
          <a:lstStyle/>
          <a:p>
            <a:pPr lvl="0"/>
            <a:r>
              <a:rPr lang="en-US" altLang="zh-CN" sz="2800" dirty="0">
                <a:effectLst/>
                <a:latin typeface="宋体" panose="02010600030101010101" pitchFamily="2" charset="-122"/>
                <a:ea typeface="宋体" panose="02010600030101010101" pitchFamily="2" charset="-122"/>
                <a:cs typeface="宋体" panose="02010600030101010101" pitchFamily="2" charset="-122"/>
              </a:rPr>
              <a:t>(1)</a:t>
            </a:r>
            <a:r>
              <a:rPr lang="zh-CN" altLang="zh-CN" sz="2800" dirty="0">
                <a:effectLst/>
                <a:latin typeface="宋体" panose="02010600030101010101" pitchFamily="2" charset="-122"/>
                <a:ea typeface="宋体" panose="02010600030101010101" pitchFamily="2" charset="-122"/>
                <a:cs typeface="宋体" panose="02010600030101010101" pitchFamily="2" charset="-122"/>
              </a:rPr>
              <a:t>根据</a:t>
            </a:r>
            <a:r>
              <a:rPr lang="zh-CN" altLang="zh-CN" sz="2800" dirty="0">
                <a:solidFill>
                  <a:srgbClr val="0000FF"/>
                </a:solidFill>
                <a:effectLst/>
                <a:latin typeface="宋体" panose="02010600030101010101" pitchFamily="2" charset="-122"/>
                <a:ea typeface="宋体" panose="02010600030101010101" pitchFamily="2" charset="-122"/>
                <a:cs typeface="宋体" panose="02010600030101010101" pitchFamily="2" charset="-122"/>
              </a:rPr>
              <a:t>支流的分布</a:t>
            </a:r>
            <a:r>
              <a:rPr lang="zh-CN" altLang="zh-CN" sz="2800" dirty="0">
                <a:effectLst/>
                <a:latin typeface="宋体" panose="02010600030101010101" pitchFamily="2" charset="-122"/>
                <a:ea typeface="宋体" panose="02010600030101010101" pitchFamily="2" charset="-122"/>
                <a:cs typeface="宋体" panose="02010600030101010101" pitchFamily="2" charset="-122"/>
              </a:rPr>
              <a:t>特征，分析图示额尔齐斯河</a:t>
            </a:r>
            <a:r>
              <a:rPr lang="zh-CN" altLang="zh-CN" sz="2800" dirty="0">
                <a:solidFill>
                  <a:srgbClr val="0000FF"/>
                </a:solidFill>
                <a:latin typeface="宋体" panose="02010600030101010101" pitchFamily="2" charset="-122"/>
                <a:ea typeface="宋体" panose="02010600030101010101" pitchFamily="2" charset="-122"/>
              </a:rPr>
              <a:t>流域降水分布</a:t>
            </a:r>
            <a:r>
              <a:rPr lang="zh-CN" altLang="zh-CN" sz="2800" dirty="0">
                <a:effectLst/>
                <a:latin typeface="宋体" panose="02010600030101010101" pitchFamily="2" charset="-122"/>
                <a:ea typeface="宋体" panose="02010600030101010101" pitchFamily="2" charset="-122"/>
                <a:cs typeface="宋体" panose="02010600030101010101" pitchFamily="2" charset="-122"/>
              </a:rPr>
              <a:t>特点及</a:t>
            </a:r>
            <a:r>
              <a:rPr lang="zh-CN" altLang="zh-CN" sz="2800" dirty="0">
                <a:solidFill>
                  <a:srgbClr val="0000FF"/>
                </a:solidFill>
                <a:latin typeface="宋体" panose="02010600030101010101" pitchFamily="2" charset="-122"/>
                <a:ea typeface="宋体" panose="02010600030101010101" pitchFamily="2" charset="-122"/>
              </a:rPr>
              <a:t>成因</a:t>
            </a:r>
            <a:r>
              <a:rPr lang="zh-CN" altLang="zh-CN" sz="2800" dirty="0">
                <a:effectLst/>
                <a:latin typeface="宋体" panose="02010600030101010101" pitchFamily="2" charset="-122"/>
                <a:ea typeface="宋体" panose="02010600030101010101" pitchFamily="2" charset="-122"/>
                <a:cs typeface="宋体" panose="02010600030101010101" pitchFamily="2" charset="-122"/>
              </a:rPr>
              <a:t>。</a:t>
            </a:r>
            <a:r>
              <a:rPr lang="zh-CN" altLang="zh-CN" sz="1200" dirty="0">
                <a:effectLst/>
                <a:latin typeface="宋体" panose="02010600030101010101" pitchFamily="2" charset="-122"/>
                <a:ea typeface="宋体" panose="02010600030101010101" pitchFamily="2" charset="-122"/>
                <a:cs typeface="宋体" panose="02010600030101010101" pitchFamily="2" charset="-122"/>
              </a:rPr>
              <a:t>（</a:t>
            </a:r>
            <a:r>
              <a:rPr lang="en-US" altLang="zh-CN" sz="1200" dirty="0">
                <a:effectLst/>
                <a:latin typeface="宋体" panose="02010600030101010101" pitchFamily="2" charset="-122"/>
                <a:ea typeface="宋体" panose="02010600030101010101" pitchFamily="2" charset="-122"/>
                <a:cs typeface="宋体" panose="02010600030101010101" pitchFamily="2" charset="-122"/>
              </a:rPr>
              <a:t>8</a:t>
            </a:r>
            <a:r>
              <a:rPr lang="zh-CN" altLang="zh-CN" sz="1200" dirty="0">
                <a:effectLst/>
                <a:latin typeface="宋体" panose="02010600030101010101" pitchFamily="2" charset="-122"/>
                <a:ea typeface="宋体" panose="02010600030101010101" pitchFamily="2" charset="-122"/>
                <a:cs typeface="宋体" panose="02010600030101010101" pitchFamily="2" charset="-122"/>
              </a:rPr>
              <a:t>分）</a:t>
            </a:r>
          </a:p>
        </p:txBody>
      </p:sp>
      <p:grpSp>
        <p:nvGrpSpPr>
          <p:cNvPr id="12" name="组合 11">
            <a:extLst>
              <a:ext uri="{FF2B5EF4-FFF2-40B4-BE49-F238E27FC236}">
                <a16:creationId xmlns:a16="http://schemas.microsoft.com/office/drawing/2014/main" xmlns="" id="{0663F081-390B-4E20-8671-C212F86EDD3B}"/>
              </a:ext>
            </a:extLst>
          </p:cNvPr>
          <p:cNvGrpSpPr/>
          <p:nvPr/>
        </p:nvGrpSpPr>
        <p:grpSpPr>
          <a:xfrm>
            <a:off x="5678905" y="3877426"/>
            <a:ext cx="4292868" cy="2667753"/>
            <a:chOff x="5678905" y="3877426"/>
            <a:chExt cx="4292868" cy="2667753"/>
          </a:xfrm>
        </p:grpSpPr>
        <p:sp>
          <p:nvSpPr>
            <p:cNvPr id="5" name="任意多边形: 形状 4">
              <a:extLst>
                <a:ext uri="{FF2B5EF4-FFF2-40B4-BE49-F238E27FC236}">
                  <a16:creationId xmlns:a16="http://schemas.microsoft.com/office/drawing/2014/main" xmlns="" id="{8D6FB139-E0DF-4D2A-B7FE-21F27C251EF6}"/>
                </a:ext>
              </a:extLst>
            </p:cNvPr>
            <p:cNvSpPr/>
            <p:nvPr/>
          </p:nvSpPr>
          <p:spPr>
            <a:xfrm>
              <a:off x="5678905" y="5388875"/>
              <a:ext cx="4292868" cy="1156304"/>
            </a:xfrm>
            <a:custGeom>
              <a:avLst/>
              <a:gdLst>
                <a:gd name="connsiteX0" fmla="*/ 4292868 w 4292868"/>
                <a:gd name="connsiteY0" fmla="*/ 723167 h 1156304"/>
                <a:gd name="connsiteX1" fmla="*/ 4235116 w 4292868"/>
                <a:gd name="connsiteY1" fmla="*/ 713542 h 1156304"/>
                <a:gd name="connsiteX2" fmla="*/ 4167739 w 4292868"/>
                <a:gd name="connsiteY2" fmla="*/ 752043 h 1156304"/>
                <a:gd name="connsiteX3" fmla="*/ 4138863 w 4292868"/>
                <a:gd name="connsiteY3" fmla="*/ 761668 h 1156304"/>
                <a:gd name="connsiteX4" fmla="*/ 4119613 w 4292868"/>
                <a:gd name="connsiteY4" fmla="*/ 800169 h 1156304"/>
                <a:gd name="connsiteX5" fmla="*/ 4061861 w 4292868"/>
                <a:gd name="connsiteY5" fmla="*/ 848296 h 1156304"/>
                <a:gd name="connsiteX6" fmla="*/ 3994484 w 4292868"/>
                <a:gd name="connsiteY6" fmla="*/ 896422 h 1156304"/>
                <a:gd name="connsiteX7" fmla="*/ 3936733 w 4292868"/>
                <a:gd name="connsiteY7" fmla="*/ 1011925 h 1156304"/>
                <a:gd name="connsiteX8" fmla="*/ 3927108 w 4292868"/>
                <a:gd name="connsiteY8" fmla="*/ 1040801 h 1156304"/>
                <a:gd name="connsiteX9" fmla="*/ 3898232 w 4292868"/>
                <a:gd name="connsiteY9" fmla="*/ 1060051 h 1156304"/>
                <a:gd name="connsiteX10" fmla="*/ 3840480 w 4292868"/>
                <a:gd name="connsiteY10" fmla="*/ 1108178 h 1156304"/>
                <a:gd name="connsiteX11" fmla="*/ 3811604 w 4292868"/>
                <a:gd name="connsiteY11" fmla="*/ 1117803 h 1156304"/>
                <a:gd name="connsiteX12" fmla="*/ 3782729 w 4292868"/>
                <a:gd name="connsiteY12" fmla="*/ 1137053 h 1156304"/>
                <a:gd name="connsiteX13" fmla="*/ 3724977 w 4292868"/>
                <a:gd name="connsiteY13" fmla="*/ 1156304 h 1156304"/>
                <a:gd name="connsiteX14" fmla="*/ 3465095 w 4292868"/>
                <a:gd name="connsiteY14" fmla="*/ 1146679 h 1156304"/>
                <a:gd name="connsiteX15" fmla="*/ 3436219 w 4292868"/>
                <a:gd name="connsiteY15" fmla="*/ 1079302 h 1156304"/>
                <a:gd name="connsiteX16" fmla="*/ 3368842 w 4292868"/>
                <a:gd name="connsiteY16" fmla="*/ 1002300 h 1156304"/>
                <a:gd name="connsiteX17" fmla="*/ 3080084 w 4292868"/>
                <a:gd name="connsiteY17" fmla="*/ 954173 h 1156304"/>
                <a:gd name="connsiteX18" fmla="*/ 2974207 w 4292868"/>
                <a:gd name="connsiteY18" fmla="*/ 925298 h 1156304"/>
                <a:gd name="connsiteX19" fmla="*/ 2916455 w 4292868"/>
                <a:gd name="connsiteY19" fmla="*/ 896422 h 1156304"/>
                <a:gd name="connsiteX20" fmla="*/ 2820202 w 4292868"/>
                <a:gd name="connsiteY20" fmla="*/ 877171 h 1156304"/>
                <a:gd name="connsiteX21" fmla="*/ 2781701 w 4292868"/>
                <a:gd name="connsiteY21" fmla="*/ 857921 h 1156304"/>
                <a:gd name="connsiteX22" fmla="*/ 2656573 w 4292868"/>
                <a:gd name="connsiteY22" fmla="*/ 838670 h 1156304"/>
                <a:gd name="connsiteX23" fmla="*/ 2627697 w 4292868"/>
                <a:gd name="connsiteY23" fmla="*/ 829045 h 1156304"/>
                <a:gd name="connsiteX24" fmla="*/ 2550695 w 4292868"/>
                <a:gd name="connsiteY24" fmla="*/ 819420 h 1156304"/>
                <a:gd name="connsiteX25" fmla="*/ 2521819 w 4292868"/>
                <a:gd name="connsiteY25" fmla="*/ 800169 h 1156304"/>
                <a:gd name="connsiteX26" fmla="*/ 2454442 w 4292868"/>
                <a:gd name="connsiteY26" fmla="*/ 790544 h 1156304"/>
                <a:gd name="connsiteX27" fmla="*/ 2435192 w 4292868"/>
                <a:gd name="connsiteY27" fmla="*/ 761668 h 1156304"/>
                <a:gd name="connsiteX28" fmla="*/ 2406316 w 4292868"/>
                <a:gd name="connsiteY28" fmla="*/ 752043 h 1156304"/>
                <a:gd name="connsiteX29" fmla="*/ 2377440 w 4292868"/>
                <a:gd name="connsiteY29" fmla="*/ 732792 h 1156304"/>
                <a:gd name="connsiteX30" fmla="*/ 2319689 w 4292868"/>
                <a:gd name="connsiteY30" fmla="*/ 713542 h 1156304"/>
                <a:gd name="connsiteX31" fmla="*/ 2271562 w 4292868"/>
                <a:gd name="connsiteY31" fmla="*/ 684666 h 1156304"/>
                <a:gd name="connsiteX32" fmla="*/ 2194560 w 4292868"/>
                <a:gd name="connsiteY32" fmla="*/ 665416 h 1156304"/>
                <a:gd name="connsiteX33" fmla="*/ 2136809 w 4292868"/>
                <a:gd name="connsiteY33" fmla="*/ 636540 h 1156304"/>
                <a:gd name="connsiteX34" fmla="*/ 2079057 w 4292868"/>
                <a:gd name="connsiteY34" fmla="*/ 598039 h 1156304"/>
                <a:gd name="connsiteX35" fmla="*/ 2050181 w 4292868"/>
                <a:gd name="connsiteY35" fmla="*/ 578788 h 1156304"/>
                <a:gd name="connsiteX36" fmla="*/ 2030931 w 4292868"/>
                <a:gd name="connsiteY36" fmla="*/ 549912 h 1156304"/>
                <a:gd name="connsiteX37" fmla="*/ 1973179 w 4292868"/>
                <a:gd name="connsiteY37" fmla="*/ 540287 h 1156304"/>
                <a:gd name="connsiteX38" fmla="*/ 1953929 w 4292868"/>
                <a:gd name="connsiteY38" fmla="*/ 511411 h 1156304"/>
                <a:gd name="connsiteX39" fmla="*/ 1925053 w 4292868"/>
                <a:gd name="connsiteY39" fmla="*/ 501786 h 1156304"/>
                <a:gd name="connsiteX40" fmla="*/ 1896177 w 4292868"/>
                <a:gd name="connsiteY40" fmla="*/ 482536 h 1156304"/>
                <a:gd name="connsiteX41" fmla="*/ 1838426 w 4292868"/>
                <a:gd name="connsiteY41" fmla="*/ 463285 h 1156304"/>
                <a:gd name="connsiteX42" fmla="*/ 1799924 w 4292868"/>
                <a:gd name="connsiteY42" fmla="*/ 444034 h 1156304"/>
                <a:gd name="connsiteX43" fmla="*/ 1771049 w 4292868"/>
                <a:gd name="connsiteY43" fmla="*/ 424784 h 1156304"/>
                <a:gd name="connsiteX44" fmla="*/ 1742173 w 4292868"/>
                <a:gd name="connsiteY44" fmla="*/ 415159 h 1156304"/>
                <a:gd name="connsiteX45" fmla="*/ 1713297 w 4292868"/>
                <a:gd name="connsiteY45" fmla="*/ 395908 h 1156304"/>
                <a:gd name="connsiteX46" fmla="*/ 1674796 w 4292868"/>
                <a:gd name="connsiteY46" fmla="*/ 357407 h 1156304"/>
                <a:gd name="connsiteX47" fmla="*/ 1645920 w 4292868"/>
                <a:gd name="connsiteY47" fmla="*/ 347782 h 1156304"/>
                <a:gd name="connsiteX48" fmla="*/ 1559293 w 4292868"/>
                <a:gd name="connsiteY48" fmla="*/ 280405 h 1156304"/>
                <a:gd name="connsiteX49" fmla="*/ 1501541 w 4292868"/>
                <a:gd name="connsiteY49" fmla="*/ 241904 h 1156304"/>
                <a:gd name="connsiteX50" fmla="*/ 1472666 w 4292868"/>
                <a:gd name="connsiteY50" fmla="*/ 222653 h 1156304"/>
                <a:gd name="connsiteX51" fmla="*/ 1395663 w 4292868"/>
                <a:gd name="connsiteY51" fmla="*/ 164902 h 1156304"/>
                <a:gd name="connsiteX52" fmla="*/ 1366788 w 4292868"/>
                <a:gd name="connsiteY52" fmla="*/ 126401 h 1156304"/>
                <a:gd name="connsiteX53" fmla="*/ 1203158 w 4292868"/>
                <a:gd name="connsiteY53" fmla="*/ 116776 h 1156304"/>
                <a:gd name="connsiteX54" fmla="*/ 981777 w 4292868"/>
                <a:gd name="connsiteY54" fmla="*/ 107150 h 1156304"/>
                <a:gd name="connsiteX55" fmla="*/ 885524 w 4292868"/>
                <a:gd name="connsiteY55" fmla="*/ 78274 h 1156304"/>
                <a:gd name="connsiteX56" fmla="*/ 837398 w 4292868"/>
                <a:gd name="connsiteY56" fmla="*/ 68649 h 1156304"/>
                <a:gd name="connsiteX57" fmla="*/ 779647 w 4292868"/>
                <a:gd name="connsiteY57" fmla="*/ 49399 h 1156304"/>
                <a:gd name="connsiteX58" fmla="*/ 673769 w 4292868"/>
                <a:gd name="connsiteY58" fmla="*/ 30148 h 1156304"/>
                <a:gd name="connsiteX59" fmla="*/ 558266 w 4292868"/>
                <a:gd name="connsiteY59" fmla="*/ 1272 h 1156304"/>
                <a:gd name="connsiteX60" fmla="*/ 0 w 4292868"/>
                <a:gd name="connsiteY60" fmla="*/ 1272 h 1156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4292868" h="1156304">
                  <a:moveTo>
                    <a:pt x="4292868" y="723167"/>
                  </a:moveTo>
                  <a:cubicBezTo>
                    <a:pt x="4273617" y="719959"/>
                    <a:pt x="4254535" y="711600"/>
                    <a:pt x="4235116" y="713542"/>
                  </a:cubicBezTo>
                  <a:cubicBezTo>
                    <a:pt x="4214020" y="715652"/>
                    <a:pt x="4186179" y="742823"/>
                    <a:pt x="4167739" y="752043"/>
                  </a:cubicBezTo>
                  <a:cubicBezTo>
                    <a:pt x="4158664" y="756580"/>
                    <a:pt x="4148488" y="758460"/>
                    <a:pt x="4138863" y="761668"/>
                  </a:cubicBezTo>
                  <a:cubicBezTo>
                    <a:pt x="4132446" y="774502"/>
                    <a:pt x="4127953" y="788493"/>
                    <a:pt x="4119613" y="800169"/>
                  </a:cubicBezTo>
                  <a:cubicBezTo>
                    <a:pt x="4094802" y="834904"/>
                    <a:pt x="4091657" y="823466"/>
                    <a:pt x="4061861" y="848296"/>
                  </a:cubicBezTo>
                  <a:cubicBezTo>
                    <a:pt x="4003330" y="897072"/>
                    <a:pt x="4065727" y="860800"/>
                    <a:pt x="3994484" y="896422"/>
                  </a:cubicBezTo>
                  <a:cubicBezTo>
                    <a:pt x="3944727" y="971057"/>
                    <a:pt x="3963299" y="932224"/>
                    <a:pt x="3936733" y="1011925"/>
                  </a:cubicBezTo>
                  <a:cubicBezTo>
                    <a:pt x="3933525" y="1021550"/>
                    <a:pt x="3935550" y="1035173"/>
                    <a:pt x="3927108" y="1040801"/>
                  </a:cubicBezTo>
                  <a:cubicBezTo>
                    <a:pt x="3917483" y="1047218"/>
                    <a:pt x="3907119" y="1052645"/>
                    <a:pt x="3898232" y="1060051"/>
                  </a:cubicBezTo>
                  <a:cubicBezTo>
                    <a:pt x="3866301" y="1086660"/>
                    <a:pt x="3876326" y="1090255"/>
                    <a:pt x="3840480" y="1108178"/>
                  </a:cubicBezTo>
                  <a:cubicBezTo>
                    <a:pt x="3831405" y="1112715"/>
                    <a:pt x="3821229" y="1114595"/>
                    <a:pt x="3811604" y="1117803"/>
                  </a:cubicBezTo>
                  <a:cubicBezTo>
                    <a:pt x="3801979" y="1124220"/>
                    <a:pt x="3793300" y="1132355"/>
                    <a:pt x="3782729" y="1137053"/>
                  </a:cubicBezTo>
                  <a:cubicBezTo>
                    <a:pt x="3764186" y="1145294"/>
                    <a:pt x="3724977" y="1156304"/>
                    <a:pt x="3724977" y="1156304"/>
                  </a:cubicBezTo>
                  <a:cubicBezTo>
                    <a:pt x="3638350" y="1153096"/>
                    <a:pt x="3550969" y="1158524"/>
                    <a:pt x="3465095" y="1146679"/>
                  </a:cubicBezTo>
                  <a:cubicBezTo>
                    <a:pt x="3446279" y="1144084"/>
                    <a:pt x="3439761" y="1086387"/>
                    <a:pt x="3436219" y="1079302"/>
                  </a:cubicBezTo>
                  <a:cubicBezTo>
                    <a:pt x="3414252" y="1035368"/>
                    <a:pt x="3405493" y="1022662"/>
                    <a:pt x="3368842" y="1002300"/>
                  </a:cubicBezTo>
                  <a:cubicBezTo>
                    <a:pt x="3256902" y="940111"/>
                    <a:pt x="3278966" y="970747"/>
                    <a:pt x="3080084" y="954173"/>
                  </a:cubicBezTo>
                  <a:cubicBezTo>
                    <a:pt x="3006813" y="929750"/>
                    <a:pt x="3042231" y="938902"/>
                    <a:pt x="2974207" y="925298"/>
                  </a:cubicBezTo>
                  <a:cubicBezTo>
                    <a:pt x="2954956" y="915673"/>
                    <a:pt x="2936998" y="902842"/>
                    <a:pt x="2916455" y="896422"/>
                  </a:cubicBezTo>
                  <a:cubicBezTo>
                    <a:pt x="2885225" y="886662"/>
                    <a:pt x="2820202" y="877171"/>
                    <a:pt x="2820202" y="877171"/>
                  </a:cubicBezTo>
                  <a:cubicBezTo>
                    <a:pt x="2807368" y="870754"/>
                    <a:pt x="2795444" y="862044"/>
                    <a:pt x="2781701" y="857921"/>
                  </a:cubicBezTo>
                  <a:cubicBezTo>
                    <a:pt x="2769566" y="854281"/>
                    <a:pt x="2664227" y="839764"/>
                    <a:pt x="2656573" y="838670"/>
                  </a:cubicBezTo>
                  <a:cubicBezTo>
                    <a:pt x="2646948" y="835462"/>
                    <a:pt x="2637679" y="830860"/>
                    <a:pt x="2627697" y="829045"/>
                  </a:cubicBezTo>
                  <a:cubicBezTo>
                    <a:pt x="2602247" y="824418"/>
                    <a:pt x="2575651" y="826226"/>
                    <a:pt x="2550695" y="819420"/>
                  </a:cubicBezTo>
                  <a:cubicBezTo>
                    <a:pt x="2539534" y="816376"/>
                    <a:pt x="2532899" y="803493"/>
                    <a:pt x="2521819" y="800169"/>
                  </a:cubicBezTo>
                  <a:cubicBezTo>
                    <a:pt x="2500089" y="793650"/>
                    <a:pt x="2476901" y="793752"/>
                    <a:pt x="2454442" y="790544"/>
                  </a:cubicBezTo>
                  <a:cubicBezTo>
                    <a:pt x="2448025" y="780919"/>
                    <a:pt x="2444225" y="768895"/>
                    <a:pt x="2435192" y="761668"/>
                  </a:cubicBezTo>
                  <a:cubicBezTo>
                    <a:pt x="2427269" y="755330"/>
                    <a:pt x="2415391" y="756580"/>
                    <a:pt x="2406316" y="752043"/>
                  </a:cubicBezTo>
                  <a:cubicBezTo>
                    <a:pt x="2395969" y="746870"/>
                    <a:pt x="2388011" y="737490"/>
                    <a:pt x="2377440" y="732792"/>
                  </a:cubicBezTo>
                  <a:cubicBezTo>
                    <a:pt x="2358897" y="724551"/>
                    <a:pt x="2337089" y="723982"/>
                    <a:pt x="2319689" y="713542"/>
                  </a:cubicBezTo>
                  <a:cubicBezTo>
                    <a:pt x="2303647" y="703917"/>
                    <a:pt x="2288295" y="693033"/>
                    <a:pt x="2271562" y="684666"/>
                  </a:cubicBezTo>
                  <a:cubicBezTo>
                    <a:pt x="2251830" y="674800"/>
                    <a:pt x="2212865" y="669077"/>
                    <a:pt x="2194560" y="665416"/>
                  </a:cubicBezTo>
                  <a:cubicBezTo>
                    <a:pt x="2175310" y="655791"/>
                    <a:pt x="2154717" y="648479"/>
                    <a:pt x="2136809" y="636540"/>
                  </a:cubicBezTo>
                  <a:cubicBezTo>
                    <a:pt x="2064711" y="588474"/>
                    <a:pt x="2147715" y="620924"/>
                    <a:pt x="2079057" y="598039"/>
                  </a:cubicBezTo>
                  <a:cubicBezTo>
                    <a:pt x="2069432" y="591622"/>
                    <a:pt x="2058361" y="586968"/>
                    <a:pt x="2050181" y="578788"/>
                  </a:cubicBezTo>
                  <a:cubicBezTo>
                    <a:pt x="2042001" y="570608"/>
                    <a:pt x="2041278" y="555085"/>
                    <a:pt x="2030931" y="549912"/>
                  </a:cubicBezTo>
                  <a:cubicBezTo>
                    <a:pt x="2013475" y="541184"/>
                    <a:pt x="1992430" y="543495"/>
                    <a:pt x="1973179" y="540287"/>
                  </a:cubicBezTo>
                  <a:cubicBezTo>
                    <a:pt x="1966762" y="530662"/>
                    <a:pt x="1962962" y="518638"/>
                    <a:pt x="1953929" y="511411"/>
                  </a:cubicBezTo>
                  <a:cubicBezTo>
                    <a:pt x="1946006" y="505073"/>
                    <a:pt x="1934128" y="506323"/>
                    <a:pt x="1925053" y="501786"/>
                  </a:cubicBezTo>
                  <a:cubicBezTo>
                    <a:pt x="1914706" y="496613"/>
                    <a:pt x="1906748" y="487234"/>
                    <a:pt x="1896177" y="482536"/>
                  </a:cubicBezTo>
                  <a:cubicBezTo>
                    <a:pt x="1877634" y="474295"/>
                    <a:pt x="1856575" y="472360"/>
                    <a:pt x="1838426" y="463285"/>
                  </a:cubicBezTo>
                  <a:cubicBezTo>
                    <a:pt x="1825592" y="456868"/>
                    <a:pt x="1812382" y="451153"/>
                    <a:pt x="1799924" y="444034"/>
                  </a:cubicBezTo>
                  <a:cubicBezTo>
                    <a:pt x="1789880" y="438295"/>
                    <a:pt x="1781396" y="429957"/>
                    <a:pt x="1771049" y="424784"/>
                  </a:cubicBezTo>
                  <a:cubicBezTo>
                    <a:pt x="1761974" y="420247"/>
                    <a:pt x="1751798" y="418367"/>
                    <a:pt x="1742173" y="415159"/>
                  </a:cubicBezTo>
                  <a:cubicBezTo>
                    <a:pt x="1732548" y="408742"/>
                    <a:pt x="1722080" y="403437"/>
                    <a:pt x="1713297" y="395908"/>
                  </a:cubicBezTo>
                  <a:cubicBezTo>
                    <a:pt x="1699517" y="384096"/>
                    <a:pt x="1689565" y="367956"/>
                    <a:pt x="1674796" y="357407"/>
                  </a:cubicBezTo>
                  <a:cubicBezTo>
                    <a:pt x="1666540" y="351510"/>
                    <a:pt x="1655545" y="350990"/>
                    <a:pt x="1645920" y="347782"/>
                  </a:cubicBezTo>
                  <a:cubicBezTo>
                    <a:pt x="1580995" y="282856"/>
                    <a:pt x="1613996" y="298639"/>
                    <a:pt x="1559293" y="280405"/>
                  </a:cubicBezTo>
                  <a:lnTo>
                    <a:pt x="1501541" y="241904"/>
                  </a:lnTo>
                  <a:cubicBezTo>
                    <a:pt x="1491916" y="235487"/>
                    <a:pt x="1481699" y="229879"/>
                    <a:pt x="1472666" y="222653"/>
                  </a:cubicBezTo>
                  <a:cubicBezTo>
                    <a:pt x="1415506" y="176926"/>
                    <a:pt x="1441633" y="195548"/>
                    <a:pt x="1395663" y="164902"/>
                  </a:cubicBezTo>
                  <a:cubicBezTo>
                    <a:pt x="1386038" y="152068"/>
                    <a:pt x="1382351" y="130292"/>
                    <a:pt x="1366788" y="126401"/>
                  </a:cubicBezTo>
                  <a:cubicBezTo>
                    <a:pt x="1313782" y="113149"/>
                    <a:pt x="1257727" y="119505"/>
                    <a:pt x="1203158" y="116776"/>
                  </a:cubicBezTo>
                  <a:lnTo>
                    <a:pt x="981777" y="107150"/>
                  </a:lnTo>
                  <a:cubicBezTo>
                    <a:pt x="933798" y="91157"/>
                    <a:pt x="929159" y="87971"/>
                    <a:pt x="885524" y="78274"/>
                  </a:cubicBezTo>
                  <a:cubicBezTo>
                    <a:pt x="869554" y="74725"/>
                    <a:pt x="853181" y="72953"/>
                    <a:pt x="837398" y="68649"/>
                  </a:cubicBezTo>
                  <a:cubicBezTo>
                    <a:pt x="817821" y="63310"/>
                    <a:pt x="799333" y="54320"/>
                    <a:pt x="779647" y="49399"/>
                  </a:cubicBezTo>
                  <a:cubicBezTo>
                    <a:pt x="743107" y="40264"/>
                    <a:pt x="709724" y="40934"/>
                    <a:pt x="673769" y="30148"/>
                  </a:cubicBezTo>
                  <a:cubicBezTo>
                    <a:pt x="609088" y="10744"/>
                    <a:pt x="636824" y="2481"/>
                    <a:pt x="558266" y="1272"/>
                  </a:cubicBezTo>
                  <a:cubicBezTo>
                    <a:pt x="372199" y="-1591"/>
                    <a:pt x="186089" y="1272"/>
                    <a:pt x="0" y="1272"/>
                  </a:cubicBezTo>
                </a:path>
              </a:pathLst>
            </a:custGeom>
            <a:noFill/>
            <a:ln w="762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任意多边形: 形状 6">
              <a:extLst>
                <a:ext uri="{FF2B5EF4-FFF2-40B4-BE49-F238E27FC236}">
                  <a16:creationId xmlns:a16="http://schemas.microsoft.com/office/drawing/2014/main" xmlns="" id="{6F35572C-D43A-4415-9B2B-45B37F250CB2}"/>
                </a:ext>
              </a:extLst>
            </p:cNvPr>
            <p:cNvSpPr/>
            <p:nvPr/>
          </p:nvSpPr>
          <p:spPr>
            <a:xfrm>
              <a:off x="8681636" y="5168766"/>
              <a:ext cx="394987" cy="1186189"/>
            </a:xfrm>
            <a:custGeom>
              <a:avLst/>
              <a:gdLst>
                <a:gd name="connsiteX0" fmla="*/ 58103 w 394987"/>
                <a:gd name="connsiteY0" fmla="*/ 0 h 1186189"/>
                <a:gd name="connsiteX1" fmla="*/ 48478 w 394987"/>
                <a:gd name="connsiteY1" fmla="*/ 105878 h 1186189"/>
                <a:gd name="connsiteX2" fmla="*/ 38852 w 394987"/>
                <a:gd name="connsiteY2" fmla="*/ 134754 h 1186189"/>
                <a:gd name="connsiteX3" fmla="*/ 9977 w 394987"/>
                <a:gd name="connsiteY3" fmla="*/ 221381 h 1186189"/>
                <a:gd name="connsiteX4" fmla="*/ 9977 w 394987"/>
                <a:gd name="connsiteY4" fmla="*/ 413887 h 1186189"/>
                <a:gd name="connsiteX5" fmla="*/ 29227 w 394987"/>
                <a:gd name="connsiteY5" fmla="*/ 442762 h 1186189"/>
                <a:gd name="connsiteX6" fmla="*/ 67728 w 394987"/>
                <a:gd name="connsiteY6" fmla="*/ 452388 h 1186189"/>
                <a:gd name="connsiteX7" fmla="*/ 86979 w 394987"/>
                <a:gd name="connsiteY7" fmla="*/ 481263 h 1186189"/>
                <a:gd name="connsiteX8" fmla="*/ 115855 w 394987"/>
                <a:gd name="connsiteY8" fmla="*/ 519765 h 1186189"/>
                <a:gd name="connsiteX9" fmla="*/ 163981 w 394987"/>
                <a:gd name="connsiteY9" fmla="*/ 644893 h 1186189"/>
                <a:gd name="connsiteX10" fmla="*/ 183231 w 394987"/>
                <a:gd name="connsiteY10" fmla="*/ 673769 h 1186189"/>
                <a:gd name="connsiteX11" fmla="*/ 212107 w 394987"/>
                <a:gd name="connsiteY11" fmla="*/ 683394 h 1186189"/>
                <a:gd name="connsiteX12" fmla="*/ 269859 w 394987"/>
                <a:gd name="connsiteY12" fmla="*/ 712270 h 1186189"/>
                <a:gd name="connsiteX13" fmla="*/ 298735 w 394987"/>
                <a:gd name="connsiteY13" fmla="*/ 741146 h 1186189"/>
                <a:gd name="connsiteX14" fmla="*/ 327610 w 394987"/>
                <a:gd name="connsiteY14" fmla="*/ 779647 h 1186189"/>
                <a:gd name="connsiteX15" fmla="*/ 356486 w 394987"/>
                <a:gd name="connsiteY15" fmla="*/ 789272 h 1186189"/>
                <a:gd name="connsiteX16" fmla="*/ 375737 w 394987"/>
                <a:gd name="connsiteY16" fmla="*/ 818148 h 1186189"/>
                <a:gd name="connsiteX17" fmla="*/ 385362 w 394987"/>
                <a:gd name="connsiteY17" fmla="*/ 856649 h 1186189"/>
                <a:gd name="connsiteX18" fmla="*/ 394987 w 394987"/>
                <a:gd name="connsiteY18" fmla="*/ 885525 h 1186189"/>
                <a:gd name="connsiteX19" fmla="*/ 385362 w 394987"/>
                <a:gd name="connsiteY19" fmla="*/ 981777 h 1186189"/>
                <a:gd name="connsiteX20" fmla="*/ 346861 w 394987"/>
                <a:gd name="connsiteY20" fmla="*/ 1049154 h 1186189"/>
                <a:gd name="connsiteX21" fmla="*/ 337236 w 394987"/>
                <a:gd name="connsiteY21" fmla="*/ 1078030 h 1186189"/>
                <a:gd name="connsiteX22" fmla="*/ 327610 w 394987"/>
                <a:gd name="connsiteY22" fmla="*/ 1145407 h 1186189"/>
                <a:gd name="connsiteX23" fmla="*/ 317985 w 394987"/>
                <a:gd name="connsiteY23" fmla="*/ 1183908 h 1186189"/>
                <a:gd name="connsiteX24" fmla="*/ 298735 w 394987"/>
                <a:gd name="connsiteY24" fmla="*/ 1183908 h 1186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94987" h="1186189">
                  <a:moveTo>
                    <a:pt x="58103" y="0"/>
                  </a:moveTo>
                  <a:cubicBezTo>
                    <a:pt x="54895" y="35293"/>
                    <a:pt x="53490" y="70796"/>
                    <a:pt x="48478" y="105878"/>
                  </a:cubicBezTo>
                  <a:cubicBezTo>
                    <a:pt x="47043" y="115922"/>
                    <a:pt x="41053" y="124850"/>
                    <a:pt x="38852" y="134754"/>
                  </a:cubicBezTo>
                  <a:cubicBezTo>
                    <a:pt x="21561" y="212563"/>
                    <a:pt x="43469" y="171142"/>
                    <a:pt x="9977" y="221381"/>
                  </a:cubicBezTo>
                  <a:cubicBezTo>
                    <a:pt x="2216" y="298984"/>
                    <a:pt x="-7932" y="336284"/>
                    <a:pt x="9977" y="413887"/>
                  </a:cubicBezTo>
                  <a:cubicBezTo>
                    <a:pt x="12578" y="425159"/>
                    <a:pt x="19602" y="436345"/>
                    <a:pt x="29227" y="442762"/>
                  </a:cubicBezTo>
                  <a:cubicBezTo>
                    <a:pt x="40234" y="450100"/>
                    <a:pt x="54894" y="449179"/>
                    <a:pt x="67728" y="452388"/>
                  </a:cubicBezTo>
                  <a:cubicBezTo>
                    <a:pt x="74145" y="462013"/>
                    <a:pt x="80255" y="471850"/>
                    <a:pt x="86979" y="481263"/>
                  </a:cubicBezTo>
                  <a:cubicBezTo>
                    <a:pt x="96304" y="494317"/>
                    <a:pt x="110782" y="504546"/>
                    <a:pt x="115855" y="519765"/>
                  </a:cubicBezTo>
                  <a:cubicBezTo>
                    <a:pt x="160017" y="652253"/>
                    <a:pt x="97892" y="600833"/>
                    <a:pt x="163981" y="644893"/>
                  </a:cubicBezTo>
                  <a:cubicBezTo>
                    <a:pt x="170398" y="654518"/>
                    <a:pt x="174198" y="666542"/>
                    <a:pt x="183231" y="673769"/>
                  </a:cubicBezTo>
                  <a:cubicBezTo>
                    <a:pt x="191154" y="680107"/>
                    <a:pt x="203032" y="678857"/>
                    <a:pt x="212107" y="683394"/>
                  </a:cubicBezTo>
                  <a:cubicBezTo>
                    <a:pt x="286743" y="720712"/>
                    <a:pt x="197279" y="688077"/>
                    <a:pt x="269859" y="712270"/>
                  </a:cubicBezTo>
                  <a:cubicBezTo>
                    <a:pt x="279484" y="721895"/>
                    <a:pt x="289876" y="730811"/>
                    <a:pt x="298735" y="741146"/>
                  </a:cubicBezTo>
                  <a:cubicBezTo>
                    <a:pt x="309175" y="753326"/>
                    <a:pt x="315286" y="769377"/>
                    <a:pt x="327610" y="779647"/>
                  </a:cubicBezTo>
                  <a:cubicBezTo>
                    <a:pt x="335404" y="786142"/>
                    <a:pt x="346861" y="786064"/>
                    <a:pt x="356486" y="789272"/>
                  </a:cubicBezTo>
                  <a:cubicBezTo>
                    <a:pt x="362903" y="798897"/>
                    <a:pt x="371180" y="807515"/>
                    <a:pt x="375737" y="818148"/>
                  </a:cubicBezTo>
                  <a:cubicBezTo>
                    <a:pt x="380948" y="830307"/>
                    <a:pt x="381728" y="843929"/>
                    <a:pt x="385362" y="856649"/>
                  </a:cubicBezTo>
                  <a:cubicBezTo>
                    <a:pt x="388149" y="866405"/>
                    <a:pt x="391779" y="875900"/>
                    <a:pt x="394987" y="885525"/>
                  </a:cubicBezTo>
                  <a:cubicBezTo>
                    <a:pt x="391779" y="917609"/>
                    <a:pt x="392118" y="950249"/>
                    <a:pt x="385362" y="981777"/>
                  </a:cubicBezTo>
                  <a:cubicBezTo>
                    <a:pt x="379035" y="1011304"/>
                    <a:pt x="359480" y="1023916"/>
                    <a:pt x="346861" y="1049154"/>
                  </a:cubicBezTo>
                  <a:cubicBezTo>
                    <a:pt x="342324" y="1058229"/>
                    <a:pt x="340444" y="1068405"/>
                    <a:pt x="337236" y="1078030"/>
                  </a:cubicBezTo>
                  <a:cubicBezTo>
                    <a:pt x="334027" y="1100489"/>
                    <a:pt x="331668" y="1123086"/>
                    <a:pt x="327610" y="1145407"/>
                  </a:cubicBezTo>
                  <a:cubicBezTo>
                    <a:pt x="325244" y="1158422"/>
                    <a:pt x="325922" y="1173325"/>
                    <a:pt x="317985" y="1183908"/>
                  </a:cubicBezTo>
                  <a:cubicBezTo>
                    <a:pt x="314135" y="1189041"/>
                    <a:pt x="305152" y="1183908"/>
                    <a:pt x="298735" y="1183908"/>
                  </a:cubicBezTo>
                </a:path>
              </a:pathLst>
            </a:cu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任意多边形: 形状 7">
              <a:extLst>
                <a:ext uri="{FF2B5EF4-FFF2-40B4-BE49-F238E27FC236}">
                  <a16:creationId xmlns:a16="http://schemas.microsoft.com/office/drawing/2014/main" xmlns="" id="{4A83FCE8-C529-4F49-99F4-9602F4B23488}"/>
                </a:ext>
              </a:extLst>
            </p:cNvPr>
            <p:cNvSpPr/>
            <p:nvPr/>
          </p:nvSpPr>
          <p:spPr>
            <a:xfrm>
              <a:off x="7652084" y="5082139"/>
              <a:ext cx="933651" cy="911765"/>
            </a:xfrm>
            <a:custGeom>
              <a:avLst/>
              <a:gdLst>
                <a:gd name="connsiteX0" fmla="*/ 933651 w 933651"/>
                <a:gd name="connsiteY0" fmla="*/ 0 h 911765"/>
                <a:gd name="connsiteX1" fmla="*/ 702644 w 933651"/>
                <a:gd name="connsiteY1" fmla="*/ 9625 h 911765"/>
                <a:gd name="connsiteX2" fmla="*/ 664143 w 933651"/>
                <a:gd name="connsiteY2" fmla="*/ 19250 h 911765"/>
                <a:gd name="connsiteX3" fmla="*/ 635268 w 933651"/>
                <a:gd name="connsiteY3" fmla="*/ 38501 h 911765"/>
                <a:gd name="connsiteX4" fmla="*/ 616017 w 933651"/>
                <a:gd name="connsiteY4" fmla="*/ 250257 h 911765"/>
                <a:gd name="connsiteX5" fmla="*/ 596767 w 933651"/>
                <a:gd name="connsiteY5" fmla="*/ 298383 h 911765"/>
                <a:gd name="connsiteX6" fmla="*/ 606392 w 933651"/>
                <a:gd name="connsiteY6" fmla="*/ 510139 h 911765"/>
                <a:gd name="connsiteX7" fmla="*/ 635268 w 933651"/>
                <a:gd name="connsiteY7" fmla="*/ 539015 h 911765"/>
                <a:gd name="connsiteX8" fmla="*/ 654518 w 933651"/>
                <a:gd name="connsiteY8" fmla="*/ 577516 h 911765"/>
                <a:gd name="connsiteX9" fmla="*/ 702644 w 933651"/>
                <a:gd name="connsiteY9" fmla="*/ 644893 h 911765"/>
                <a:gd name="connsiteX10" fmla="*/ 721895 w 933651"/>
                <a:gd name="connsiteY10" fmla="*/ 702644 h 911765"/>
                <a:gd name="connsiteX11" fmla="*/ 0 w 933651"/>
                <a:gd name="connsiteY11" fmla="*/ 837398 h 911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33651" h="911765">
                  <a:moveTo>
                    <a:pt x="933651" y="0"/>
                  </a:moveTo>
                  <a:cubicBezTo>
                    <a:pt x="856649" y="3208"/>
                    <a:pt x="779517" y="4134"/>
                    <a:pt x="702644" y="9625"/>
                  </a:cubicBezTo>
                  <a:cubicBezTo>
                    <a:pt x="689449" y="10567"/>
                    <a:pt x="676302" y="14039"/>
                    <a:pt x="664143" y="19250"/>
                  </a:cubicBezTo>
                  <a:cubicBezTo>
                    <a:pt x="653510" y="23807"/>
                    <a:pt x="644893" y="32084"/>
                    <a:pt x="635268" y="38501"/>
                  </a:cubicBezTo>
                  <a:cubicBezTo>
                    <a:pt x="602623" y="136430"/>
                    <a:pt x="648522" y="-9791"/>
                    <a:pt x="616017" y="250257"/>
                  </a:cubicBezTo>
                  <a:cubicBezTo>
                    <a:pt x="613874" y="267401"/>
                    <a:pt x="603184" y="282341"/>
                    <a:pt x="596767" y="298383"/>
                  </a:cubicBezTo>
                  <a:cubicBezTo>
                    <a:pt x="589631" y="384008"/>
                    <a:pt x="575154" y="428920"/>
                    <a:pt x="606392" y="510139"/>
                  </a:cubicBezTo>
                  <a:cubicBezTo>
                    <a:pt x="611279" y="522844"/>
                    <a:pt x="625643" y="529390"/>
                    <a:pt x="635268" y="539015"/>
                  </a:cubicBezTo>
                  <a:cubicBezTo>
                    <a:pt x="641685" y="551849"/>
                    <a:pt x="646178" y="565840"/>
                    <a:pt x="654518" y="577516"/>
                  </a:cubicBezTo>
                  <a:cubicBezTo>
                    <a:pt x="696805" y="636719"/>
                    <a:pt x="673864" y="572944"/>
                    <a:pt x="702644" y="644893"/>
                  </a:cubicBezTo>
                  <a:cubicBezTo>
                    <a:pt x="710180" y="663733"/>
                    <a:pt x="721895" y="702644"/>
                    <a:pt x="721895" y="702644"/>
                  </a:cubicBezTo>
                  <a:cubicBezTo>
                    <a:pt x="695355" y="1074218"/>
                    <a:pt x="757302" y="837398"/>
                    <a:pt x="0" y="837398"/>
                  </a:cubicBezTo>
                </a:path>
              </a:pathLst>
            </a:cu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a:extLst>
                <a:ext uri="{FF2B5EF4-FFF2-40B4-BE49-F238E27FC236}">
                  <a16:creationId xmlns:a16="http://schemas.microsoft.com/office/drawing/2014/main" xmlns="" id="{EE0AD41F-F21E-47E1-BDC1-BB024AC62C42}"/>
                </a:ext>
              </a:extLst>
            </p:cNvPr>
            <p:cNvSpPr/>
            <p:nvPr/>
          </p:nvSpPr>
          <p:spPr>
            <a:xfrm>
              <a:off x="7334451" y="4032985"/>
              <a:ext cx="346509" cy="1703704"/>
            </a:xfrm>
            <a:custGeom>
              <a:avLst/>
              <a:gdLst>
                <a:gd name="connsiteX0" fmla="*/ 346509 w 346509"/>
                <a:gd name="connsiteY0" fmla="*/ 0 h 1703704"/>
                <a:gd name="connsiteX1" fmla="*/ 308008 w 346509"/>
                <a:gd name="connsiteY1" fmla="*/ 67377 h 1703704"/>
                <a:gd name="connsiteX2" fmla="*/ 288757 w 346509"/>
                <a:gd name="connsiteY2" fmla="*/ 96253 h 1703704"/>
                <a:gd name="connsiteX3" fmla="*/ 259882 w 346509"/>
                <a:gd name="connsiteY3" fmla="*/ 154004 h 1703704"/>
                <a:gd name="connsiteX4" fmla="*/ 231006 w 346509"/>
                <a:gd name="connsiteY4" fmla="*/ 211756 h 1703704"/>
                <a:gd name="connsiteX5" fmla="*/ 202130 w 346509"/>
                <a:gd name="connsiteY5" fmla="*/ 231007 h 1703704"/>
                <a:gd name="connsiteX6" fmla="*/ 154004 w 346509"/>
                <a:gd name="connsiteY6" fmla="*/ 308009 h 1703704"/>
                <a:gd name="connsiteX7" fmla="*/ 115503 w 346509"/>
                <a:gd name="connsiteY7" fmla="*/ 375386 h 1703704"/>
                <a:gd name="connsiteX8" fmla="*/ 105877 w 346509"/>
                <a:gd name="connsiteY8" fmla="*/ 413887 h 1703704"/>
                <a:gd name="connsiteX9" fmla="*/ 86627 w 346509"/>
                <a:gd name="connsiteY9" fmla="*/ 442762 h 1703704"/>
                <a:gd name="connsiteX10" fmla="*/ 77002 w 346509"/>
                <a:gd name="connsiteY10" fmla="*/ 471638 h 1703704"/>
                <a:gd name="connsiteX11" fmla="*/ 105877 w 346509"/>
                <a:gd name="connsiteY11" fmla="*/ 539015 h 1703704"/>
                <a:gd name="connsiteX12" fmla="*/ 134753 w 346509"/>
                <a:gd name="connsiteY12" fmla="*/ 548640 h 1703704"/>
                <a:gd name="connsiteX13" fmla="*/ 192505 w 346509"/>
                <a:gd name="connsiteY13" fmla="*/ 606392 h 1703704"/>
                <a:gd name="connsiteX14" fmla="*/ 250256 w 346509"/>
                <a:gd name="connsiteY14" fmla="*/ 654518 h 1703704"/>
                <a:gd name="connsiteX15" fmla="*/ 279132 w 346509"/>
                <a:gd name="connsiteY15" fmla="*/ 664143 h 1703704"/>
                <a:gd name="connsiteX16" fmla="*/ 308008 w 346509"/>
                <a:gd name="connsiteY16" fmla="*/ 904775 h 1703704"/>
                <a:gd name="connsiteX17" fmla="*/ 250256 w 346509"/>
                <a:gd name="connsiteY17" fmla="*/ 952901 h 1703704"/>
                <a:gd name="connsiteX18" fmla="*/ 192505 w 346509"/>
                <a:gd name="connsiteY18" fmla="*/ 1039529 h 1703704"/>
                <a:gd name="connsiteX19" fmla="*/ 173254 w 346509"/>
                <a:gd name="connsiteY19" fmla="*/ 1116531 h 1703704"/>
                <a:gd name="connsiteX20" fmla="*/ 163629 w 346509"/>
                <a:gd name="connsiteY20" fmla="*/ 1453415 h 1703704"/>
                <a:gd name="connsiteX21" fmla="*/ 115503 w 346509"/>
                <a:gd name="connsiteY21" fmla="*/ 1520792 h 1703704"/>
                <a:gd name="connsiteX22" fmla="*/ 57751 w 346509"/>
                <a:gd name="connsiteY22" fmla="*/ 1588169 h 1703704"/>
                <a:gd name="connsiteX23" fmla="*/ 28875 w 346509"/>
                <a:gd name="connsiteY23" fmla="*/ 1655546 h 1703704"/>
                <a:gd name="connsiteX24" fmla="*/ 0 w 346509"/>
                <a:gd name="connsiteY24" fmla="*/ 1703672 h 1703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46509" h="1703704">
                  <a:moveTo>
                    <a:pt x="346509" y="0"/>
                  </a:moveTo>
                  <a:cubicBezTo>
                    <a:pt x="333675" y="22459"/>
                    <a:pt x="321317" y="45196"/>
                    <a:pt x="308008" y="67377"/>
                  </a:cubicBezTo>
                  <a:cubicBezTo>
                    <a:pt x="302056" y="77297"/>
                    <a:pt x="294375" y="86141"/>
                    <a:pt x="288757" y="96253"/>
                  </a:cubicBezTo>
                  <a:cubicBezTo>
                    <a:pt x="278305" y="115067"/>
                    <a:pt x="268623" y="134337"/>
                    <a:pt x="259882" y="154004"/>
                  </a:cubicBezTo>
                  <a:cubicBezTo>
                    <a:pt x="247358" y="182184"/>
                    <a:pt x="255017" y="187744"/>
                    <a:pt x="231006" y="211756"/>
                  </a:cubicBezTo>
                  <a:cubicBezTo>
                    <a:pt x="222826" y="219936"/>
                    <a:pt x="211755" y="224590"/>
                    <a:pt x="202130" y="231007"/>
                  </a:cubicBezTo>
                  <a:cubicBezTo>
                    <a:pt x="182072" y="261094"/>
                    <a:pt x="173355" y="273178"/>
                    <a:pt x="154004" y="308009"/>
                  </a:cubicBezTo>
                  <a:cubicBezTo>
                    <a:pt x="113296" y="381283"/>
                    <a:pt x="155840" y="314879"/>
                    <a:pt x="115503" y="375386"/>
                  </a:cubicBezTo>
                  <a:cubicBezTo>
                    <a:pt x="112294" y="388220"/>
                    <a:pt x="111088" y="401728"/>
                    <a:pt x="105877" y="413887"/>
                  </a:cubicBezTo>
                  <a:cubicBezTo>
                    <a:pt x="101320" y="424519"/>
                    <a:pt x="91800" y="432415"/>
                    <a:pt x="86627" y="442762"/>
                  </a:cubicBezTo>
                  <a:cubicBezTo>
                    <a:pt x="82090" y="451837"/>
                    <a:pt x="80210" y="462013"/>
                    <a:pt x="77002" y="471638"/>
                  </a:cubicBezTo>
                  <a:cubicBezTo>
                    <a:pt x="86627" y="494097"/>
                    <a:pt x="91216" y="519467"/>
                    <a:pt x="105877" y="539015"/>
                  </a:cubicBezTo>
                  <a:cubicBezTo>
                    <a:pt x="111965" y="547132"/>
                    <a:pt x="126744" y="542411"/>
                    <a:pt x="134753" y="548640"/>
                  </a:cubicBezTo>
                  <a:cubicBezTo>
                    <a:pt x="156243" y="565354"/>
                    <a:pt x="173254" y="587141"/>
                    <a:pt x="192505" y="606392"/>
                  </a:cubicBezTo>
                  <a:cubicBezTo>
                    <a:pt x="213791" y="627678"/>
                    <a:pt x="223456" y="641118"/>
                    <a:pt x="250256" y="654518"/>
                  </a:cubicBezTo>
                  <a:cubicBezTo>
                    <a:pt x="259331" y="659055"/>
                    <a:pt x="269507" y="660935"/>
                    <a:pt x="279132" y="664143"/>
                  </a:cubicBezTo>
                  <a:cubicBezTo>
                    <a:pt x="343570" y="760800"/>
                    <a:pt x="339757" y="730153"/>
                    <a:pt x="308008" y="904775"/>
                  </a:cubicBezTo>
                  <a:cubicBezTo>
                    <a:pt x="305452" y="918832"/>
                    <a:pt x="261139" y="945646"/>
                    <a:pt x="250256" y="952901"/>
                  </a:cubicBezTo>
                  <a:cubicBezTo>
                    <a:pt x="233616" y="975089"/>
                    <a:pt x="202276" y="1014125"/>
                    <a:pt x="192505" y="1039529"/>
                  </a:cubicBezTo>
                  <a:cubicBezTo>
                    <a:pt x="183007" y="1064223"/>
                    <a:pt x="173254" y="1116531"/>
                    <a:pt x="173254" y="1116531"/>
                  </a:cubicBezTo>
                  <a:cubicBezTo>
                    <a:pt x="170046" y="1228826"/>
                    <a:pt x="172245" y="1341405"/>
                    <a:pt x="163629" y="1453415"/>
                  </a:cubicBezTo>
                  <a:cubicBezTo>
                    <a:pt x="161265" y="1484141"/>
                    <a:pt x="132728" y="1500696"/>
                    <a:pt x="115503" y="1520792"/>
                  </a:cubicBezTo>
                  <a:cubicBezTo>
                    <a:pt x="41425" y="1607217"/>
                    <a:pt x="129395" y="1516525"/>
                    <a:pt x="57751" y="1588169"/>
                  </a:cubicBezTo>
                  <a:cubicBezTo>
                    <a:pt x="37719" y="1668299"/>
                    <a:pt x="62111" y="1589073"/>
                    <a:pt x="28875" y="1655546"/>
                  </a:cubicBezTo>
                  <a:cubicBezTo>
                    <a:pt x="3323" y="1706651"/>
                    <a:pt x="27852" y="1703672"/>
                    <a:pt x="0" y="1703672"/>
                  </a:cubicBezTo>
                </a:path>
              </a:pathLst>
            </a:cu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9">
              <a:extLst>
                <a:ext uri="{FF2B5EF4-FFF2-40B4-BE49-F238E27FC236}">
                  <a16:creationId xmlns:a16="http://schemas.microsoft.com/office/drawing/2014/main" xmlns="" id="{A02D8818-91DE-4475-947C-1F25BEA6746F}"/>
                </a:ext>
              </a:extLst>
            </p:cNvPr>
            <p:cNvSpPr/>
            <p:nvPr/>
          </p:nvSpPr>
          <p:spPr>
            <a:xfrm>
              <a:off x="6651057" y="3877426"/>
              <a:ext cx="433137" cy="1618599"/>
            </a:xfrm>
            <a:custGeom>
              <a:avLst/>
              <a:gdLst>
                <a:gd name="connsiteX0" fmla="*/ 298383 w 433137"/>
                <a:gd name="connsiteY0" fmla="*/ 20806 h 1618599"/>
                <a:gd name="connsiteX1" fmla="*/ 86627 w 433137"/>
                <a:gd name="connsiteY1" fmla="*/ 11180 h 1618599"/>
                <a:gd name="connsiteX2" fmla="*/ 48126 w 433137"/>
                <a:gd name="connsiteY2" fmla="*/ 30431 h 1618599"/>
                <a:gd name="connsiteX3" fmla="*/ 19250 w 433137"/>
                <a:gd name="connsiteY3" fmla="*/ 68932 h 1618599"/>
                <a:gd name="connsiteX4" fmla="*/ 0 w 433137"/>
                <a:gd name="connsiteY4" fmla="*/ 145934 h 1618599"/>
                <a:gd name="connsiteX5" fmla="*/ 9625 w 433137"/>
                <a:gd name="connsiteY5" fmla="*/ 299938 h 1618599"/>
                <a:gd name="connsiteX6" fmla="*/ 38501 w 433137"/>
                <a:gd name="connsiteY6" fmla="*/ 319189 h 1618599"/>
                <a:gd name="connsiteX7" fmla="*/ 86627 w 433137"/>
                <a:gd name="connsiteY7" fmla="*/ 357690 h 1618599"/>
                <a:gd name="connsiteX8" fmla="*/ 115503 w 433137"/>
                <a:gd name="connsiteY8" fmla="*/ 376940 h 1618599"/>
                <a:gd name="connsiteX9" fmla="*/ 173255 w 433137"/>
                <a:gd name="connsiteY9" fmla="*/ 415441 h 1618599"/>
                <a:gd name="connsiteX10" fmla="*/ 202130 w 433137"/>
                <a:gd name="connsiteY10" fmla="*/ 463568 h 1618599"/>
                <a:gd name="connsiteX11" fmla="*/ 211756 w 433137"/>
                <a:gd name="connsiteY11" fmla="*/ 492443 h 1618599"/>
                <a:gd name="connsiteX12" fmla="*/ 250257 w 433137"/>
                <a:gd name="connsiteY12" fmla="*/ 511694 h 1618599"/>
                <a:gd name="connsiteX13" fmla="*/ 269507 w 433137"/>
                <a:gd name="connsiteY13" fmla="*/ 569446 h 1618599"/>
                <a:gd name="connsiteX14" fmla="*/ 308008 w 433137"/>
                <a:gd name="connsiteY14" fmla="*/ 636822 h 1618599"/>
                <a:gd name="connsiteX15" fmla="*/ 317634 w 433137"/>
                <a:gd name="connsiteY15" fmla="*/ 675323 h 1618599"/>
                <a:gd name="connsiteX16" fmla="*/ 346509 w 433137"/>
                <a:gd name="connsiteY16" fmla="*/ 713825 h 1618599"/>
                <a:gd name="connsiteX17" fmla="*/ 365760 w 433137"/>
                <a:gd name="connsiteY17" fmla="*/ 742700 h 1618599"/>
                <a:gd name="connsiteX18" fmla="*/ 375385 w 433137"/>
                <a:gd name="connsiteY18" fmla="*/ 771576 h 1618599"/>
                <a:gd name="connsiteX19" fmla="*/ 433137 w 433137"/>
                <a:gd name="connsiteY19" fmla="*/ 848578 h 1618599"/>
                <a:gd name="connsiteX20" fmla="*/ 423511 w 433137"/>
                <a:gd name="connsiteY20" fmla="*/ 954456 h 1618599"/>
                <a:gd name="connsiteX21" fmla="*/ 394636 w 433137"/>
                <a:gd name="connsiteY21" fmla="*/ 973707 h 1618599"/>
                <a:gd name="connsiteX22" fmla="*/ 385010 w 433137"/>
                <a:gd name="connsiteY22" fmla="*/ 1012208 h 1618599"/>
                <a:gd name="connsiteX23" fmla="*/ 375385 w 433137"/>
                <a:gd name="connsiteY23" fmla="*/ 1041083 h 1618599"/>
                <a:gd name="connsiteX24" fmla="*/ 356135 w 433137"/>
                <a:gd name="connsiteY24" fmla="*/ 1069959 h 1618599"/>
                <a:gd name="connsiteX25" fmla="*/ 308008 w 433137"/>
                <a:gd name="connsiteY25" fmla="*/ 1137336 h 1618599"/>
                <a:gd name="connsiteX26" fmla="*/ 250257 w 433137"/>
                <a:gd name="connsiteY26" fmla="*/ 1223963 h 1618599"/>
                <a:gd name="connsiteX27" fmla="*/ 221381 w 433137"/>
                <a:gd name="connsiteY27" fmla="*/ 1300966 h 1618599"/>
                <a:gd name="connsiteX28" fmla="*/ 211756 w 433137"/>
                <a:gd name="connsiteY28" fmla="*/ 1329841 h 1618599"/>
                <a:gd name="connsiteX29" fmla="*/ 173255 w 433137"/>
                <a:gd name="connsiteY29" fmla="*/ 1387593 h 1618599"/>
                <a:gd name="connsiteX30" fmla="*/ 154004 w 433137"/>
                <a:gd name="connsiteY30" fmla="*/ 1416469 h 1618599"/>
                <a:gd name="connsiteX31" fmla="*/ 125128 w 433137"/>
                <a:gd name="connsiteY31" fmla="*/ 1483846 h 1618599"/>
                <a:gd name="connsiteX32" fmla="*/ 96252 w 433137"/>
                <a:gd name="connsiteY32" fmla="*/ 1512721 h 1618599"/>
                <a:gd name="connsiteX33" fmla="*/ 86627 w 433137"/>
                <a:gd name="connsiteY33" fmla="*/ 1560848 h 1618599"/>
                <a:gd name="connsiteX34" fmla="*/ 67377 w 433137"/>
                <a:gd name="connsiteY34" fmla="*/ 1618599 h 1618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433137" h="1618599">
                  <a:moveTo>
                    <a:pt x="298383" y="20806"/>
                  </a:moveTo>
                  <a:cubicBezTo>
                    <a:pt x="197966" y="722"/>
                    <a:pt x="194921" y="-9125"/>
                    <a:pt x="86627" y="11180"/>
                  </a:cubicBezTo>
                  <a:cubicBezTo>
                    <a:pt x="72524" y="13824"/>
                    <a:pt x="60960" y="24014"/>
                    <a:pt x="48126" y="30431"/>
                  </a:cubicBezTo>
                  <a:cubicBezTo>
                    <a:pt x="38501" y="43265"/>
                    <a:pt x="27209" y="55004"/>
                    <a:pt x="19250" y="68932"/>
                  </a:cubicBezTo>
                  <a:cubicBezTo>
                    <a:pt x="10144" y="84868"/>
                    <a:pt x="2437" y="133749"/>
                    <a:pt x="0" y="145934"/>
                  </a:cubicBezTo>
                  <a:cubicBezTo>
                    <a:pt x="3208" y="197269"/>
                    <a:pt x="-1533" y="249728"/>
                    <a:pt x="9625" y="299938"/>
                  </a:cubicBezTo>
                  <a:cubicBezTo>
                    <a:pt x="12135" y="311231"/>
                    <a:pt x="29246" y="312248"/>
                    <a:pt x="38501" y="319189"/>
                  </a:cubicBezTo>
                  <a:cubicBezTo>
                    <a:pt x="54936" y="331515"/>
                    <a:pt x="70192" y="345364"/>
                    <a:pt x="86627" y="357690"/>
                  </a:cubicBezTo>
                  <a:cubicBezTo>
                    <a:pt x="95881" y="364631"/>
                    <a:pt x="106616" y="369534"/>
                    <a:pt x="115503" y="376940"/>
                  </a:cubicBezTo>
                  <a:cubicBezTo>
                    <a:pt x="163571" y="416996"/>
                    <a:pt x="122508" y="398526"/>
                    <a:pt x="173255" y="415441"/>
                  </a:cubicBezTo>
                  <a:cubicBezTo>
                    <a:pt x="182880" y="431483"/>
                    <a:pt x="193763" y="446835"/>
                    <a:pt x="202130" y="463568"/>
                  </a:cubicBezTo>
                  <a:cubicBezTo>
                    <a:pt x="206667" y="472643"/>
                    <a:pt x="204582" y="485269"/>
                    <a:pt x="211756" y="492443"/>
                  </a:cubicBezTo>
                  <a:cubicBezTo>
                    <a:pt x="221902" y="502589"/>
                    <a:pt x="237423" y="505277"/>
                    <a:pt x="250257" y="511694"/>
                  </a:cubicBezTo>
                  <a:cubicBezTo>
                    <a:pt x="256674" y="530945"/>
                    <a:pt x="258251" y="552562"/>
                    <a:pt x="269507" y="569446"/>
                  </a:cubicBezTo>
                  <a:cubicBezTo>
                    <a:pt x="285467" y="593385"/>
                    <a:pt x="297539" y="608904"/>
                    <a:pt x="308008" y="636822"/>
                  </a:cubicBezTo>
                  <a:cubicBezTo>
                    <a:pt x="312653" y="649208"/>
                    <a:pt x="311718" y="663491"/>
                    <a:pt x="317634" y="675323"/>
                  </a:cubicBezTo>
                  <a:cubicBezTo>
                    <a:pt x="324808" y="689672"/>
                    <a:pt x="337185" y="700771"/>
                    <a:pt x="346509" y="713825"/>
                  </a:cubicBezTo>
                  <a:cubicBezTo>
                    <a:pt x="353233" y="723238"/>
                    <a:pt x="359343" y="733075"/>
                    <a:pt x="365760" y="742700"/>
                  </a:cubicBezTo>
                  <a:cubicBezTo>
                    <a:pt x="368968" y="752325"/>
                    <a:pt x="369938" y="763016"/>
                    <a:pt x="375385" y="771576"/>
                  </a:cubicBezTo>
                  <a:cubicBezTo>
                    <a:pt x="392610" y="798644"/>
                    <a:pt x="433137" y="848578"/>
                    <a:pt x="433137" y="848578"/>
                  </a:cubicBezTo>
                  <a:cubicBezTo>
                    <a:pt x="429928" y="883871"/>
                    <a:pt x="433933" y="920585"/>
                    <a:pt x="423511" y="954456"/>
                  </a:cubicBezTo>
                  <a:cubicBezTo>
                    <a:pt x="420109" y="965512"/>
                    <a:pt x="401053" y="964082"/>
                    <a:pt x="394636" y="973707"/>
                  </a:cubicBezTo>
                  <a:cubicBezTo>
                    <a:pt x="387298" y="984714"/>
                    <a:pt x="388644" y="999488"/>
                    <a:pt x="385010" y="1012208"/>
                  </a:cubicBezTo>
                  <a:cubicBezTo>
                    <a:pt x="382223" y="1021963"/>
                    <a:pt x="379922" y="1032008"/>
                    <a:pt x="375385" y="1041083"/>
                  </a:cubicBezTo>
                  <a:cubicBezTo>
                    <a:pt x="370212" y="1051430"/>
                    <a:pt x="362859" y="1060546"/>
                    <a:pt x="356135" y="1069959"/>
                  </a:cubicBezTo>
                  <a:cubicBezTo>
                    <a:pt x="296422" y="1153558"/>
                    <a:pt x="353389" y="1069265"/>
                    <a:pt x="308008" y="1137336"/>
                  </a:cubicBezTo>
                  <a:cubicBezTo>
                    <a:pt x="283685" y="1210307"/>
                    <a:pt x="304992" y="1182913"/>
                    <a:pt x="250257" y="1223963"/>
                  </a:cubicBezTo>
                  <a:cubicBezTo>
                    <a:pt x="231685" y="1316816"/>
                    <a:pt x="254427" y="1234873"/>
                    <a:pt x="221381" y="1300966"/>
                  </a:cubicBezTo>
                  <a:cubicBezTo>
                    <a:pt x="216844" y="1310041"/>
                    <a:pt x="216683" y="1320972"/>
                    <a:pt x="211756" y="1329841"/>
                  </a:cubicBezTo>
                  <a:cubicBezTo>
                    <a:pt x="200520" y="1350066"/>
                    <a:pt x="186089" y="1368342"/>
                    <a:pt x="173255" y="1387593"/>
                  </a:cubicBezTo>
                  <a:lnTo>
                    <a:pt x="154004" y="1416469"/>
                  </a:lnTo>
                  <a:cubicBezTo>
                    <a:pt x="146149" y="1440035"/>
                    <a:pt x="139997" y="1463030"/>
                    <a:pt x="125128" y="1483846"/>
                  </a:cubicBezTo>
                  <a:cubicBezTo>
                    <a:pt x="117216" y="1494922"/>
                    <a:pt x="105877" y="1503096"/>
                    <a:pt x="96252" y="1512721"/>
                  </a:cubicBezTo>
                  <a:cubicBezTo>
                    <a:pt x="93044" y="1528763"/>
                    <a:pt x="92371" y="1545530"/>
                    <a:pt x="86627" y="1560848"/>
                  </a:cubicBezTo>
                  <a:cubicBezTo>
                    <a:pt x="62038" y="1626421"/>
                    <a:pt x="67377" y="1554284"/>
                    <a:pt x="67377" y="1618599"/>
                  </a:cubicBezTo>
                </a:path>
              </a:pathLst>
            </a:cu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形状 10">
              <a:extLst>
                <a:ext uri="{FF2B5EF4-FFF2-40B4-BE49-F238E27FC236}">
                  <a16:creationId xmlns:a16="http://schemas.microsoft.com/office/drawing/2014/main" xmlns="" id="{D469BFB8-E73A-4F2B-93E2-A383E2EB2189}"/>
                </a:ext>
              </a:extLst>
            </p:cNvPr>
            <p:cNvSpPr/>
            <p:nvPr/>
          </p:nvSpPr>
          <p:spPr>
            <a:xfrm>
              <a:off x="9557886" y="5582653"/>
              <a:ext cx="308009" cy="683393"/>
            </a:xfrm>
            <a:custGeom>
              <a:avLst/>
              <a:gdLst>
                <a:gd name="connsiteX0" fmla="*/ 308009 w 308009"/>
                <a:gd name="connsiteY0" fmla="*/ 0 h 683393"/>
                <a:gd name="connsiteX1" fmla="*/ 269508 w 308009"/>
                <a:gd name="connsiteY1" fmla="*/ 48126 h 683393"/>
                <a:gd name="connsiteX2" fmla="*/ 211756 w 308009"/>
                <a:gd name="connsiteY2" fmla="*/ 67376 h 683393"/>
                <a:gd name="connsiteX3" fmla="*/ 182880 w 308009"/>
                <a:gd name="connsiteY3" fmla="*/ 77002 h 683393"/>
                <a:gd name="connsiteX4" fmla="*/ 134754 w 308009"/>
                <a:gd name="connsiteY4" fmla="*/ 115503 h 683393"/>
                <a:gd name="connsiteX5" fmla="*/ 77002 w 308009"/>
                <a:gd name="connsiteY5" fmla="*/ 154004 h 683393"/>
                <a:gd name="connsiteX6" fmla="*/ 48127 w 308009"/>
                <a:gd name="connsiteY6" fmla="*/ 182880 h 683393"/>
                <a:gd name="connsiteX7" fmla="*/ 19251 w 308009"/>
                <a:gd name="connsiteY7" fmla="*/ 202130 h 683393"/>
                <a:gd name="connsiteX8" fmla="*/ 0 w 308009"/>
                <a:gd name="connsiteY8" fmla="*/ 231006 h 683393"/>
                <a:gd name="connsiteX9" fmla="*/ 9626 w 308009"/>
                <a:gd name="connsiteY9" fmla="*/ 365760 h 683393"/>
                <a:gd name="connsiteX10" fmla="*/ 28876 w 308009"/>
                <a:gd name="connsiteY10" fmla="*/ 394635 h 683393"/>
                <a:gd name="connsiteX11" fmla="*/ 38501 w 308009"/>
                <a:gd name="connsiteY11" fmla="*/ 433136 h 683393"/>
                <a:gd name="connsiteX12" fmla="*/ 67377 w 308009"/>
                <a:gd name="connsiteY12" fmla="*/ 548640 h 683393"/>
                <a:gd name="connsiteX13" fmla="*/ 96253 w 308009"/>
                <a:gd name="connsiteY13" fmla="*/ 664143 h 683393"/>
                <a:gd name="connsiteX14" fmla="*/ 115503 w 308009"/>
                <a:gd name="connsiteY14" fmla="*/ 683393 h 68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8009" h="683393">
                  <a:moveTo>
                    <a:pt x="308009" y="0"/>
                  </a:moveTo>
                  <a:cubicBezTo>
                    <a:pt x="295175" y="16042"/>
                    <a:pt x="286338" y="36345"/>
                    <a:pt x="269508" y="48126"/>
                  </a:cubicBezTo>
                  <a:cubicBezTo>
                    <a:pt x="252884" y="59763"/>
                    <a:pt x="231007" y="60959"/>
                    <a:pt x="211756" y="67376"/>
                  </a:cubicBezTo>
                  <a:lnTo>
                    <a:pt x="182880" y="77002"/>
                  </a:lnTo>
                  <a:cubicBezTo>
                    <a:pt x="139829" y="141581"/>
                    <a:pt x="190544" y="78310"/>
                    <a:pt x="134754" y="115503"/>
                  </a:cubicBezTo>
                  <a:cubicBezTo>
                    <a:pt x="62653" y="163570"/>
                    <a:pt x="145662" y="131118"/>
                    <a:pt x="77002" y="154004"/>
                  </a:cubicBezTo>
                  <a:cubicBezTo>
                    <a:pt x="67377" y="163629"/>
                    <a:pt x="58584" y="174166"/>
                    <a:pt x="48127" y="182880"/>
                  </a:cubicBezTo>
                  <a:cubicBezTo>
                    <a:pt x="39240" y="190286"/>
                    <a:pt x="27431" y="193950"/>
                    <a:pt x="19251" y="202130"/>
                  </a:cubicBezTo>
                  <a:cubicBezTo>
                    <a:pt x="11071" y="210310"/>
                    <a:pt x="6417" y="221381"/>
                    <a:pt x="0" y="231006"/>
                  </a:cubicBezTo>
                  <a:cubicBezTo>
                    <a:pt x="3209" y="275924"/>
                    <a:pt x="1800" y="321413"/>
                    <a:pt x="9626" y="365760"/>
                  </a:cubicBezTo>
                  <a:cubicBezTo>
                    <a:pt x="11636" y="377152"/>
                    <a:pt x="24319" y="384002"/>
                    <a:pt x="28876" y="394635"/>
                  </a:cubicBezTo>
                  <a:cubicBezTo>
                    <a:pt x="34087" y="406794"/>
                    <a:pt x="34867" y="420416"/>
                    <a:pt x="38501" y="433136"/>
                  </a:cubicBezTo>
                  <a:cubicBezTo>
                    <a:pt x="59315" y="505984"/>
                    <a:pt x="40581" y="405724"/>
                    <a:pt x="67377" y="548640"/>
                  </a:cubicBezTo>
                  <a:cubicBezTo>
                    <a:pt x="77453" y="602379"/>
                    <a:pt x="70094" y="618364"/>
                    <a:pt x="96253" y="664143"/>
                  </a:cubicBezTo>
                  <a:cubicBezTo>
                    <a:pt x="100755" y="672022"/>
                    <a:pt x="109086" y="676976"/>
                    <a:pt x="115503" y="683393"/>
                  </a:cubicBezTo>
                </a:path>
              </a:pathLst>
            </a:cu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文本框 12">
            <a:extLst>
              <a:ext uri="{FF2B5EF4-FFF2-40B4-BE49-F238E27FC236}">
                <a16:creationId xmlns:a16="http://schemas.microsoft.com/office/drawing/2014/main" xmlns="" id="{D1BFEBF8-579E-4FA9-BD66-2BFFA075E669}"/>
              </a:ext>
            </a:extLst>
          </p:cNvPr>
          <p:cNvSpPr txBox="1"/>
          <p:nvPr/>
        </p:nvSpPr>
        <p:spPr>
          <a:xfrm>
            <a:off x="0" y="2481880"/>
            <a:ext cx="12192000" cy="923330"/>
          </a:xfrm>
          <a:prstGeom prst="rect">
            <a:avLst/>
          </a:prstGeom>
          <a:noFill/>
        </p:spPr>
        <p:txBody>
          <a:bodyPr wrap="square" rtlCol="0">
            <a:spAutoFit/>
          </a:bodyPr>
          <a:lstStyle/>
          <a:p>
            <a:r>
              <a:rPr lang="en-US" altLang="zh-CN" b="1" dirty="0">
                <a:solidFill>
                  <a:srgbClr val="FF0000"/>
                </a:solidFill>
              </a:rPr>
              <a:t>【</a:t>
            </a:r>
            <a:r>
              <a:rPr lang="zh-CN" altLang="en-US" b="1" dirty="0">
                <a:solidFill>
                  <a:srgbClr val="FF0000"/>
                </a:solidFill>
              </a:rPr>
              <a:t>解析</a:t>
            </a:r>
            <a:r>
              <a:rPr lang="en-US" altLang="zh-CN" b="1" dirty="0">
                <a:solidFill>
                  <a:srgbClr val="FF0000"/>
                </a:solidFill>
              </a:rPr>
              <a:t>】</a:t>
            </a:r>
            <a:r>
              <a:rPr lang="zh-CN" altLang="en-US" b="1" dirty="0">
                <a:solidFill>
                  <a:srgbClr val="FF0000"/>
                </a:solidFill>
              </a:rPr>
              <a:t>注意设问需要的表达：先摆明观点，再分析成因。</a:t>
            </a:r>
            <a:endParaRPr lang="en-US" altLang="zh-CN" b="1" dirty="0">
              <a:solidFill>
                <a:srgbClr val="FF0000"/>
              </a:solidFill>
            </a:endParaRPr>
          </a:p>
          <a:p>
            <a:r>
              <a:rPr lang="en-US" altLang="zh-CN" b="1" dirty="0">
                <a:solidFill>
                  <a:srgbClr val="FF0000"/>
                </a:solidFill>
              </a:rPr>
              <a:t>          </a:t>
            </a:r>
            <a:r>
              <a:rPr lang="zh-CN" altLang="en-US" b="1" dirty="0">
                <a:solidFill>
                  <a:srgbClr val="FF0000"/>
                </a:solidFill>
              </a:rPr>
              <a:t>该区域，大尺度上，位于我国西北内陆，总体气候干旱，降水少。但额尔齐斯河北部山地，阻挡了来自大西洋和北冰洋的暖湿气流（西风），形成地形雨，所以北部降水多，支流多。</a:t>
            </a:r>
          </a:p>
        </p:txBody>
      </p:sp>
      <p:sp>
        <p:nvSpPr>
          <p:cNvPr id="16" name="文本框 15">
            <a:extLst>
              <a:ext uri="{FF2B5EF4-FFF2-40B4-BE49-F238E27FC236}">
                <a16:creationId xmlns:a16="http://schemas.microsoft.com/office/drawing/2014/main" xmlns="" id="{4BA0308B-4F0B-446E-88BF-A5BF7F039A60}"/>
              </a:ext>
            </a:extLst>
          </p:cNvPr>
          <p:cNvSpPr txBox="1"/>
          <p:nvPr/>
        </p:nvSpPr>
        <p:spPr>
          <a:xfrm>
            <a:off x="42962" y="3797697"/>
            <a:ext cx="5447904" cy="2677656"/>
          </a:xfrm>
          <a:prstGeom prst="rect">
            <a:avLst/>
          </a:prstGeom>
          <a:noFill/>
        </p:spPr>
        <p:txBody>
          <a:bodyPr wrap="square">
            <a:spAutoFit/>
          </a:bodyPr>
          <a:lstStyle/>
          <a:p>
            <a:r>
              <a:rPr lang="zh-CN" altLang="en-US" sz="2400" b="1" dirty="0">
                <a:solidFill>
                  <a:srgbClr val="FF0000"/>
                </a:solidFill>
                <a:latin typeface="宋体" panose="02010600030101010101" pitchFamily="2" charset="-122"/>
                <a:ea typeface="宋体" panose="02010600030101010101" pitchFamily="2" charset="-122"/>
              </a:rPr>
              <a:t>特点：</a:t>
            </a:r>
            <a:r>
              <a:rPr lang="zh-CN" altLang="zh-CN" sz="2400" b="1" dirty="0">
                <a:solidFill>
                  <a:srgbClr val="FF0000"/>
                </a:solidFill>
                <a:latin typeface="宋体" panose="02010600030101010101" pitchFamily="2" charset="-122"/>
                <a:ea typeface="宋体" panose="02010600030101010101" pitchFamily="2" charset="-122"/>
              </a:rPr>
              <a:t>北多南少。</a:t>
            </a:r>
            <a:endParaRPr lang="en-US" altLang="zh-CN" sz="2400" b="1" dirty="0">
              <a:solidFill>
                <a:srgbClr val="FF0000"/>
              </a:solidFill>
              <a:latin typeface="宋体" panose="02010600030101010101" pitchFamily="2" charset="-122"/>
              <a:ea typeface="宋体" panose="02010600030101010101" pitchFamily="2" charset="-122"/>
            </a:endParaRPr>
          </a:p>
          <a:p>
            <a:endParaRPr lang="en-US" altLang="zh-CN" sz="2400" b="1" dirty="0">
              <a:solidFill>
                <a:srgbClr val="FF0000"/>
              </a:solidFill>
              <a:latin typeface="宋体" panose="02010600030101010101" pitchFamily="2" charset="-122"/>
              <a:ea typeface="宋体" panose="02010600030101010101" pitchFamily="2" charset="-122"/>
            </a:endParaRPr>
          </a:p>
          <a:p>
            <a:r>
              <a:rPr lang="zh-CN" altLang="zh-CN" sz="2400" b="1" dirty="0">
                <a:solidFill>
                  <a:srgbClr val="FF0000"/>
                </a:solidFill>
                <a:latin typeface="宋体" panose="02010600030101010101" pitchFamily="2" charset="-122"/>
                <a:ea typeface="宋体" panose="02010600030101010101" pitchFamily="2" charset="-122"/>
              </a:rPr>
              <a:t>原因：</a:t>
            </a:r>
            <a:endParaRPr lang="en-US" altLang="zh-CN" sz="2400" b="1" dirty="0">
              <a:solidFill>
                <a:srgbClr val="FF0000"/>
              </a:solidFill>
              <a:latin typeface="宋体" panose="02010600030101010101" pitchFamily="2" charset="-122"/>
              <a:ea typeface="宋体" panose="02010600030101010101" pitchFamily="2" charset="-122"/>
            </a:endParaRPr>
          </a:p>
          <a:p>
            <a:r>
              <a:rPr lang="en-US" altLang="zh-CN" sz="2400" b="1" dirty="0">
                <a:solidFill>
                  <a:srgbClr val="FF0000"/>
                </a:solidFill>
                <a:latin typeface="宋体" panose="02010600030101010101" pitchFamily="2" charset="-122"/>
                <a:ea typeface="宋体" panose="02010600030101010101" pitchFamily="2" charset="-122"/>
              </a:rPr>
              <a:t>1</a:t>
            </a:r>
            <a:r>
              <a:rPr lang="zh-CN" altLang="en-US" sz="2400" b="1" dirty="0">
                <a:solidFill>
                  <a:srgbClr val="FF0000"/>
                </a:solidFill>
                <a:latin typeface="宋体" panose="02010600030101010101" pitchFamily="2" charset="-122"/>
                <a:ea typeface="宋体" panose="02010600030101010101" pitchFamily="2" charset="-122"/>
              </a:rPr>
              <a:t>、</a:t>
            </a:r>
            <a:r>
              <a:rPr lang="zh-CN" altLang="zh-CN" sz="2400" b="1" dirty="0">
                <a:solidFill>
                  <a:srgbClr val="FF0000"/>
                </a:solidFill>
                <a:latin typeface="宋体" panose="02010600030101010101" pitchFamily="2" charset="-122"/>
                <a:ea typeface="宋体" panose="02010600030101010101" pitchFamily="2" charset="-122"/>
              </a:rPr>
              <a:t>地处大陆内部，气候干旱；</a:t>
            </a:r>
            <a:r>
              <a:rPr lang="zh-CN" altLang="en-US" sz="2400" b="1" dirty="0">
                <a:solidFill>
                  <a:srgbClr val="FF0000"/>
                </a:solidFill>
                <a:latin typeface="宋体" panose="02010600030101010101" pitchFamily="2" charset="-122"/>
                <a:ea typeface="宋体" panose="02010600030101010101" pitchFamily="2" charset="-122"/>
              </a:rPr>
              <a:t>（宏观尺度）</a:t>
            </a:r>
            <a:endParaRPr lang="en-US" altLang="zh-CN" sz="2400" b="1" dirty="0">
              <a:solidFill>
                <a:srgbClr val="FF0000"/>
              </a:solidFill>
              <a:latin typeface="宋体" panose="02010600030101010101" pitchFamily="2" charset="-122"/>
              <a:ea typeface="宋体" panose="02010600030101010101" pitchFamily="2" charset="-122"/>
            </a:endParaRPr>
          </a:p>
          <a:p>
            <a:r>
              <a:rPr lang="en-US" altLang="zh-CN" sz="2400" b="1" dirty="0">
                <a:solidFill>
                  <a:srgbClr val="FF0000"/>
                </a:solidFill>
                <a:latin typeface="宋体" panose="02010600030101010101" pitchFamily="2" charset="-122"/>
                <a:ea typeface="宋体" panose="02010600030101010101" pitchFamily="2" charset="-122"/>
              </a:rPr>
              <a:t>2</a:t>
            </a:r>
            <a:r>
              <a:rPr lang="zh-CN" altLang="en-US" sz="2400" b="1" dirty="0">
                <a:solidFill>
                  <a:srgbClr val="FF0000"/>
                </a:solidFill>
                <a:latin typeface="宋体" panose="02010600030101010101" pitchFamily="2" charset="-122"/>
                <a:ea typeface="宋体" panose="02010600030101010101" pitchFamily="2" charset="-122"/>
              </a:rPr>
              <a:t>、</a:t>
            </a:r>
            <a:r>
              <a:rPr lang="zh-CN" altLang="zh-CN" sz="2400" b="1" dirty="0">
                <a:solidFill>
                  <a:srgbClr val="FF0000"/>
                </a:solidFill>
                <a:latin typeface="宋体" panose="02010600030101010101" pitchFamily="2" charset="-122"/>
                <a:ea typeface="宋体" panose="02010600030101010101" pitchFamily="2" charset="-122"/>
              </a:rPr>
              <a:t>但北部山地为（西风）迎风坡，山体高大，能拦截水汽。</a:t>
            </a:r>
            <a:r>
              <a:rPr lang="zh-CN" altLang="en-US" sz="2400" b="1" dirty="0">
                <a:solidFill>
                  <a:srgbClr val="FF0000"/>
                </a:solidFill>
                <a:latin typeface="宋体" panose="02010600030101010101" pitchFamily="2" charset="-122"/>
                <a:ea typeface="宋体" panose="02010600030101010101" pitchFamily="2" charset="-122"/>
              </a:rPr>
              <a:t>（地方尺度）</a:t>
            </a:r>
            <a:endParaRPr lang="zh-CN" altLang="zh-CN" sz="2400" b="1" dirty="0">
              <a:solidFill>
                <a:srgbClr val="FF0000"/>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xmlns="" val="737831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34DDC1F3-E323-43ED-94CF-A9D65AA82E4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7169" name="图片 11" descr="2017年全国普通高等学校招生统一考试文综地理（全国卷3）【解析】">
            <a:extLst>
              <a:ext uri="{FF2B5EF4-FFF2-40B4-BE49-F238E27FC236}">
                <a16:creationId xmlns:a16="http://schemas.microsoft.com/office/drawing/2014/main" xmlns="" id="{753C0C0B-07B3-48F1-88AF-31329280928A}"/>
              </a:ext>
            </a:extLst>
          </p:cNvPr>
          <p:cNvPicPr>
            <a:picLocks noChangeAspect="1" noChangeArrowheads="1"/>
          </p:cNvPicPr>
          <p:nvPr/>
        </p:nvPicPr>
        <p:blipFill>
          <a:blip r:embed="rId2" cstate="print">
            <a:lum bright="-38000" contrast="60000"/>
            <a:extLst>
              <a:ext uri="{28A0092B-C50C-407E-A947-70E740481C1C}">
                <a14:useLocalDpi xmlns:a14="http://schemas.microsoft.com/office/drawing/2010/main" xmlns="" val="0"/>
              </a:ext>
            </a:extLst>
          </a:blip>
          <a:srcRect/>
          <a:stretch>
            <a:fillRect/>
          </a:stretch>
        </p:blipFill>
        <p:spPr bwMode="auto">
          <a:xfrm>
            <a:off x="5741123" y="3359219"/>
            <a:ext cx="6450877" cy="3498781"/>
          </a:xfrm>
          <a:prstGeom prst="rect">
            <a:avLst/>
          </a:prstGeom>
          <a:noFill/>
          <a:extLst>
            <a:ext uri="{909E8E84-426E-40DD-AFC4-6F175D3DCCD1}">
              <a14:hiddenFill xmlns:a14="http://schemas.microsoft.com/office/drawing/2010/main" xmlns="">
                <a:solidFill>
                  <a:srgbClr val="FFFFFF"/>
                </a:solidFill>
              </a14:hiddenFill>
            </a:ext>
          </a:extLst>
        </p:spPr>
      </p:pic>
      <p:sp>
        <p:nvSpPr>
          <p:cNvPr id="3" name="Rectangle 3">
            <a:extLst>
              <a:ext uri="{FF2B5EF4-FFF2-40B4-BE49-F238E27FC236}">
                <a16:creationId xmlns:a16="http://schemas.microsoft.com/office/drawing/2014/main" xmlns="" id="{9CD8CB75-B05B-4541-81BC-3F1D571D3D62}"/>
              </a:ext>
            </a:extLst>
          </p:cNvPr>
          <p:cNvSpPr>
            <a:spLocks noChangeArrowheads="1"/>
          </p:cNvSpPr>
          <p:nvPr/>
        </p:nvSpPr>
        <p:spPr bwMode="auto">
          <a:xfrm>
            <a:off x="0" y="92327"/>
            <a:ext cx="12192000" cy="18158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381000" algn="l"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dirty="0">
                <a:ln>
                  <a:noFill/>
                </a:ln>
                <a:solidFill>
                  <a:schemeClr val="tx1"/>
                </a:solidFill>
                <a:effectLst/>
                <a:latin typeface="华文宋体" panose="02010600040101010101" pitchFamily="2" charset="-122"/>
                <a:ea typeface="华文宋体" panose="02010600040101010101" pitchFamily="2" charset="-122"/>
                <a:cs typeface="宋体" panose="02010600030101010101" pitchFamily="2" charset="-122"/>
              </a:rPr>
              <a:t>  白斑狗鱼肉质细嫩，营养丰富，有“鱼中软黄金”之称，白斑狗鱼是肉食性鱼，适宜在</a:t>
            </a:r>
            <a:r>
              <a:rPr kumimoji="0" lang="en-US" altLang="zh-CN" sz="2800" b="0" i="0" u="none" strike="noStrike" cap="none" normalizeH="0" baseline="0" dirty="0">
                <a:ln>
                  <a:noFill/>
                </a:ln>
                <a:solidFill>
                  <a:schemeClr val="tx1"/>
                </a:solidFill>
                <a:effectLst/>
                <a:latin typeface="华文宋体" panose="02010600040101010101" pitchFamily="2" charset="-122"/>
                <a:ea typeface="华文宋体" panose="02010600040101010101" pitchFamily="2" charset="-122"/>
                <a:cs typeface="宋体" panose="02010600030101010101" pitchFamily="2" charset="-122"/>
              </a:rPr>
              <a:t>16℃</a:t>
            </a:r>
            <a:r>
              <a:rPr kumimoji="0" lang="zh-CN" altLang="en-US" sz="2800" b="0" i="0" u="none" strike="noStrike" cap="none" normalizeH="0" baseline="0" dirty="0">
                <a:ln>
                  <a:noFill/>
                </a:ln>
                <a:solidFill>
                  <a:schemeClr val="tx1"/>
                </a:solidFill>
                <a:effectLst/>
                <a:latin typeface="华文宋体" panose="02010600040101010101" pitchFamily="2" charset="-122"/>
                <a:ea typeface="华文宋体" panose="02010600040101010101" pitchFamily="2" charset="-122"/>
                <a:cs typeface="宋体" panose="02010600030101010101" pitchFamily="2" charset="-122"/>
              </a:rPr>
              <a:t>以下的水域产卵繁殖，分布于亚洲、欧洲和北美洲的北部冷水水域，栖息环境多为水质清澈、水草丛生的河流，在我国仅见于新疆的额尔齐斯河流域。额尔齐斯河是我国唯一属于北冰洋水系的河流。</a:t>
            </a:r>
            <a:endParaRPr kumimoji="0" lang="zh-CN" altLang="en-US" sz="2800" b="0" i="0" u="none" strike="noStrike" cap="none" normalizeH="0" baseline="0" dirty="0">
              <a:ln>
                <a:noFill/>
              </a:ln>
              <a:solidFill>
                <a:schemeClr val="tx1"/>
              </a:solidFill>
              <a:effectLst/>
              <a:latin typeface="华文宋体" panose="02010600040101010101" pitchFamily="2" charset="-122"/>
              <a:ea typeface="华文宋体" panose="02010600040101010101" pitchFamily="2" charset="-122"/>
            </a:endParaRPr>
          </a:p>
        </p:txBody>
      </p:sp>
      <p:sp>
        <p:nvSpPr>
          <p:cNvPr id="6" name="文本框 5">
            <a:extLst>
              <a:ext uri="{FF2B5EF4-FFF2-40B4-BE49-F238E27FC236}">
                <a16:creationId xmlns:a16="http://schemas.microsoft.com/office/drawing/2014/main" xmlns="" id="{59C522B3-620C-408C-9C6C-DEA26015A327}"/>
              </a:ext>
            </a:extLst>
          </p:cNvPr>
          <p:cNvSpPr txBox="1"/>
          <p:nvPr/>
        </p:nvSpPr>
        <p:spPr>
          <a:xfrm>
            <a:off x="0" y="1987382"/>
            <a:ext cx="12192000" cy="523220"/>
          </a:xfrm>
          <a:prstGeom prst="rect">
            <a:avLst/>
          </a:prstGeom>
          <a:noFill/>
        </p:spPr>
        <p:txBody>
          <a:bodyPr wrap="square">
            <a:spAutoFit/>
          </a:bodyPr>
          <a:lstStyle/>
          <a:p>
            <a:pPr lvl="0"/>
            <a:r>
              <a:rPr lang="en-US" altLang="zh-CN" sz="2800" dirty="0">
                <a:effectLst/>
                <a:latin typeface="宋体" panose="02010600030101010101" pitchFamily="2" charset="-122"/>
                <a:ea typeface="宋体" panose="02010600030101010101" pitchFamily="2" charset="-122"/>
                <a:cs typeface="宋体" panose="02010600030101010101" pitchFamily="2" charset="-122"/>
              </a:rPr>
              <a:t>(1)</a:t>
            </a:r>
            <a:r>
              <a:rPr lang="zh-CN" altLang="zh-CN" sz="2800" dirty="0">
                <a:effectLst/>
                <a:latin typeface="宋体" panose="02010600030101010101" pitchFamily="2" charset="-122"/>
                <a:ea typeface="宋体" panose="02010600030101010101" pitchFamily="2" charset="-122"/>
                <a:cs typeface="宋体" panose="02010600030101010101" pitchFamily="2" charset="-122"/>
              </a:rPr>
              <a:t>根据</a:t>
            </a:r>
            <a:r>
              <a:rPr lang="zh-CN" altLang="zh-CN" sz="2800" dirty="0">
                <a:solidFill>
                  <a:srgbClr val="0000FF"/>
                </a:solidFill>
                <a:effectLst/>
                <a:latin typeface="宋体" panose="02010600030101010101" pitchFamily="2" charset="-122"/>
                <a:ea typeface="宋体" panose="02010600030101010101" pitchFamily="2" charset="-122"/>
                <a:cs typeface="宋体" panose="02010600030101010101" pitchFamily="2" charset="-122"/>
              </a:rPr>
              <a:t>支流的分布</a:t>
            </a:r>
            <a:r>
              <a:rPr lang="zh-CN" altLang="zh-CN" sz="2800" dirty="0">
                <a:effectLst/>
                <a:latin typeface="宋体" panose="02010600030101010101" pitchFamily="2" charset="-122"/>
                <a:ea typeface="宋体" panose="02010600030101010101" pitchFamily="2" charset="-122"/>
                <a:cs typeface="宋体" panose="02010600030101010101" pitchFamily="2" charset="-122"/>
              </a:rPr>
              <a:t>特征，分析图示额尔齐斯河</a:t>
            </a:r>
            <a:r>
              <a:rPr lang="zh-CN" altLang="zh-CN" sz="2800" dirty="0">
                <a:solidFill>
                  <a:srgbClr val="0000FF"/>
                </a:solidFill>
                <a:latin typeface="宋体" panose="02010600030101010101" pitchFamily="2" charset="-122"/>
                <a:ea typeface="宋体" panose="02010600030101010101" pitchFamily="2" charset="-122"/>
              </a:rPr>
              <a:t>流域降水分布</a:t>
            </a:r>
            <a:r>
              <a:rPr lang="zh-CN" altLang="zh-CN" sz="2800" dirty="0">
                <a:effectLst/>
                <a:latin typeface="宋体" panose="02010600030101010101" pitchFamily="2" charset="-122"/>
                <a:ea typeface="宋体" panose="02010600030101010101" pitchFamily="2" charset="-122"/>
                <a:cs typeface="宋体" panose="02010600030101010101" pitchFamily="2" charset="-122"/>
              </a:rPr>
              <a:t>特点及</a:t>
            </a:r>
            <a:r>
              <a:rPr lang="zh-CN" altLang="zh-CN" sz="2800" dirty="0">
                <a:solidFill>
                  <a:srgbClr val="0000FF"/>
                </a:solidFill>
                <a:latin typeface="宋体" panose="02010600030101010101" pitchFamily="2" charset="-122"/>
                <a:ea typeface="宋体" panose="02010600030101010101" pitchFamily="2" charset="-122"/>
              </a:rPr>
              <a:t>成因</a:t>
            </a:r>
            <a:r>
              <a:rPr lang="zh-CN" altLang="zh-CN" sz="2800" dirty="0">
                <a:effectLst/>
                <a:latin typeface="宋体" panose="02010600030101010101" pitchFamily="2" charset="-122"/>
                <a:ea typeface="宋体" panose="02010600030101010101" pitchFamily="2" charset="-122"/>
                <a:cs typeface="宋体" panose="02010600030101010101" pitchFamily="2" charset="-122"/>
              </a:rPr>
              <a:t>。</a:t>
            </a:r>
            <a:r>
              <a:rPr lang="zh-CN" altLang="zh-CN" sz="1200" dirty="0">
                <a:effectLst/>
                <a:latin typeface="宋体" panose="02010600030101010101" pitchFamily="2" charset="-122"/>
                <a:ea typeface="宋体" panose="02010600030101010101" pitchFamily="2" charset="-122"/>
                <a:cs typeface="宋体" panose="02010600030101010101" pitchFamily="2" charset="-122"/>
              </a:rPr>
              <a:t>（</a:t>
            </a:r>
            <a:r>
              <a:rPr lang="en-US" altLang="zh-CN" sz="1200" dirty="0">
                <a:effectLst/>
                <a:latin typeface="宋体" panose="02010600030101010101" pitchFamily="2" charset="-122"/>
                <a:ea typeface="宋体" panose="02010600030101010101" pitchFamily="2" charset="-122"/>
                <a:cs typeface="宋体" panose="02010600030101010101" pitchFamily="2" charset="-122"/>
              </a:rPr>
              <a:t>8</a:t>
            </a:r>
            <a:r>
              <a:rPr lang="zh-CN" altLang="zh-CN" sz="1200" dirty="0">
                <a:effectLst/>
                <a:latin typeface="宋体" panose="02010600030101010101" pitchFamily="2" charset="-122"/>
                <a:ea typeface="宋体" panose="02010600030101010101" pitchFamily="2" charset="-122"/>
                <a:cs typeface="宋体" panose="02010600030101010101" pitchFamily="2" charset="-122"/>
              </a:rPr>
              <a:t>分）</a:t>
            </a:r>
          </a:p>
        </p:txBody>
      </p:sp>
      <p:grpSp>
        <p:nvGrpSpPr>
          <p:cNvPr id="12" name="组合 11">
            <a:extLst>
              <a:ext uri="{FF2B5EF4-FFF2-40B4-BE49-F238E27FC236}">
                <a16:creationId xmlns:a16="http://schemas.microsoft.com/office/drawing/2014/main" xmlns="" id="{0663F081-390B-4E20-8671-C212F86EDD3B}"/>
              </a:ext>
            </a:extLst>
          </p:cNvPr>
          <p:cNvGrpSpPr/>
          <p:nvPr/>
        </p:nvGrpSpPr>
        <p:grpSpPr>
          <a:xfrm>
            <a:off x="5678905" y="3877426"/>
            <a:ext cx="4292868" cy="2667753"/>
            <a:chOff x="5678905" y="3877426"/>
            <a:chExt cx="4292868" cy="2667753"/>
          </a:xfrm>
        </p:grpSpPr>
        <p:sp>
          <p:nvSpPr>
            <p:cNvPr id="5" name="任意多边形: 形状 4">
              <a:extLst>
                <a:ext uri="{FF2B5EF4-FFF2-40B4-BE49-F238E27FC236}">
                  <a16:creationId xmlns:a16="http://schemas.microsoft.com/office/drawing/2014/main" xmlns="" id="{8D6FB139-E0DF-4D2A-B7FE-21F27C251EF6}"/>
                </a:ext>
              </a:extLst>
            </p:cNvPr>
            <p:cNvSpPr/>
            <p:nvPr/>
          </p:nvSpPr>
          <p:spPr>
            <a:xfrm>
              <a:off x="5678905" y="5388875"/>
              <a:ext cx="4292868" cy="1156304"/>
            </a:xfrm>
            <a:custGeom>
              <a:avLst/>
              <a:gdLst>
                <a:gd name="connsiteX0" fmla="*/ 4292868 w 4292868"/>
                <a:gd name="connsiteY0" fmla="*/ 723167 h 1156304"/>
                <a:gd name="connsiteX1" fmla="*/ 4235116 w 4292868"/>
                <a:gd name="connsiteY1" fmla="*/ 713542 h 1156304"/>
                <a:gd name="connsiteX2" fmla="*/ 4167739 w 4292868"/>
                <a:gd name="connsiteY2" fmla="*/ 752043 h 1156304"/>
                <a:gd name="connsiteX3" fmla="*/ 4138863 w 4292868"/>
                <a:gd name="connsiteY3" fmla="*/ 761668 h 1156304"/>
                <a:gd name="connsiteX4" fmla="*/ 4119613 w 4292868"/>
                <a:gd name="connsiteY4" fmla="*/ 800169 h 1156304"/>
                <a:gd name="connsiteX5" fmla="*/ 4061861 w 4292868"/>
                <a:gd name="connsiteY5" fmla="*/ 848296 h 1156304"/>
                <a:gd name="connsiteX6" fmla="*/ 3994484 w 4292868"/>
                <a:gd name="connsiteY6" fmla="*/ 896422 h 1156304"/>
                <a:gd name="connsiteX7" fmla="*/ 3936733 w 4292868"/>
                <a:gd name="connsiteY7" fmla="*/ 1011925 h 1156304"/>
                <a:gd name="connsiteX8" fmla="*/ 3927108 w 4292868"/>
                <a:gd name="connsiteY8" fmla="*/ 1040801 h 1156304"/>
                <a:gd name="connsiteX9" fmla="*/ 3898232 w 4292868"/>
                <a:gd name="connsiteY9" fmla="*/ 1060051 h 1156304"/>
                <a:gd name="connsiteX10" fmla="*/ 3840480 w 4292868"/>
                <a:gd name="connsiteY10" fmla="*/ 1108178 h 1156304"/>
                <a:gd name="connsiteX11" fmla="*/ 3811604 w 4292868"/>
                <a:gd name="connsiteY11" fmla="*/ 1117803 h 1156304"/>
                <a:gd name="connsiteX12" fmla="*/ 3782729 w 4292868"/>
                <a:gd name="connsiteY12" fmla="*/ 1137053 h 1156304"/>
                <a:gd name="connsiteX13" fmla="*/ 3724977 w 4292868"/>
                <a:gd name="connsiteY13" fmla="*/ 1156304 h 1156304"/>
                <a:gd name="connsiteX14" fmla="*/ 3465095 w 4292868"/>
                <a:gd name="connsiteY14" fmla="*/ 1146679 h 1156304"/>
                <a:gd name="connsiteX15" fmla="*/ 3436219 w 4292868"/>
                <a:gd name="connsiteY15" fmla="*/ 1079302 h 1156304"/>
                <a:gd name="connsiteX16" fmla="*/ 3368842 w 4292868"/>
                <a:gd name="connsiteY16" fmla="*/ 1002300 h 1156304"/>
                <a:gd name="connsiteX17" fmla="*/ 3080084 w 4292868"/>
                <a:gd name="connsiteY17" fmla="*/ 954173 h 1156304"/>
                <a:gd name="connsiteX18" fmla="*/ 2974207 w 4292868"/>
                <a:gd name="connsiteY18" fmla="*/ 925298 h 1156304"/>
                <a:gd name="connsiteX19" fmla="*/ 2916455 w 4292868"/>
                <a:gd name="connsiteY19" fmla="*/ 896422 h 1156304"/>
                <a:gd name="connsiteX20" fmla="*/ 2820202 w 4292868"/>
                <a:gd name="connsiteY20" fmla="*/ 877171 h 1156304"/>
                <a:gd name="connsiteX21" fmla="*/ 2781701 w 4292868"/>
                <a:gd name="connsiteY21" fmla="*/ 857921 h 1156304"/>
                <a:gd name="connsiteX22" fmla="*/ 2656573 w 4292868"/>
                <a:gd name="connsiteY22" fmla="*/ 838670 h 1156304"/>
                <a:gd name="connsiteX23" fmla="*/ 2627697 w 4292868"/>
                <a:gd name="connsiteY23" fmla="*/ 829045 h 1156304"/>
                <a:gd name="connsiteX24" fmla="*/ 2550695 w 4292868"/>
                <a:gd name="connsiteY24" fmla="*/ 819420 h 1156304"/>
                <a:gd name="connsiteX25" fmla="*/ 2521819 w 4292868"/>
                <a:gd name="connsiteY25" fmla="*/ 800169 h 1156304"/>
                <a:gd name="connsiteX26" fmla="*/ 2454442 w 4292868"/>
                <a:gd name="connsiteY26" fmla="*/ 790544 h 1156304"/>
                <a:gd name="connsiteX27" fmla="*/ 2435192 w 4292868"/>
                <a:gd name="connsiteY27" fmla="*/ 761668 h 1156304"/>
                <a:gd name="connsiteX28" fmla="*/ 2406316 w 4292868"/>
                <a:gd name="connsiteY28" fmla="*/ 752043 h 1156304"/>
                <a:gd name="connsiteX29" fmla="*/ 2377440 w 4292868"/>
                <a:gd name="connsiteY29" fmla="*/ 732792 h 1156304"/>
                <a:gd name="connsiteX30" fmla="*/ 2319689 w 4292868"/>
                <a:gd name="connsiteY30" fmla="*/ 713542 h 1156304"/>
                <a:gd name="connsiteX31" fmla="*/ 2271562 w 4292868"/>
                <a:gd name="connsiteY31" fmla="*/ 684666 h 1156304"/>
                <a:gd name="connsiteX32" fmla="*/ 2194560 w 4292868"/>
                <a:gd name="connsiteY32" fmla="*/ 665416 h 1156304"/>
                <a:gd name="connsiteX33" fmla="*/ 2136809 w 4292868"/>
                <a:gd name="connsiteY33" fmla="*/ 636540 h 1156304"/>
                <a:gd name="connsiteX34" fmla="*/ 2079057 w 4292868"/>
                <a:gd name="connsiteY34" fmla="*/ 598039 h 1156304"/>
                <a:gd name="connsiteX35" fmla="*/ 2050181 w 4292868"/>
                <a:gd name="connsiteY35" fmla="*/ 578788 h 1156304"/>
                <a:gd name="connsiteX36" fmla="*/ 2030931 w 4292868"/>
                <a:gd name="connsiteY36" fmla="*/ 549912 h 1156304"/>
                <a:gd name="connsiteX37" fmla="*/ 1973179 w 4292868"/>
                <a:gd name="connsiteY37" fmla="*/ 540287 h 1156304"/>
                <a:gd name="connsiteX38" fmla="*/ 1953929 w 4292868"/>
                <a:gd name="connsiteY38" fmla="*/ 511411 h 1156304"/>
                <a:gd name="connsiteX39" fmla="*/ 1925053 w 4292868"/>
                <a:gd name="connsiteY39" fmla="*/ 501786 h 1156304"/>
                <a:gd name="connsiteX40" fmla="*/ 1896177 w 4292868"/>
                <a:gd name="connsiteY40" fmla="*/ 482536 h 1156304"/>
                <a:gd name="connsiteX41" fmla="*/ 1838426 w 4292868"/>
                <a:gd name="connsiteY41" fmla="*/ 463285 h 1156304"/>
                <a:gd name="connsiteX42" fmla="*/ 1799924 w 4292868"/>
                <a:gd name="connsiteY42" fmla="*/ 444034 h 1156304"/>
                <a:gd name="connsiteX43" fmla="*/ 1771049 w 4292868"/>
                <a:gd name="connsiteY43" fmla="*/ 424784 h 1156304"/>
                <a:gd name="connsiteX44" fmla="*/ 1742173 w 4292868"/>
                <a:gd name="connsiteY44" fmla="*/ 415159 h 1156304"/>
                <a:gd name="connsiteX45" fmla="*/ 1713297 w 4292868"/>
                <a:gd name="connsiteY45" fmla="*/ 395908 h 1156304"/>
                <a:gd name="connsiteX46" fmla="*/ 1674796 w 4292868"/>
                <a:gd name="connsiteY46" fmla="*/ 357407 h 1156304"/>
                <a:gd name="connsiteX47" fmla="*/ 1645920 w 4292868"/>
                <a:gd name="connsiteY47" fmla="*/ 347782 h 1156304"/>
                <a:gd name="connsiteX48" fmla="*/ 1559293 w 4292868"/>
                <a:gd name="connsiteY48" fmla="*/ 280405 h 1156304"/>
                <a:gd name="connsiteX49" fmla="*/ 1501541 w 4292868"/>
                <a:gd name="connsiteY49" fmla="*/ 241904 h 1156304"/>
                <a:gd name="connsiteX50" fmla="*/ 1472666 w 4292868"/>
                <a:gd name="connsiteY50" fmla="*/ 222653 h 1156304"/>
                <a:gd name="connsiteX51" fmla="*/ 1395663 w 4292868"/>
                <a:gd name="connsiteY51" fmla="*/ 164902 h 1156304"/>
                <a:gd name="connsiteX52" fmla="*/ 1366788 w 4292868"/>
                <a:gd name="connsiteY52" fmla="*/ 126401 h 1156304"/>
                <a:gd name="connsiteX53" fmla="*/ 1203158 w 4292868"/>
                <a:gd name="connsiteY53" fmla="*/ 116776 h 1156304"/>
                <a:gd name="connsiteX54" fmla="*/ 981777 w 4292868"/>
                <a:gd name="connsiteY54" fmla="*/ 107150 h 1156304"/>
                <a:gd name="connsiteX55" fmla="*/ 885524 w 4292868"/>
                <a:gd name="connsiteY55" fmla="*/ 78274 h 1156304"/>
                <a:gd name="connsiteX56" fmla="*/ 837398 w 4292868"/>
                <a:gd name="connsiteY56" fmla="*/ 68649 h 1156304"/>
                <a:gd name="connsiteX57" fmla="*/ 779647 w 4292868"/>
                <a:gd name="connsiteY57" fmla="*/ 49399 h 1156304"/>
                <a:gd name="connsiteX58" fmla="*/ 673769 w 4292868"/>
                <a:gd name="connsiteY58" fmla="*/ 30148 h 1156304"/>
                <a:gd name="connsiteX59" fmla="*/ 558266 w 4292868"/>
                <a:gd name="connsiteY59" fmla="*/ 1272 h 1156304"/>
                <a:gd name="connsiteX60" fmla="*/ 0 w 4292868"/>
                <a:gd name="connsiteY60" fmla="*/ 1272 h 1156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4292868" h="1156304">
                  <a:moveTo>
                    <a:pt x="4292868" y="723167"/>
                  </a:moveTo>
                  <a:cubicBezTo>
                    <a:pt x="4273617" y="719959"/>
                    <a:pt x="4254535" y="711600"/>
                    <a:pt x="4235116" y="713542"/>
                  </a:cubicBezTo>
                  <a:cubicBezTo>
                    <a:pt x="4214020" y="715652"/>
                    <a:pt x="4186179" y="742823"/>
                    <a:pt x="4167739" y="752043"/>
                  </a:cubicBezTo>
                  <a:cubicBezTo>
                    <a:pt x="4158664" y="756580"/>
                    <a:pt x="4148488" y="758460"/>
                    <a:pt x="4138863" y="761668"/>
                  </a:cubicBezTo>
                  <a:cubicBezTo>
                    <a:pt x="4132446" y="774502"/>
                    <a:pt x="4127953" y="788493"/>
                    <a:pt x="4119613" y="800169"/>
                  </a:cubicBezTo>
                  <a:cubicBezTo>
                    <a:pt x="4094802" y="834904"/>
                    <a:pt x="4091657" y="823466"/>
                    <a:pt x="4061861" y="848296"/>
                  </a:cubicBezTo>
                  <a:cubicBezTo>
                    <a:pt x="4003330" y="897072"/>
                    <a:pt x="4065727" y="860800"/>
                    <a:pt x="3994484" y="896422"/>
                  </a:cubicBezTo>
                  <a:cubicBezTo>
                    <a:pt x="3944727" y="971057"/>
                    <a:pt x="3963299" y="932224"/>
                    <a:pt x="3936733" y="1011925"/>
                  </a:cubicBezTo>
                  <a:cubicBezTo>
                    <a:pt x="3933525" y="1021550"/>
                    <a:pt x="3935550" y="1035173"/>
                    <a:pt x="3927108" y="1040801"/>
                  </a:cubicBezTo>
                  <a:cubicBezTo>
                    <a:pt x="3917483" y="1047218"/>
                    <a:pt x="3907119" y="1052645"/>
                    <a:pt x="3898232" y="1060051"/>
                  </a:cubicBezTo>
                  <a:cubicBezTo>
                    <a:pt x="3866301" y="1086660"/>
                    <a:pt x="3876326" y="1090255"/>
                    <a:pt x="3840480" y="1108178"/>
                  </a:cubicBezTo>
                  <a:cubicBezTo>
                    <a:pt x="3831405" y="1112715"/>
                    <a:pt x="3821229" y="1114595"/>
                    <a:pt x="3811604" y="1117803"/>
                  </a:cubicBezTo>
                  <a:cubicBezTo>
                    <a:pt x="3801979" y="1124220"/>
                    <a:pt x="3793300" y="1132355"/>
                    <a:pt x="3782729" y="1137053"/>
                  </a:cubicBezTo>
                  <a:cubicBezTo>
                    <a:pt x="3764186" y="1145294"/>
                    <a:pt x="3724977" y="1156304"/>
                    <a:pt x="3724977" y="1156304"/>
                  </a:cubicBezTo>
                  <a:cubicBezTo>
                    <a:pt x="3638350" y="1153096"/>
                    <a:pt x="3550969" y="1158524"/>
                    <a:pt x="3465095" y="1146679"/>
                  </a:cubicBezTo>
                  <a:cubicBezTo>
                    <a:pt x="3446279" y="1144084"/>
                    <a:pt x="3439761" y="1086387"/>
                    <a:pt x="3436219" y="1079302"/>
                  </a:cubicBezTo>
                  <a:cubicBezTo>
                    <a:pt x="3414252" y="1035368"/>
                    <a:pt x="3405493" y="1022662"/>
                    <a:pt x="3368842" y="1002300"/>
                  </a:cubicBezTo>
                  <a:cubicBezTo>
                    <a:pt x="3256902" y="940111"/>
                    <a:pt x="3278966" y="970747"/>
                    <a:pt x="3080084" y="954173"/>
                  </a:cubicBezTo>
                  <a:cubicBezTo>
                    <a:pt x="3006813" y="929750"/>
                    <a:pt x="3042231" y="938902"/>
                    <a:pt x="2974207" y="925298"/>
                  </a:cubicBezTo>
                  <a:cubicBezTo>
                    <a:pt x="2954956" y="915673"/>
                    <a:pt x="2936998" y="902842"/>
                    <a:pt x="2916455" y="896422"/>
                  </a:cubicBezTo>
                  <a:cubicBezTo>
                    <a:pt x="2885225" y="886662"/>
                    <a:pt x="2820202" y="877171"/>
                    <a:pt x="2820202" y="877171"/>
                  </a:cubicBezTo>
                  <a:cubicBezTo>
                    <a:pt x="2807368" y="870754"/>
                    <a:pt x="2795444" y="862044"/>
                    <a:pt x="2781701" y="857921"/>
                  </a:cubicBezTo>
                  <a:cubicBezTo>
                    <a:pt x="2769566" y="854281"/>
                    <a:pt x="2664227" y="839764"/>
                    <a:pt x="2656573" y="838670"/>
                  </a:cubicBezTo>
                  <a:cubicBezTo>
                    <a:pt x="2646948" y="835462"/>
                    <a:pt x="2637679" y="830860"/>
                    <a:pt x="2627697" y="829045"/>
                  </a:cubicBezTo>
                  <a:cubicBezTo>
                    <a:pt x="2602247" y="824418"/>
                    <a:pt x="2575651" y="826226"/>
                    <a:pt x="2550695" y="819420"/>
                  </a:cubicBezTo>
                  <a:cubicBezTo>
                    <a:pt x="2539534" y="816376"/>
                    <a:pt x="2532899" y="803493"/>
                    <a:pt x="2521819" y="800169"/>
                  </a:cubicBezTo>
                  <a:cubicBezTo>
                    <a:pt x="2500089" y="793650"/>
                    <a:pt x="2476901" y="793752"/>
                    <a:pt x="2454442" y="790544"/>
                  </a:cubicBezTo>
                  <a:cubicBezTo>
                    <a:pt x="2448025" y="780919"/>
                    <a:pt x="2444225" y="768895"/>
                    <a:pt x="2435192" y="761668"/>
                  </a:cubicBezTo>
                  <a:cubicBezTo>
                    <a:pt x="2427269" y="755330"/>
                    <a:pt x="2415391" y="756580"/>
                    <a:pt x="2406316" y="752043"/>
                  </a:cubicBezTo>
                  <a:cubicBezTo>
                    <a:pt x="2395969" y="746870"/>
                    <a:pt x="2388011" y="737490"/>
                    <a:pt x="2377440" y="732792"/>
                  </a:cubicBezTo>
                  <a:cubicBezTo>
                    <a:pt x="2358897" y="724551"/>
                    <a:pt x="2337089" y="723982"/>
                    <a:pt x="2319689" y="713542"/>
                  </a:cubicBezTo>
                  <a:cubicBezTo>
                    <a:pt x="2303647" y="703917"/>
                    <a:pt x="2288295" y="693033"/>
                    <a:pt x="2271562" y="684666"/>
                  </a:cubicBezTo>
                  <a:cubicBezTo>
                    <a:pt x="2251830" y="674800"/>
                    <a:pt x="2212865" y="669077"/>
                    <a:pt x="2194560" y="665416"/>
                  </a:cubicBezTo>
                  <a:cubicBezTo>
                    <a:pt x="2175310" y="655791"/>
                    <a:pt x="2154717" y="648479"/>
                    <a:pt x="2136809" y="636540"/>
                  </a:cubicBezTo>
                  <a:cubicBezTo>
                    <a:pt x="2064711" y="588474"/>
                    <a:pt x="2147715" y="620924"/>
                    <a:pt x="2079057" y="598039"/>
                  </a:cubicBezTo>
                  <a:cubicBezTo>
                    <a:pt x="2069432" y="591622"/>
                    <a:pt x="2058361" y="586968"/>
                    <a:pt x="2050181" y="578788"/>
                  </a:cubicBezTo>
                  <a:cubicBezTo>
                    <a:pt x="2042001" y="570608"/>
                    <a:pt x="2041278" y="555085"/>
                    <a:pt x="2030931" y="549912"/>
                  </a:cubicBezTo>
                  <a:cubicBezTo>
                    <a:pt x="2013475" y="541184"/>
                    <a:pt x="1992430" y="543495"/>
                    <a:pt x="1973179" y="540287"/>
                  </a:cubicBezTo>
                  <a:cubicBezTo>
                    <a:pt x="1966762" y="530662"/>
                    <a:pt x="1962962" y="518638"/>
                    <a:pt x="1953929" y="511411"/>
                  </a:cubicBezTo>
                  <a:cubicBezTo>
                    <a:pt x="1946006" y="505073"/>
                    <a:pt x="1934128" y="506323"/>
                    <a:pt x="1925053" y="501786"/>
                  </a:cubicBezTo>
                  <a:cubicBezTo>
                    <a:pt x="1914706" y="496613"/>
                    <a:pt x="1906748" y="487234"/>
                    <a:pt x="1896177" y="482536"/>
                  </a:cubicBezTo>
                  <a:cubicBezTo>
                    <a:pt x="1877634" y="474295"/>
                    <a:pt x="1856575" y="472360"/>
                    <a:pt x="1838426" y="463285"/>
                  </a:cubicBezTo>
                  <a:cubicBezTo>
                    <a:pt x="1825592" y="456868"/>
                    <a:pt x="1812382" y="451153"/>
                    <a:pt x="1799924" y="444034"/>
                  </a:cubicBezTo>
                  <a:cubicBezTo>
                    <a:pt x="1789880" y="438295"/>
                    <a:pt x="1781396" y="429957"/>
                    <a:pt x="1771049" y="424784"/>
                  </a:cubicBezTo>
                  <a:cubicBezTo>
                    <a:pt x="1761974" y="420247"/>
                    <a:pt x="1751798" y="418367"/>
                    <a:pt x="1742173" y="415159"/>
                  </a:cubicBezTo>
                  <a:cubicBezTo>
                    <a:pt x="1732548" y="408742"/>
                    <a:pt x="1722080" y="403437"/>
                    <a:pt x="1713297" y="395908"/>
                  </a:cubicBezTo>
                  <a:cubicBezTo>
                    <a:pt x="1699517" y="384096"/>
                    <a:pt x="1689565" y="367956"/>
                    <a:pt x="1674796" y="357407"/>
                  </a:cubicBezTo>
                  <a:cubicBezTo>
                    <a:pt x="1666540" y="351510"/>
                    <a:pt x="1655545" y="350990"/>
                    <a:pt x="1645920" y="347782"/>
                  </a:cubicBezTo>
                  <a:cubicBezTo>
                    <a:pt x="1580995" y="282856"/>
                    <a:pt x="1613996" y="298639"/>
                    <a:pt x="1559293" y="280405"/>
                  </a:cubicBezTo>
                  <a:lnTo>
                    <a:pt x="1501541" y="241904"/>
                  </a:lnTo>
                  <a:cubicBezTo>
                    <a:pt x="1491916" y="235487"/>
                    <a:pt x="1481699" y="229879"/>
                    <a:pt x="1472666" y="222653"/>
                  </a:cubicBezTo>
                  <a:cubicBezTo>
                    <a:pt x="1415506" y="176926"/>
                    <a:pt x="1441633" y="195548"/>
                    <a:pt x="1395663" y="164902"/>
                  </a:cubicBezTo>
                  <a:cubicBezTo>
                    <a:pt x="1386038" y="152068"/>
                    <a:pt x="1382351" y="130292"/>
                    <a:pt x="1366788" y="126401"/>
                  </a:cubicBezTo>
                  <a:cubicBezTo>
                    <a:pt x="1313782" y="113149"/>
                    <a:pt x="1257727" y="119505"/>
                    <a:pt x="1203158" y="116776"/>
                  </a:cubicBezTo>
                  <a:lnTo>
                    <a:pt x="981777" y="107150"/>
                  </a:lnTo>
                  <a:cubicBezTo>
                    <a:pt x="933798" y="91157"/>
                    <a:pt x="929159" y="87971"/>
                    <a:pt x="885524" y="78274"/>
                  </a:cubicBezTo>
                  <a:cubicBezTo>
                    <a:pt x="869554" y="74725"/>
                    <a:pt x="853181" y="72953"/>
                    <a:pt x="837398" y="68649"/>
                  </a:cubicBezTo>
                  <a:cubicBezTo>
                    <a:pt x="817821" y="63310"/>
                    <a:pt x="799333" y="54320"/>
                    <a:pt x="779647" y="49399"/>
                  </a:cubicBezTo>
                  <a:cubicBezTo>
                    <a:pt x="743107" y="40264"/>
                    <a:pt x="709724" y="40934"/>
                    <a:pt x="673769" y="30148"/>
                  </a:cubicBezTo>
                  <a:cubicBezTo>
                    <a:pt x="609088" y="10744"/>
                    <a:pt x="636824" y="2481"/>
                    <a:pt x="558266" y="1272"/>
                  </a:cubicBezTo>
                  <a:cubicBezTo>
                    <a:pt x="372199" y="-1591"/>
                    <a:pt x="186089" y="1272"/>
                    <a:pt x="0" y="1272"/>
                  </a:cubicBezTo>
                </a:path>
              </a:pathLst>
            </a:custGeom>
            <a:noFill/>
            <a:ln w="762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任意多边形: 形状 6">
              <a:extLst>
                <a:ext uri="{FF2B5EF4-FFF2-40B4-BE49-F238E27FC236}">
                  <a16:creationId xmlns:a16="http://schemas.microsoft.com/office/drawing/2014/main" xmlns="" id="{6F35572C-D43A-4415-9B2B-45B37F250CB2}"/>
                </a:ext>
              </a:extLst>
            </p:cNvPr>
            <p:cNvSpPr/>
            <p:nvPr/>
          </p:nvSpPr>
          <p:spPr>
            <a:xfrm>
              <a:off x="8681636" y="5168766"/>
              <a:ext cx="394987" cy="1186189"/>
            </a:xfrm>
            <a:custGeom>
              <a:avLst/>
              <a:gdLst>
                <a:gd name="connsiteX0" fmla="*/ 58103 w 394987"/>
                <a:gd name="connsiteY0" fmla="*/ 0 h 1186189"/>
                <a:gd name="connsiteX1" fmla="*/ 48478 w 394987"/>
                <a:gd name="connsiteY1" fmla="*/ 105878 h 1186189"/>
                <a:gd name="connsiteX2" fmla="*/ 38852 w 394987"/>
                <a:gd name="connsiteY2" fmla="*/ 134754 h 1186189"/>
                <a:gd name="connsiteX3" fmla="*/ 9977 w 394987"/>
                <a:gd name="connsiteY3" fmla="*/ 221381 h 1186189"/>
                <a:gd name="connsiteX4" fmla="*/ 9977 w 394987"/>
                <a:gd name="connsiteY4" fmla="*/ 413887 h 1186189"/>
                <a:gd name="connsiteX5" fmla="*/ 29227 w 394987"/>
                <a:gd name="connsiteY5" fmla="*/ 442762 h 1186189"/>
                <a:gd name="connsiteX6" fmla="*/ 67728 w 394987"/>
                <a:gd name="connsiteY6" fmla="*/ 452388 h 1186189"/>
                <a:gd name="connsiteX7" fmla="*/ 86979 w 394987"/>
                <a:gd name="connsiteY7" fmla="*/ 481263 h 1186189"/>
                <a:gd name="connsiteX8" fmla="*/ 115855 w 394987"/>
                <a:gd name="connsiteY8" fmla="*/ 519765 h 1186189"/>
                <a:gd name="connsiteX9" fmla="*/ 163981 w 394987"/>
                <a:gd name="connsiteY9" fmla="*/ 644893 h 1186189"/>
                <a:gd name="connsiteX10" fmla="*/ 183231 w 394987"/>
                <a:gd name="connsiteY10" fmla="*/ 673769 h 1186189"/>
                <a:gd name="connsiteX11" fmla="*/ 212107 w 394987"/>
                <a:gd name="connsiteY11" fmla="*/ 683394 h 1186189"/>
                <a:gd name="connsiteX12" fmla="*/ 269859 w 394987"/>
                <a:gd name="connsiteY12" fmla="*/ 712270 h 1186189"/>
                <a:gd name="connsiteX13" fmla="*/ 298735 w 394987"/>
                <a:gd name="connsiteY13" fmla="*/ 741146 h 1186189"/>
                <a:gd name="connsiteX14" fmla="*/ 327610 w 394987"/>
                <a:gd name="connsiteY14" fmla="*/ 779647 h 1186189"/>
                <a:gd name="connsiteX15" fmla="*/ 356486 w 394987"/>
                <a:gd name="connsiteY15" fmla="*/ 789272 h 1186189"/>
                <a:gd name="connsiteX16" fmla="*/ 375737 w 394987"/>
                <a:gd name="connsiteY16" fmla="*/ 818148 h 1186189"/>
                <a:gd name="connsiteX17" fmla="*/ 385362 w 394987"/>
                <a:gd name="connsiteY17" fmla="*/ 856649 h 1186189"/>
                <a:gd name="connsiteX18" fmla="*/ 394987 w 394987"/>
                <a:gd name="connsiteY18" fmla="*/ 885525 h 1186189"/>
                <a:gd name="connsiteX19" fmla="*/ 385362 w 394987"/>
                <a:gd name="connsiteY19" fmla="*/ 981777 h 1186189"/>
                <a:gd name="connsiteX20" fmla="*/ 346861 w 394987"/>
                <a:gd name="connsiteY20" fmla="*/ 1049154 h 1186189"/>
                <a:gd name="connsiteX21" fmla="*/ 337236 w 394987"/>
                <a:gd name="connsiteY21" fmla="*/ 1078030 h 1186189"/>
                <a:gd name="connsiteX22" fmla="*/ 327610 w 394987"/>
                <a:gd name="connsiteY22" fmla="*/ 1145407 h 1186189"/>
                <a:gd name="connsiteX23" fmla="*/ 317985 w 394987"/>
                <a:gd name="connsiteY23" fmla="*/ 1183908 h 1186189"/>
                <a:gd name="connsiteX24" fmla="*/ 298735 w 394987"/>
                <a:gd name="connsiteY24" fmla="*/ 1183908 h 1186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94987" h="1186189">
                  <a:moveTo>
                    <a:pt x="58103" y="0"/>
                  </a:moveTo>
                  <a:cubicBezTo>
                    <a:pt x="54895" y="35293"/>
                    <a:pt x="53490" y="70796"/>
                    <a:pt x="48478" y="105878"/>
                  </a:cubicBezTo>
                  <a:cubicBezTo>
                    <a:pt x="47043" y="115922"/>
                    <a:pt x="41053" y="124850"/>
                    <a:pt x="38852" y="134754"/>
                  </a:cubicBezTo>
                  <a:cubicBezTo>
                    <a:pt x="21561" y="212563"/>
                    <a:pt x="43469" y="171142"/>
                    <a:pt x="9977" y="221381"/>
                  </a:cubicBezTo>
                  <a:cubicBezTo>
                    <a:pt x="2216" y="298984"/>
                    <a:pt x="-7932" y="336284"/>
                    <a:pt x="9977" y="413887"/>
                  </a:cubicBezTo>
                  <a:cubicBezTo>
                    <a:pt x="12578" y="425159"/>
                    <a:pt x="19602" y="436345"/>
                    <a:pt x="29227" y="442762"/>
                  </a:cubicBezTo>
                  <a:cubicBezTo>
                    <a:pt x="40234" y="450100"/>
                    <a:pt x="54894" y="449179"/>
                    <a:pt x="67728" y="452388"/>
                  </a:cubicBezTo>
                  <a:cubicBezTo>
                    <a:pt x="74145" y="462013"/>
                    <a:pt x="80255" y="471850"/>
                    <a:pt x="86979" y="481263"/>
                  </a:cubicBezTo>
                  <a:cubicBezTo>
                    <a:pt x="96304" y="494317"/>
                    <a:pt x="110782" y="504546"/>
                    <a:pt x="115855" y="519765"/>
                  </a:cubicBezTo>
                  <a:cubicBezTo>
                    <a:pt x="160017" y="652253"/>
                    <a:pt x="97892" y="600833"/>
                    <a:pt x="163981" y="644893"/>
                  </a:cubicBezTo>
                  <a:cubicBezTo>
                    <a:pt x="170398" y="654518"/>
                    <a:pt x="174198" y="666542"/>
                    <a:pt x="183231" y="673769"/>
                  </a:cubicBezTo>
                  <a:cubicBezTo>
                    <a:pt x="191154" y="680107"/>
                    <a:pt x="203032" y="678857"/>
                    <a:pt x="212107" y="683394"/>
                  </a:cubicBezTo>
                  <a:cubicBezTo>
                    <a:pt x="286743" y="720712"/>
                    <a:pt x="197279" y="688077"/>
                    <a:pt x="269859" y="712270"/>
                  </a:cubicBezTo>
                  <a:cubicBezTo>
                    <a:pt x="279484" y="721895"/>
                    <a:pt x="289876" y="730811"/>
                    <a:pt x="298735" y="741146"/>
                  </a:cubicBezTo>
                  <a:cubicBezTo>
                    <a:pt x="309175" y="753326"/>
                    <a:pt x="315286" y="769377"/>
                    <a:pt x="327610" y="779647"/>
                  </a:cubicBezTo>
                  <a:cubicBezTo>
                    <a:pt x="335404" y="786142"/>
                    <a:pt x="346861" y="786064"/>
                    <a:pt x="356486" y="789272"/>
                  </a:cubicBezTo>
                  <a:cubicBezTo>
                    <a:pt x="362903" y="798897"/>
                    <a:pt x="371180" y="807515"/>
                    <a:pt x="375737" y="818148"/>
                  </a:cubicBezTo>
                  <a:cubicBezTo>
                    <a:pt x="380948" y="830307"/>
                    <a:pt x="381728" y="843929"/>
                    <a:pt x="385362" y="856649"/>
                  </a:cubicBezTo>
                  <a:cubicBezTo>
                    <a:pt x="388149" y="866405"/>
                    <a:pt x="391779" y="875900"/>
                    <a:pt x="394987" y="885525"/>
                  </a:cubicBezTo>
                  <a:cubicBezTo>
                    <a:pt x="391779" y="917609"/>
                    <a:pt x="392118" y="950249"/>
                    <a:pt x="385362" y="981777"/>
                  </a:cubicBezTo>
                  <a:cubicBezTo>
                    <a:pt x="379035" y="1011304"/>
                    <a:pt x="359480" y="1023916"/>
                    <a:pt x="346861" y="1049154"/>
                  </a:cubicBezTo>
                  <a:cubicBezTo>
                    <a:pt x="342324" y="1058229"/>
                    <a:pt x="340444" y="1068405"/>
                    <a:pt x="337236" y="1078030"/>
                  </a:cubicBezTo>
                  <a:cubicBezTo>
                    <a:pt x="334027" y="1100489"/>
                    <a:pt x="331668" y="1123086"/>
                    <a:pt x="327610" y="1145407"/>
                  </a:cubicBezTo>
                  <a:cubicBezTo>
                    <a:pt x="325244" y="1158422"/>
                    <a:pt x="325922" y="1173325"/>
                    <a:pt x="317985" y="1183908"/>
                  </a:cubicBezTo>
                  <a:cubicBezTo>
                    <a:pt x="314135" y="1189041"/>
                    <a:pt x="305152" y="1183908"/>
                    <a:pt x="298735" y="1183908"/>
                  </a:cubicBezTo>
                </a:path>
              </a:pathLst>
            </a:cu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任意多边形: 形状 7">
              <a:extLst>
                <a:ext uri="{FF2B5EF4-FFF2-40B4-BE49-F238E27FC236}">
                  <a16:creationId xmlns:a16="http://schemas.microsoft.com/office/drawing/2014/main" xmlns="" id="{4A83FCE8-C529-4F49-99F4-9602F4B23488}"/>
                </a:ext>
              </a:extLst>
            </p:cNvPr>
            <p:cNvSpPr/>
            <p:nvPr/>
          </p:nvSpPr>
          <p:spPr>
            <a:xfrm>
              <a:off x="7652084" y="5082139"/>
              <a:ext cx="933651" cy="911765"/>
            </a:xfrm>
            <a:custGeom>
              <a:avLst/>
              <a:gdLst>
                <a:gd name="connsiteX0" fmla="*/ 933651 w 933651"/>
                <a:gd name="connsiteY0" fmla="*/ 0 h 911765"/>
                <a:gd name="connsiteX1" fmla="*/ 702644 w 933651"/>
                <a:gd name="connsiteY1" fmla="*/ 9625 h 911765"/>
                <a:gd name="connsiteX2" fmla="*/ 664143 w 933651"/>
                <a:gd name="connsiteY2" fmla="*/ 19250 h 911765"/>
                <a:gd name="connsiteX3" fmla="*/ 635268 w 933651"/>
                <a:gd name="connsiteY3" fmla="*/ 38501 h 911765"/>
                <a:gd name="connsiteX4" fmla="*/ 616017 w 933651"/>
                <a:gd name="connsiteY4" fmla="*/ 250257 h 911765"/>
                <a:gd name="connsiteX5" fmla="*/ 596767 w 933651"/>
                <a:gd name="connsiteY5" fmla="*/ 298383 h 911765"/>
                <a:gd name="connsiteX6" fmla="*/ 606392 w 933651"/>
                <a:gd name="connsiteY6" fmla="*/ 510139 h 911765"/>
                <a:gd name="connsiteX7" fmla="*/ 635268 w 933651"/>
                <a:gd name="connsiteY7" fmla="*/ 539015 h 911765"/>
                <a:gd name="connsiteX8" fmla="*/ 654518 w 933651"/>
                <a:gd name="connsiteY8" fmla="*/ 577516 h 911765"/>
                <a:gd name="connsiteX9" fmla="*/ 702644 w 933651"/>
                <a:gd name="connsiteY9" fmla="*/ 644893 h 911765"/>
                <a:gd name="connsiteX10" fmla="*/ 721895 w 933651"/>
                <a:gd name="connsiteY10" fmla="*/ 702644 h 911765"/>
                <a:gd name="connsiteX11" fmla="*/ 0 w 933651"/>
                <a:gd name="connsiteY11" fmla="*/ 837398 h 911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33651" h="911765">
                  <a:moveTo>
                    <a:pt x="933651" y="0"/>
                  </a:moveTo>
                  <a:cubicBezTo>
                    <a:pt x="856649" y="3208"/>
                    <a:pt x="779517" y="4134"/>
                    <a:pt x="702644" y="9625"/>
                  </a:cubicBezTo>
                  <a:cubicBezTo>
                    <a:pt x="689449" y="10567"/>
                    <a:pt x="676302" y="14039"/>
                    <a:pt x="664143" y="19250"/>
                  </a:cubicBezTo>
                  <a:cubicBezTo>
                    <a:pt x="653510" y="23807"/>
                    <a:pt x="644893" y="32084"/>
                    <a:pt x="635268" y="38501"/>
                  </a:cubicBezTo>
                  <a:cubicBezTo>
                    <a:pt x="602623" y="136430"/>
                    <a:pt x="648522" y="-9791"/>
                    <a:pt x="616017" y="250257"/>
                  </a:cubicBezTo>
                  <a:cubicBezTo>
                    <a:pt x="613874" y="267401"/>
                    <a:pt x="603184" y="282341"/>
                    <a:pt x="596767" y="298383"/>
                  </a:cubicBezTo>
                  <a:cubicBezTo>
                    <a:pt x="589631" y="384008"/>
                    <a:pt x="575154" y="428920"/>
                    <a:pt x="606392" y="510139"/>
                  </a:cubicBezTo>
                  <a:cubicBezTo>
                    <a:pt x="611279" y="522844"/>
                    <a:pt x="625643" y="529390"/>
                    <a:pt x="635268" y="539015"/>
                  </a:cubicBezTo>
                  <a:cubicBezTo>
                    <a:pt x="641685" y="551849"/>
                    <a:pt x="646178" y="565840"/>
                    <a:pt x="654518" y="577516"/>
                  </a:cubicBezTo>
                  <a:cubicBezTo>
                    <a:pt x="696805" y="636719"/>
                    <a:pt x="673864" y="572944"/>
                    <a:pt x="702644" y="644893"/>
                  </a:cubicBezTo>
                  <a:cubicBezTo>
                    <a:pt x="710180" y="663733"/>
                    <a:pt x="721895" y="702644"/>
                    <a:pt x="721895" y="702644"/>
                  </a:cubicBezTo>
                  <a:cubicBezTo>
                    <a:pt x="695355" y="1074218"/>
                    <a:pt x="757302" y="837398"/>
                    <a:pt x="0" y="837398"/>
                  </a:cubicBezTo>
                </a:path>
              </a:pathLst>
            </a:cu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a:extLst>
                <a:ext uri="{FF2B5EF4-FFF2-40B4-BE49-F238E27FC236}">
                  <a16:creationId xmlns:a16="http://schemas.microsoft.com/office/drawing/2014/main" xmlns="" id="{EE0AD41F-F21E-47E1-BDC1-BB024AC62C42}"/>
                </a:ext>
              </a:extLst>
            </p:cNvPr>
            <p:cNvSpPr/>
            <p:nvPr/>
          </p:nvSpPr>
          <p:spPr>
            <a:xfrm>
              <a:off x="7334451" y="4032985"/>
              <a:ext cx="346509" cy="1703704"/>
            </a:xfrm>
            <a:custGeom>
              <a:avLst/>
              <a:gdLst>
                <a:gd name="connsiteX0" fmla="*/ 346509 w 346509"/>
                <a:gd name="connsiteY0" fmla="*/ 0 h 1703704"/>
                <a:gd name="connsiteX1" fmla="*/ 308008 w 346509"/>
                <a:gd name="connsiteY1" fmla="*/ 67377 h 1703704"/>
                <a:gd name="connsiteX2" fmla="*/ 288757 w 346509"/>
                <a:gd name="connsiteY2" fmla="*/ 96253 h 1703704"/>
                <a:gd name="connsiteX3" fmla="*/ 259882 w 346509"/>
                <a:gd name="connsiteY3" fmla="*/ 154004 h 1703704"/>
                <a:gd name="connsiteX4" fmla="*/ 231006 w 346509"/>
                <a:gd name="connsiteY4" fmla="*/ 211756 h 1703704"/>
                <a:gd name="connsiteX5" fmla="*/ 202130 w 346509"/>
                <a:gd name="connsiteY5" fmla="*/ 231007 h 1703704"/>
                <a:gd name="connsiteX6" fmla="*/ 154004 w 346509"/>
                <a:gd name="connsiteY6" fmla="*/ 308009 h 1703704"/>
                <a:gd name="connsiteX7" fmla="*/ 115503 w 346509"/>
                <a:gd name="connsiteY7" fmla="*/ 375386 h 1703704"/>
                <a:gd name="connsiteX8" fmla="*/ 105877 w 346509"/>
                <a:gd name="connsiteY8" fmla="*/ 413887 h 1703704"/>
                <a:gd name="connsiteX9" fmla="*/ 86627 w 346509"/>
                <a:gd name="connsiteY9" fmla="*/ 442762 h 1703704"/>
                <a:gd name="connsiteX10" fmla="*/ 77002 w 346509"/>
                <a:gd name="connsiteY10" fmla="*/ 471638 h 1703704"/>
                <a:gd name="connsiteX11" fmla="*/ 105877 w 346509"/>
                <a:gd name="connsiteY11" fmla="*/ 539015 h 1703704"/>
                <a:gd name="connsiteX12" fmla="*/ 134753 w 346509"/>
                <a:gd name="connsiteY12" fmla="*/ 548640 h 1703704"/>
                <a:gd name="connsiteX13" fmla="*/ 192505 w 346509"/>
                <a:gd name="connsiteY13" fmla="*/ 606392 h 1703704"/>
                <a:gd name="connsiteX14" fmla="*/ 250256 w 346509"/>
                <a:gd name="connsiteY14" fmla="*/ 654518 h 1703704"/>
                <a:gd name="connsiteX15" fmla="*/ 279132 w 346509"/>
                <a:gd name="connsiteY15" fmla="*/ 664143 h 1703704"/>
                <a:gd name="connsiteX16" fmla="*/ 308008 w 346509"/>
                <a:gd name="connsiteY16" fmla="*/ 904775 h 1703704"/>
                <a:gd name="connsiteX17" fmla="*/ 250256 w 346509"/>
                <a:gd name="connsiteY17" fmla="*/ 952901 h 1703704"/>
                <a:gd name="connsiteX18" fmla="*/ 192505 w 346509"/>
                <a:gd name="connsiteY18" fmla="*/ 1039529 h 1703704"/>
                <a:gd name="connsiteX19" fmla="*/ 173254 w 346509"/>
                <a:gd name="connsiteY19" fmla="*/ 1116531 h 1703704"/>
                <a:gd name="connsiteX20" fmla="*/ 163629 w 346509"/>
                <a:gd name="connsiteY20" fmla="*/ 1453415 h 1703704"/>
                <a:gd name="connsiteX21" fmla="*/ 115503 w 346509"/>
                <a:gd name="connsiteY21" fmla="*/ 1520792 h 1703704"/>
                <a:gd name="connsiteX22" fmla="*/ 57751 w 346509"/>
                <a:gd name="connsiteY22" fmla="*/ 1588169 h 1703704"/>
                <a:gd name="connsiteX23" fmla="*/ 28875 w 346509"/>
                <a:gd name="connsiteY23" fmla="*/ 1655546 h 1703704"/>
                <a:gd name="connsiteX24" fmla="*/ 0 w 346509"/>
                <a:gd name="connsiteY24" fmla="*/ 1703672 h 1703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46509" h="1703704">
                  <a:moveTo>
                    <a:pt x="346509" y="0"/>
                  </a:moveTo>
                  <a:cubicBezTo>
                    <a:pt x="333675" y="22459"/>
                    <a:pt x="321317" y="45196"/>
                    <a:pt x="308008" y="67377"/>
                  </a:cubicBezTo>
                  <a:cubicBezTo>
                    <a:pt x="302056" y="77297"/>
                    <a:pt x="294375" y="86141"/>
                    <a:pt x="288757" y="96253"/>
                  </a:cubicBezTo>
                  <a:cubicBezTo>
                    <a:pt x="278305" y="115067"/>
                    <a:pt x="268623" y="134337"/>
                    <a:pt x="259882" y="154004"/>
                  </a:cubicBezTo>
                  <a:cubicBezTo>
                    <a:pt x="247358" y="182184"/>
                    <a:pt x="255017" y="187744"/>
                    <a:pt x="231006" y="211756"/>
                  </a:cubicBezTo>
                  <a:cubicBezTo>
                    <a:pt x="222826" y="219936"/>
                    <a:pt x="211755" y="224590"/>
                    <a:pt x="202130" y="231007"/>
                  </a:cubicBezTo>
                  <a:cubicBezTo>
                    <a:pt x="182072" y="261094"/>
                    <a:pt x="173355" y="273178"/>
                    <a:pt x="154004" y="308009"/>
                  </a:cubicBezTo>
                  <a:cubicBezTo>
                    <a:pt x="113296" y="381283"/>
                    <a:pt x="155840" y="314879"/>
                    <a:pt x="115503" y="375386"/>
                  </a:cubicBezTo>
                  <a:cubicBezTo>
                    <a:pt x="112294" y="388220"/>
                    <a:pt x="111088" y="401728"/>
                    <a:pt x="105877" y="413887"/>
                  </a:cubicBezTo>
                  <a:cubicBezTo>
                    <a:pt x="101320" y="424519"/>
                    <a:pt x="91800" y="432415"/>
                    <a:pt x="86627" y="442762"/>
                  </a:cubicBezTo>
                  <a:cubicBezTo>
                    <a:pt x="82090" y="451837"/>
                    <a:pt x="80210" y="462013"/>
                    <a:pt x="77002" y="471638"/>
                  </a:cubicBezTo>
                  <a:cubicBezTo>
                    <a:pt x="86627" y="494097"/>
                    <a:pt x="91216" y="519467"/>
                    <a:pt x="105877" y="539015"/>
                  </a:cubicBezTo>
                  <a:cubicBezTo>
                    <a:pt x="111965" y="547132"/>
                    <a:pt x="126744" y="542411"/>
                    <a:pt x="134753" y="548640"/>
                  </a:cubicBezTo>
                  <a:cubicBezTo>
                    <a:pt x="156243" y="565354"/>
                    <a:pt x="173254" y="587141"/>
                    <a:pt x="192505" y="606392"/>
                  </a:cubicBezTo>
                  <a:cubicBezTo>
                    <a:pt x="213791" y="627678"/>
                    <a:pt x="223456" y="641118"/>
                    <a:pt x="250256" y="654518"/>
                  </a:cubicBezTo>
                  <a:cubicBezTo>
                    <a:pt x="259331" y="659055"/>
                    <a:pt x="269507" y="660935"/>
                    <a:pt x="279132" y="664143"/>
                  </a:cubicBezTo>
                  <a:cubicBezTo>
                    <a:pt x="343570" y="760800"/>
                    <a:pt x="339757" y="730153"/>
                    <a:pt x="308008" y="904775"/>
                  </a:cubicBezTo>
                  <a:cubicBezTo>
                    <a:pt x="305452" y="918832"/>
                    <a:pt x="261139" y="945646"/>
                    <a:pt x="250256" y="952901"/>
                  </a:cubicBezTo>
                  <a:cubicBezTo>
                    <a:pt x="233616" y="975089"/>
                    <a:pt x="202276" y="1014125"/>
                    <a:pt x="192505" y="1039529"/>
                  </a:cubicBezTo>
                  <a:cubicBezTo>
                    <a:pt x="183007" y="1064223"/>
                    <a:pt x="173254" y="1116531"/>
                    <a:pt x="173254" y="1116531"/>
                  </a:cubicBezTo>
                  <a:cubicBezTo>
                    <a:pt x="170046" y="1228826"/>
                    <a:pt x="172245" y="1341405"/>
                    <a:pt x="163629" y="1453415"/>
                  </a:cubicBezTo>
                  <a:cubicBezTo>
                    <a:pt x="161265" y="1484141"/>
                    <a:pt x="132728" y="1500696"/>
                    <a:pt x="115503" y="1520792"/>
                  </a:cubicBezTo>
                  <a:cubicBezTo>
                    <a:pt x="41425" y="1607217"/>
                    <a:pt x="129395" y="1516525"/>
                    <a:pt x="57751" y="1588169"/>
                  </a:cubicBezTo>
                  <a:cubicBezTo>
                    <a:pt x="37719" y="1668299"/>
                    <a:pt x="62111" y="1589073"/>
                    <a:pt x="28875" y="1655546"/>
                  </a:cubicBezTo>
                  <a:cubicBezTo>
                    <a:pt x="3323" y="1706651"/>
                    <a:pt x="27852" y="1703672"/>
                    <a:pt x="0" y="1703672"/>
                  </a:cubicBezTo>
                </a:path>
              </a:pathLst>
            </a:cu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9">
              <a:extLst>
                <a:ext uri="{FF2B5EF4-FFF2-40B4-BE49-F238E27FC236}">
                  <a16:creationId xmlns:a16="http://schemas.microsoft.com/office/drawing/2014/main" xmlns="" id="{A02D8818-91DE-4475-947C-1F25BEA6746F}"/>
                </a:ext>
              </a:extLst>
            </p:cNvPr>
            <p:cNvSpPr/>
            <p:nvPr/>
          </p:nvSpPr>
          <p:spPr>
            <a:xfrm>
              <a:off x="6651057" y="3877426"/>
              <a:ext cx="433137" cy="1618599"/>
            </a:xfrm>
            <a:custGeom>
              <a:avLst/>
              <a:gdLst>
                <a:gd name="connsiteX0" fmla="*/ 298383 w 433137"/>
                <a:gd name="connsiteY0" fmla="*/ 20806 h 1618599"/>
                <a:gd name="connsiteX1" fmla="*/ 86627 w 433137"/>
                <a:gd name="connsiteY1" fmla="*/ 11180 h 1618599"/>
                <a:gd name="connsiteX2" fmla="*/ 48126 w 433137"/>
                <a:gd name="connsiteY2" fmla="*/ 30431 h 1618599"/>
                <a:gd name="connsiteX3" fmla="*/ 19250 w 433137"/>
                <a:gd name="connsiteY3" fmla="*/ 68932 h 1618599"/>
                <a:gd name="connsiteX4" fmla="*/ 0 w 433137"/>
                <a:gd name="connsiteY4" fmla="*/ 145934 h 1618599"/>
                <a:gd name="connsiteX5" fmla="*/ 9625 w 433137"/>
                <a:gd name="connsiteY5" fmla="*/ 299938 h 1618599"/>
                <a:gd name="connsiteX6" fmla="*/ 38501 w 433137"/>
                <a:gd name="connsiteY6" fmla="*/ 319189 h 1618599"/>
                <a:gd name="connsiteX7" fmla="*/ 86627 w 433137"/>
                <a:gd name="connsiteY7" fmla="*/ 357690 h 1618599"/>
                <a:gd name="connsiteX8" fmla="*/ 115503 w 433137"/>
                <a:gd name="connsiteY8" fmla="*/ 376940 h 1618599"/>
                <a:gd name="connsiteX9" fmla="*/ 173255 w 433137"/>
                <a:gd name="connsiteY9" fmla="*/ 415441 h 1618599"/>
                <a:gd name="connsiteX10" fmla="*/ 202130 w 433137"/>
                <a:gd name="connsiteY10" fmla="*/ 463568 h 1618599"/>
                <a:gd name="connsiteX11" fmla="*/ 211756 w 433137"/>
                <a:gd name="connsiteY11" fmla="*/ 492443 h 1618599"/>
                <a:gd name="connsiteX12" fmla="*/ 250257 w 433137"/>
                <a:gd name="connsiteY12" fmla="*/ 511694 h 1618599"/>
                <a:gd name="connsiteX13" fmla="*/ 269507 w 433137"/>
                <a:gd name="connsiteY13" fmla="*/ 569446 h 1618599"/>
                <a:gd name="connsiteX14" fmla="*/ 308008 w 433137"/>
                <a:gd name="connsiteY14" fmla="*/ 636822 h 1618599"/>
                <a:gd name="connsiteX15" fmla="*/ 317634 w 433137"/>
                <a:gd name="connsiteY15" fmla="*/ 675323 h 1618599"/>
                <a:gd name="connsiteX16" fmla="*/ 346509 w 433137"/>
                <a:gd name="connsiteY16" fmla="*/ 713825 h 1618599"/>
                <a:gd name="connsiteX17" fmla="*/ 365760 w 433137"/>
                <a:gd name="connsiteY17" fmla="*/ 742700 h 1618599"/>
                <a:gd name="connsiteX18" fmla="*/ 375385 w 433137"/>
                <a:gd name="connsiteY18" fmla="*/ 771576 h 1618599"/>
                <a:gd name="connsiteX19" fmla="*/ 433137 w 433137"/>
                <a:gd name="connsiteY19" fmla="*/ 848578 h 1618599"/>
                <a:gd name="connsiteX20" fmla="*/ 423511 w 433137"/>
                <a:gd name="connsiteY20" fmla="*/ 954456 h 1618599"/>
                <a:gd name="connsiteX21" fmla="*/ 394636 w 433137"/>
                <a:gd name="connsiteY21" fmla="*/ 973707 h 1618599"/>
                <a:gd name="connsiteX22" fmla="*/ 385010 w 433137"/>
                <a:gd name="connsiteY22" fmla="*/ 1012208 h 1618599"/>
                <a:gd name="connsiteX23" fmla="*/ 375385 w 433137"/>
                <a:gd name="connsiteY23" fmla="*/ 1041083 h 1618599"/>
                <a:gd name="connsiteX24" fmla="*/ 356135 w 433137"/>
                <a:gd name="connsiteY24" fmla="*/ 1069959 h 1618599"/>
                <a:gd name="connsiteX25" fmla="*/ 308008 w 433137"/>
                <a:gd name="connsiteY25" fmla="*/ 1137336 h 1618599"/>
                <a:gd name="connsiteX26" fmla="*/ 250257 w 433137"/>
                <a:gd name="connsiteY26" fmla="*/ 1223963 h 1618599"/>
                <a:gd name="connsiteX27" fmla="*/ 221381 w 433137"/>
                <a:gd name="connsiteY27" fmla="*/ 1300966 h 1618599"/>
                <a:gd name="connsiteX28" fmla="*/ 211756 w 433137"/>
                <a:gd name="connsiteY28" fmla="*/ 1329841 h 1618599"/>
                <a:gd name="connsiteX29" fmla="*/ 173255 w 433137"/>
                <a:gd name="connsiteY29" fmla="*/ 1387593 h 1618599"/>
                <a:gd name="connsiteX30" fmla="*/ 154004 w 433137"/>
                <a:gd name="connsiteY30" fmla="*/ 1416469 h 1618599"/>
                <a:gd name="connsiteX31" fmla="*/ 125128 w 433137"/>
                <a:gd name="connsiteY31" fmla="*/ 1483846 h 1618599"/>
                <a:gd name="connsiteX32" fmla="*/ 96252 w 433137"/>
                <a:gd name="connsiteY32" fmla="*/ 1512721 h 1618599"/>
                <a:gd name="connsiteX33" fmla="*/ 86627 w 433137"/>
                <a:gd name="connsiteY33" fmla="*/ 1560848 h 1618599"/>
                <a:gd name="connsiteX34" fmla="*/ 67377 w 433137"/>
                <a:gd name="connsiteY34" fmla="*/ 1618599 h 1618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433137" h="1618599">
                  <a:moveTo>
                    <a:pt x="298383" y="20806"/>
                  </a:moveTo>
                  <a:cubicBezTo>
                    <a:pt x="197966" y="722"/>
                    <a:pt x="194921" y="-9125"/>
                    <a:pt x="86627" y="11180"/>
                  </a:cubicBezTo>
                  <a:cubicBezTo>
                    <a:pt x="72524" y="13824"/>
                    <a:pt x="60960" y="24014"/>
                    <a:pt x="48126" y="30431"/>
                  </a:cubicBezTo>
                  <a:cubicBezTo>
                    <a:pt x="38501" y="43265"/>
                    <a:pt x="27209" y="55004"/>
                    <a:pt x="19250" y="68932"/>
                  </a:cubicBezTo>
                  <a:cubicBezTo>
                    <a:pt x="10144" y="84868"/>
                    <a:pt x="2437" y="133749"/>
                    <a:pt x="0" y="145934"/>
                  </a:cubicBezTo>
                  <a:cubicBezTo>
                    <a:pt x="3208" y="197269"/>
                    <a:pt x="-1533" y="249728"/>
                    <a:pt x="9625" y="299938"/>
                  </a:cubicBezTo>
                  <a:cubicBezTo>
                    <a:pt x="12135" y="311231"/>
                    <a:pt x="29246" y="312248"/>
                    <a:pt x="38501" y="319189"/>
                  </a:cubicBezTo>
                  <a:cubicBezTo>
                    <a:pt x="54936" y="331515"/>
                    <a:pt x="70192" y="345364"/>
                    <a:pt x="86627" y="357690"/>
                  </a:cubicBezTo>
                  <a:cubicBezTo>
                    <a:pt x="95881" y="364631"/>
                    <a:pt x="106616" y="369534"/>
                    <a:pt x="115503" y="376940"/>
                  </a:cubicBezTo>
                  <a:cubicBezTo>
                    <a:pt x="163571" y="416996"/>
                    <a:pt x="122508" y="398526"/>
                    <a:pt x="173255" y="415441"/>
                  </a:cubicBezTo>
                  <a:cubicBezTo>
                    <a:pt x="182880" y="431483"/>
                    <a:pt x="193763" y="446835"/>
                    <a:pt x="202130" y="463568"/>
                  </a:cubicBezTo>
                  <a:cubicBezTo>
                    <a:pt x="206667" y="472643"/>
                    <a:pt x="204582" y="485269"/>
                    <a:pt x="211756" y="492443"/>
                  </a:cubicBezTo>
                  <a:cubicBezTo>
                    <a:pt x="221902" y="502589"/>
                    <a:pt x="237423" y="505277"/>
                    <a:pt x="250257" y="511694"/>
                  </a:cubicBezTo>
                  <a:cubicBezTo>
                    <a:pt x="256674" y="530945"/>
                    <a:pt x="258251" y="552562"/>
                    <a:pt x="269507" y="569446"/>
                  </a:cubicBezTo>
                  <a:cubicBezTo>
                    <a:pt x="285467" y="593385"/>
                    <a:pt x="297539" y="608904"/>
                    <a:pt x="308008" y="636822"/>
                  </a:cubicBezTo>
                  <a:cubicBezTo>
                    <a:pt x="312653" y="649208"/>
                    <a:pt x="311718" y="663491"/>
                    <a:pt x="317634" y="675323"/>
                  </a:cubicBezTo>
                  <a:cubicBezTo>
                    <a:pt x="324808" y="689672"/>
                    <a:pt x="337185" y="700771"/>
                    <a:pt x="346509" y="713825"/>
                  </a:cubicBezTo>
                  <a:cubicBezTo>
                    <a:pt x="353233" y="723238"/>
                    <a:pt x="359343" y="733075"/>
                    <a:pt x="365760" y="742700"/>
                  </a:cubicBezTo>
                  <a:cubicBezTo>
                    <a:pt x="368968" y="752325"/>
                    <a:pt x="369938" y="763016"/>
                    <a:pt x="375385" y="771576"/>
                  </a:cubicBezTo>
                  <a:cubicBezTo>
                    <a:pt x="392610" y="798644"/>
                    <a:pt x="433137" y="848578"/>
                    <a:pt x="433137" y="848578"/>
                  </a:cubicBezTo>
                  <a:cubicBezTo>
                    <a:pt x="429928" y="883871"/>
                    <a:pt x="433933" y="920585"/>
                    <a:pt x="423511" y="954456"/>
                  </a:cubicBezTo>
                  <a:cubicBezTo>
                    <a:pt x="420109" y="965512"/>
                    <a:pt x="401053" y="964082"/>
                    <a:pt x="394636" y="973707"/>
                  </a:cubicBezTo>
                  <a:cubicBezTo>
                    <a:pt x="387298" y="984714"/>
                    <a:pt x="388644" y="999488"/>
                    <a:pt x="385010" y="1012208"/>
                  </a:cubicBezTo>
                  <a:cubicBezTo>
                    <a:pt x="382223" y="1021963"/>
                    <a:pt x="379922" y="1032008"/>
                    <a:pt x="375385" y="1041083"/>
                  </a:cubicBezTo>
                  <a:cubicBezTo>
                    <a:pt x="370212" y="1051430"/>
                    <a:pt x="362859" y="1060546"/>
                    <a:pt x="356135" y="1069959"/>
                  </a:cubicBezTo>
                  <a:cubicBezTo>
                    <a:pt x="296422" y="1153558"/>
                    <a:pt x="353389" y="1069265"/>
                    <a:pt x="308008" y="1137336"/>
                  </a:cubicBezTo>
                  <a:cubicBezTo>
                    <a:pt x="283685" y="1210307"/>
                    <a:pt x="304992" y="1182913"/>
                    <a:pt x="250257" y="1223963"/>
                  </a:cubicBezTo>
                  <a:cubicBezTo>
                    <a:pt x="231685" y="1316816"/>
                    <a:pt x="254427" y="1234873"/>
                    <a:pt x="221381" y="1300966"/>
                  </a:cubicBezTo>
                  <a:cubicBezTo>
                    <a:pt x="216844" y="1310041"/>
                    <a:pt x="216683" y="1320972"/>
                    <a:pt x="211756" y="1329841"/>
                  </a:cubicBezTo>
                  <a:cubicBezTo>
                    <a:pt x="200520" y="1350066"/>
                    <a:pt x="186089" y="1368342"/>
                    <a:pt x="173255" y="1387593"/>
                  </a:cubicBezTo>
                  <a:lnTo>
                    <a:pt x="154004" y="1416469"/>
                  </a:lnTo>
                  <a:cubicBezTo>
                    <a:pt x="146149" y="1440035"/>
                    <a:pt x="139997" y="1463030"/>
                    <a:pt x="125128" y="1483846"/>
                  </a:cubicBezTo>
                  <a:cubicBezTo>
                    <a:pt x="117216" y="1494922"/>
                    <a:pt x="105877" y="1503096"/>
                    <a:pt x="96252" y="1512721"/>
                  </a:cubicBezTo>
                  <a:cubicBezTo>
                    <a:pt x="93044" y="1528763"/>
                    <a:pt x="92371" y="1545530"/>
                    <a:pt x="86627" y="1560848"/>
                  </a:cubicBezTo>
                  <a:cubicBezTo>
                    <a:pt x="62038" y="1626421"/>
                    <a:pt x="67377" y="1554284"/>
                    <a:pt x="67377" y="1618599"/>
                  </a:cubicBezTo>
                </a:path>
              </a:pathLst>
            </a:cu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形状 10">
              <a:extLst>
                <a:ext uri="{FF2B5EF4-FFF2-40B4-BE49-F238E27FC236}">
                  <a16:creationId xmlns:a16="http://schemas.microsoft.com/office/drawing/2014/main" xmlns="" id="{D469BFB8-E73A-4F2B-93E2-A383E2EB2189}"/>
                </a:ext>
              </a:extLst>
            </p:cNvPr>
            <p:cNvSpPr/>
            <p:nvPr/>
          </p:nvSpPr>
          <p:spPr>
            <a:xfrm>
              <a:off x="9557886" y="5582653"/>
              <a:ext cx="308009" cy="683393"/>
            </a:xfrm>
            <a:custGeom>
              <a:avLst/>
              <a:gdLst>
                <a:gd name="connsiteX0" fmla="*/ 308009 w 308009"/>
                <a:gd name="connsiteY0" fmla="*/ 0 h 683393"/>
                <a:gd name="connsiteX1" fmla="*/ 269508 w 308009"/>
                <a:gd name="connsiteY1" fmla="*/ 48126 h 683393"/>
                <a:gd name="connsiteX2" fmla="*/ 211756 w 308009"/>
                <a:gd name="connsiteY2" fmla="*/ 67376 h 683393"/>
                <a:gd name="connsiteX3" fmla="*/ 182880 w 308009"/>
                <a:gd name="connsiteY3" fmla="*/ 77002 h 683393"/>
                <a:gd name="connsiteX4" fmla="*/ 134754 w 308009"/>
                <a:gd name="connsiteY4" fmla="*/ 115503 h 683393"/>
                <a:gd name="connsiteX5" fmla="*/ 77002 w 308009"/>
                <a:gd name="connsiteY5" fmla="*/ 154004 h 683393"/>
                <a:gd name="connsiteX6" fmla="*/ 48127 w 308009"/>
                <a:gd name="connsiteY6" fmla="*/ 182880 h 683393"/>
                <a:gd name="connsiteX7" fmla="*/ 19251 w 308009"/>
                <a:gd name="connsiteY7" fmla="*/ 202130 h 683393"/>
                <a:gd name="connsiteX8" fmla="*/ 0 w 308009"/>
                <a:gd name="connsiteY8" fmla="*/ 231006 h 683393"/>
                <a:gd name="connsiteX9" fmla="*/ 9626 w 308009"/>
                <a:gd name="connsiteY9" fmla="*/ 365760 h 683393"/>
                <a:gd name="connsiteX10" fmla="*/ 28876 w 308009"/>
                <a:gd name="connsiteY10" fmla="*/ 394635 h 683393"/>
                <a:gd name="connsiteX11" fmla="*/ 38501 w 308009"/>
                <a:gd name="connsiteY11" fmla="*/ 433136 h 683393"/>
                <a:gd name="connsiteX12" fmla="*/ 67377 w 308009"/>
                <a:gd name="connsiteY12" fmla="*/ 548640 h 683393"/>
                <a:gd name="connsiteX13" fmla="*/ 96253 w 308009"/>
                <a:gd name="connsiteY13" fmla="*/ 664143 h 683393"/>
                <a:gd name="connsiteX14" fmla="*/ 115503 w 308009"/>
                <a:gd name="connsiteY14" fmla="*/ 683393 h 68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8009" h="683393">
                  <a:moveTo>
                    <a:pt x="308009" y="0"/>
                  </a:moveTo>
                  <a:cubicBezTo>
                    <a:pt x="295175" y="16042"/>
                    <a:pt x="286338" y="36345"/>
                    <a:pt x="269508" y="48126"/>
                  </a:cubicBezTo>
                  <a:cubicBezTo>
                    <a:pt x="252884" y="59763"/>
                    <a:pt x="231007" y="60959"/>
                    <a:pt x="211756" y="67376"/>
                  </a:cubicBezTo>
                  <a:lnTo>
                    <a:pt x="182880" y="77002"/>
                  </a:lnTo>
                  <a:cubicBezTo>
                    <a:pt x="139829" y="141581"/>
                    <a:pt x="190544" y="78310"/>
                    <a:pt x="134754" y="115503"/>
                  </a:cubicBezTo>
                  <a:cubicBezTo>
                    <a:pt x="62653" y="163570"/>
                    <a:pt x="145662" y="131118"/>
                    <a:pt x="77002" y="154004"/>
                  </a:cubicBezTo>
                  <a:cubicBezTo>
                    <a:pt x="67377" y="163629"/>
                    <a:pt x="58584" y="174166"/>
                    <a:pt x="48127" y="182880"/>
                  </a:cubicBezTo>
                  <a:cubicBezTo>
                    <a:pt x="39240" y="190286"/>
                    <a:pt x="27431" y="193950"/>
                    <a:pt x="19251" y="202130"/>
                  </a:cubicBezTo>
                  <a:cubicBezTo>
                    <a:pt x="11071" y="210310"/>
                    <a:pt x="6417" y="221381"/>
                    <a:pt x="0" y="231006"/>
                  </a:cubicBezTo>
                  <a:cubicBezTo>
                    <a:pt x="3209" y="275924"/>
                    <a:pt x="1800" y="321413"/>
                    <a:pt x="9626" y="365760"/>
                  </a:cubicBezTo>
                  <a:cubicBezTo>
                    <a:pt x="11636" y="377152"/>
                    <a:pt x="24319" y="384002"/>
                    <a:pt x="28876" y="394635"/>
                  </a:cubicBezTo>
                  <a:cubicBezTo>
                    <a:pt x="34087" y="406794"/>
                    <a:pt x="34867" y="420416"/>
                    <a:pt x="38501" y="433136"/>
                  </a:cubicBezTo>
                  <a:cubicBezTo>
                    <a:pt x="59315" y="505984"/>
                    <a:pt x="40581" y="405724"/>
                    <a:pt x="67377" y="548640"/>
                  </a:cubicBezTo>
                  <a:cubicBezTo>
                    <a:pt x="77453" y="602379"/>
                    <a:pt x="70094" y="618364"/>
                    <a:pt x="96253" y="664143"/>
                  </a:cubicBezTo>
                  <a:cubicBezTo>
                    <a:pt x="100755" y="672022"/>
                    <a:pt x="109086" y="676976"/>
                    <a:pt x="115503" y="683393"/>
                  </a:cubicBezTo>
                </a:path>
              </a:pathLst>
            </a:cu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文本框 12">
            <a:extLst>
              <a:ext uri="{FF2B5EF4-FFF2-40B4-BE49-F238E27FC236}">
                <a16:creationId xmlns:a16="http://schemas.microsoft.com/office/drawing/2014/main" xmlns="" id="{D1BFEBF8-579E-4FA9-BD66-2BFFA075E669}"/>
              </a:ext>
            </a:extLst>
          </p:cNvPr>
          <p:cNvSpPr txBox="1"/>
          <p:nvPr/>
        </p:nvSpPr>
        <p:spPr>
          <a:xfrm>
            <a:off x="0" y="2481880"/>
            <a:ext cx="5678905" cy="4154984"/>
          </a:xfrm>
          <a:prstGeom prst="rect">
            <a:avLst/>
          </a:prstGeom>
          <a:noFill/>
        </p:spPr>
        <p:txBody>
          <a:bodyPr wrap="square" rtlCol="0">
            <a:spAutoFit/>
          </a:bodyPr>
          <a:lstStyle/>
          <a:p>
            <a:r>
              <a:rPr lang="en-US" altLang="zh-CN" sz="2400" b="1" dirty="0">
                <a:solidFill>
                  <a:srgbClr val="FF0000"/>
                </a:solidFill>
              </a:rPr>
              <a:t>【</a:t>
            </a:r>
            <a:r>
              <a:rPr lang="zh-CN" altLang="en-US" sz="2400" b="1" dirty="0">
                <a:solidFill>
                  <a:srgbClr val="FF0000"/>
                </a:solidFill>
              </a:rPr>
              <a:t>常见问题</a:t>
            </a:r>
            <a:r>
              <a:rPr lang="en-US" altLang="zh-CN" sz="2400" b="1" dirty="0">
                <a:solidFill>
                  <a:srgbClr val="FF0000"/>
                </a:solidFill>
              </a:rPr>
              <a:t>】</a:t>
            </a:r>
          </a:p>
          <a:p>
            <a:endParaRPr lang="en-US" altLang="zh-CN" sz="2400" b="1" dirty="0">
              <a:solidFill>
                <a:srgbClr val="FF0000"/>
              </a:solidFill>
            </a:endParaRPr>
          </a:p>
          <a:p>
            <a:r>
              <a:rPr lang="en-US" altLang="zh-CN" sz="2400" b="1" dirty="0">
                <a:solidFill>
                  <a:srgbClr val="FF0000"/>
                </a:solidFill>
              </a:rPr>
              <a:t>1</a:t>
            </a:r>
            <a:r>
              <a:rPr lang="zh-CN" altLang="en-US" sz="2400" b="1" dirty="0">
                <a:solidFill>
                  <a:srgbClr val="FF0000"/>
                </a:solidFill>
              </a:rPr>
              <a:t>、对新疆西北侧，山地降水的成因，掌握不足。描述成阻挡“西北季风”。</a:t>
            </a:r>
            <a:endParaRPr lang="en-US" altLang="zh-CN" sz="2400" b="1" dirty="0">
              <a:solidFill>
                <a:srgbClr val="FF0000"/>
              </a:solidFill>
            </a:endParaRPr>
          </a:p>
          <a:p>
            <a:endParaRPr lang="en-US" altLang="zh-CN" sz="2400" b="1" dirty="0">
              <a:solidFill>
                <a:srgbClr val="FF0000"/>
              </a:solidFill>
            </a:endParaRPr>
          </a:p>
          <a:p>
            <a:r>
              <a:rPr lang="en-US" altLang="zh-CN" sz="2400" b="1" dirty="0">
                <a:solidFill>
                  <a:srgbClr val="FF0000"/>
                </a:solidFill>
              </a:rPr>
              <a:t>2</a:t>
            </a:r>
            <a:r>
              <a:rPr lang="zh-CN" altLang="en-US" sz="2400" b="1" dirty="0">
                <a:solidFill>
                  <a:srgbClr val="FF0000"/>
                </a:solidFill>
              </a:rPr>
              <a:t>、对地形雨的形成表达不准确，简单写成“位于迎风坡”。</a:t>
            </a:r>
            <a:endParaRPr lang="en-US" altLang="zh-CN" sz="2400" b="1" dirty="0">
              <a:solidFill>
                <a:srgbClr val="FF0000"/>
              </a:solidFill>
            </a:endParaRPr>
          </a:p>
          <a:p>
            <a:endParaRPr lang="en-US" altLang="zh-CN" sz="2400" b="1" dirty="0">
              <a:solidFill>
                <a:srgbClr val="FF0000"/>
              </a:solidFill>
            </a:endParaRPr>
          </a:p>
          <a:p>
            <a:r>
              <a:rPr lang="en-US" altLang="zh-CN" sz="2400" b="1" dirty="0">
                <a:solidFill>
                  <a:srgbClr val="FF0000"/>
                </a:solidFill>
              </a:rPr>
              <a:t>3</a:t>
            </a:r>
            <a:r>
              <a:rPr lang="zh-CN" altLang="en-US" sz="2400" b="1" dirty="0">
                <a:solidFill>
                  <a:srgbClr val="FF0000"/>
                </a:solidFill>
              </a:rPr>
              <a:t>、没有对宏观尺度，降水少的描述。正是由于宏观尺度降水少，才会凸显出地方尺度的独特特征。</a:t>
            </a:r>
          </a:p>
        </p:txBody>
      </p:sp>
    </p:spTree>
    <p:extLst>
      <p:ext uri="{BB962C8B-B14F-4D97-AF65-F5344CB8AC3E}">
        <p14:creationId xmlns:p14="http://schemas.microsoft.com/office/powerpoint/2010/main" xmlns="" val="2136837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34DDC1F3-E323-43ED-94CF-A9D65AA82E4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7169" name="图片 11" descr="2017年全国普通高等学校招生统一考试文综地理（全国卷3）【解析】">
            <a:extLst>
              <a:ext uri="{FF2B5EF4-FFF2-40B4-BE49-F238E27FC236}">
                <a16:creationId xmlns:a16="http://schemas.microsoft.com/office/drawing/2014/main" xmlns="" id="{753C0C0B-07B3-48F1-88AF-31329280928A}"/>
              </a:ext>
            </a:extLst>
          </p:cNvPr>
          <p:cNvPicPr>
            <a:picLocks noChangeAspect="1" noChangeArrowheads="1"/>
          </p:cNvPicPr>
          <p:nvPr/>
        </p:nvPicPr>
        <p:blipFill>
          <a:blip r:embed="rId2" cstate="print">
            <a:lum bright="-38000" contrast="60000"/>
            <a:extLst>
              <a:ext uri="{28A0092B-C50C-407E-A947-70E740481C1C}">
                <a14:useLocalDpi xmlns:a14="http://schemas.microsoft.com/office/drawing/2010/main" xmlns="" val="0"/>
              </a:ext>
            </a:extLst>
          </a:blip>
          <a:srcRect/>
          <a:stretch>
            <a:fillRect/>
          </a:stretch>
        </p:blipFill>
        <p:spPr bwMode="auto">
          <a:xfrm>
            <a:off x="5741123" y="3359219"/>
            <a:ext cx="6450877" cy="3498781"/>
          </a:xfrm>
          <a:prstGeom prst="rect">
            <a:avLst/>
          </a:prstGeom>
          <a:noFill/>
          <a:extLst>
            <a:ext uri="{909E8E84-426E-40DD-AFC4-6F175D3DCCD1}">
              <a14:hiddenFill xmlns:a14="http://schemas.microsoft.com/office/drawing/2010/main" xmlns="">
                <a:solidFill>
                  <a:srgbClr val="FFFFFF"/>
                </a:solidFill>
              </a14:hiddenFill>
            </a:ext>
          </a:extLst>
        </p:spPr>
      </p:pic>
      <p:sp>
        <p:nvSpPr>
          <p:cNvPr id="3" name="Rectangle 3">
            <a:extLst>
              <a:ext uri="{FF2B5EF4-FFF2-40B4-BE49-F238E27FC236}">
                <a16:creationId xmlns:a16="http://schemas.microsoft.com/office/drawing/2014/main" xmlns="" id="{9CD8CB75-B05B-4541-81BC-3F1D571D3D62}"/>
              </a:ext>
            </a:extLst>
          </p:cNvPr>
          <p:cNvSpPr>
            <a:spLocks noChangeArrowheads="1"/>
          </p:cNvSpPr>
          <p:nvPr/>
        </p:nvSpPr>
        <p:spPr bwMode="auto">
          <a:xfrm>
            <a:off x="1" y="0"/>
            <a:ext cx="12192000" cy="18158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381000" algn="l"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dirty="0">
                <a:ln>
                  <a:noFill/>
                </a:ln>
                <a:solidFill>
                  <a:schemeClr val="tx1"/>
                </a:solidFill>
                <a:effectLst/>
                <a:latin typeface="华文宋体" panose="02010600040101010101" pitchFamily="2" charset="-122"/>
                <a:ea typeface="华文宋体" panose="02010600040101010101" pitchFamily="2" charset="-122"/>
                <a:cs typeface="宋体" panose="02010600030101010101" pitchFamily="2" charset="-122"/>
              </a:rPr>
              <a:t>  白斑狗鱼肉质细嫩，营养丰富，有“鱼中软黄金”之称，白斑狗鱼是</a:t>
            </a:r>
            <a:r>
              <a:rPr kumimoji="0" lang="zh-CN" altLang="en-US" sz="2800" b="0" i="0" u="none" strike="noStrike" cap="none" normalizeH="0" baseline="0" dirty="0">
                <a:ln>
                  <a:noFill/>
                </a:ln>
                <a:solidFill>
                  <a:srgbClr val="0000FF"/>
                </a:solidFill>
                <a:effectLst/>
                <a:latin typeface="华文宋体" panose="02010600040101010101" pitchFamily="2" charset="-122"/>
                <a:ea typeface="华文宋体" panose="02010600040101010101" pitchFamily="2" charset="-122"/>
                <a:cs typeface="宋体" panose="02010600030101010101" pitchFamily="2" charset="-122"/>
              </a:rPr>
              <a:t>肉食性鱼</a:t>
            </a:r>
            <a:r>
              <a:rPr kumimoji="0" lang="zh-CN" altLang="en-US" sz="2800" b="0" i="0" u="none" strike="noStrike" cap="none" normalizeH="0" baseline="0" dirty="0">
                <a:ln>
                  <a:noFill/>
                </a:ln>
                <a:solidFill>
                  <a:schemeClr val="tx1"/>
                </a:solidFill>
                <a:effectLst/>
                <a:latin typeface="华文宋体" panose="02010600040101010101" pitchFamily="2" charset="-122"/>
                <a:ea typeface="华文宋体" panose="02010600040101010101" pitchFamily="2" charset="-122"/>
                <a:cs typeface="宋体" panose="02010600030101010101" pitchFamily="2" charset="-122"/>
              </a:rPr>
              <a:t>，适宜</a:t>
            </a:r>
            <a:r>
              <a:rPr lang="zh-CN" altLang="en-US" sz="2800" dirty="0">
                <a:solidFill>
                  <a:srgbClr val="0000FF"/>
                </a:solidFill>
                <a:latin typeface="华文宋体" panose="02010600040101010101" pitchFamily="2" charset="-122"/>
                <a:ea typeface="华文宋体" panose="02010600040101010101" pitchFamily="2" charset="-122"/>
                <a:cs typeface="宋体" panose="02010600030101010101" pitchFamily="2" charset="-122"/>
              </a:rPr>
              <a:t>在</a:t>
            </a:r>
            <a:r>
              <a:rPr lang="en-US" altLang="zh-CN" sz="2800" dirty="0">
                <a:solidFill>
                  <a:srgbClr val="0000FF"/>
                </a:solidFill>
                <a:latin typeface="华文宋体" panose="02010600040101010101" pitchFamily="2" charset="-122"/>
                <a:ea typeface="华文宋体" panose="02010600040101010101" pitchFamily="2" charset="-122"/>
                <a:cs typeface="宋体" panose="02010600030101010101" pitchFamily="2" charset="-122"/>
              </a:rPr>
              <a:t>16℃</a:t>
            </a:r>
            <a:r>
              <a:rPr lang="zh-CN" altLang="en-US" sz="2800" dirty="0">
                <a:solidFill>
                  <a:srgbClr val="0000FF"/>
                </a:solidFill>
                <a:latin typeface="华文宋体" panose="02010600040101010101" pitchFamily="2" charset="-122"/>
                <a:ea typeface="华文宋体" panose="02010600040101010101" pitchFamily="2" charset="-122"/>
                <a:cs typeface="宋体" panose="02010600030101010101" pitchFamily="2" charset="-122"/>
              </a:rPr>
              <a:t>以下的水域产卵繁殖</a:t>
            </a:r>
            <a:r>
              <a:rPr kumimoji="0" lang="zh-CN" altLang="en-US" sz="2800" b="0" i="0" u="none" strike="noStrike" cap="none" normalizeH="0" baseline="0" dirty="0">
                <a:ln>
                  <a:noFill/>
                </a:ln>
                <a:solidFill>
                  <a:schemeClr val="tx1"/>
                </a:solidFill>
                <a:effectLst/>
                <a:latin typeface="华文宋体" panose="02010600040101010101" pitchFamily="2" charset="-122"/>
                <a:ea typeface="华文宋体" panose="02010600040101010101" pitchFamily="2" charset="-122"/>
                <a:cs typeface="宋体" panose="02010600030101010101" pitchFamily="2" charset="-122"/>
              </a:rPr>
              <a:t>，分布于亚洲、欧洲和北美洲的</a:t>
            </a:r>
            <a:r>
              <a:rPr lang="zh-CN" altLang="en-US" sz="2800" dirty="0">
                <a:solidFill>
                  <a:srgbClr val="0000FF"/>
                </a:solidFill>
                <a:latin typeface="华文宋体" panose="02010600040101010101" pitchFamily="2" charset="-122"/>
                <a:ea typeface="华文宋体" panose="02010600040101010101" pitchFamily="2" charset="-122"/>
                <a:cs typeface="宋体" panose="02010600030101010101" pitchFamily="2" charset="-122"/>
              </a:rPr>
              <a:t>北部冷水水域</a:t>
            </a:r>
            <a:r>
              <a:rPr kumimoji="0" lang="zh-CN" altLang="en-US" sz="2800" b="0" i="0" u="none" strike="noStrike" cap="none" normalizeH="0" baseline="0" dirty="0">
                <a:ln>
                  <a:noFill/>
                </a:ln>
                <a:solidFill>
                  <a:schemeClr val="tx1"/>
                </a:solidFill>
                <a:effectLst/>
                <a:latin typeface="华文宋体" panose="02010600040101010101" pitchFamily="2" charset="-122"/>
                <a:ea typeface="华文宋体" panose="02010600040101010101" pitchFamily="2" charset="-122"/>
                <a:cs typeface="宋体" panose="02010600030101010101" pitchFamily="2" charset="-122"/>
              </a:rPr>
              <a:t>，</a:t>
            </a:r>
            <a:r>
              <a:rPr lang="zh-CN" altLang="en-US" sz="2800" dirty="0">
                <a:solidFill>
                  <a:srgbClr val="0000FF"/>
                </a:solidFill>
                <a:latin typeface="华文宋体" panose="02010600040101010101" pitchFamily="2" charset="-122"/>
                <a:ea typeface="华文宋体" panose="02010600040101010101" pitchFamily="2" charset="-122"/>
                <a:cs typeface="宋体" panose="02010600030101010101" pitchFamily="2" charset="-122"/>
              </a:rPr>
              <a:t>栖息环境多为水质清澈、水草丛生的河流</a:t>
            </a:r>
            <a:r>
              <a:rPr kumimoji="0" lang="zh-CN" altLang="en-US" sz="2800" b="0" i="0" u="none" strike="noStrike" cap="none" normalizeH="0" baseline="0" dirty="0">
                <a:ln>
                  <a:noFill/>
                </a:ln>
                <a:solidFill>
                  <a:schemeClr val="tx1"/>
                </a:solidFill>
                <a:effectLst/>
                <a:latin typeface="华文宋体" panose="02010600040101010101" pitchFamily="2" charset="-122"/>
                <a:ea typeface="华文宋体" panose="02010600040101010101" pitchFamily="2" charset="-122"/>
                <a:cs typeface="宋体" panose="02010600030101010101" pitchFamily="2" charset="-122"/>
              </a:rPr>
              <a:t>，在我国仅见于新疆的额尔齐斯河流域。额尔齐斯河是我国</a:t>
            </a:r>
            <a:r>
              <a:rPr lang="zh-CN" altLang="en-US" sz="2800" dirty="0">
                <a:solidFill>
                  <a:srgbClr val="0000FF"/>
                </a:solidFill>
                <a:latin typeface="华文宋体" panose="02010600040101010101" pitchFamily="2" charset="-122"/>
                <a:ea typeface="华文宋体" panose="02010600040101010101" pitchFamily="2" charset="-122"/>
                <a:cs typeface="宋体" panose="02010600030101010101" pitchFamily="2" charset="-122"/>
              </a:rPr>
              <a:t>唯一属于北冰洋水系的河流</a:t>
            </a:r>
            <a:r>
              <a:rPr kumimoji="0" lang="zh-CN" altLang="en-US" sz="2800" b="0" i="0" u="none" strike="noStrike" cap="none" normalizeH="0" baseline="0" dirty="0">
                <a:ln>
                  <a:noFill/>
                </a:ln>
                <a:solidFill>
                  <a:schemeClr val="tx1"/>
                </a:solidFill>
                <a:effectLst/>
                <a:latin typeface="华文宋体" panose="02010600040101010101" pitchFamily="2" charset="-122"/>
                <a:ea typeface="华文宋体" panose="02010600040101010101" pitchFamily="2" charset="-122"/>
                <a:cs typeface="宋体" panose="02010600030101010101" pitchFamily="2" charset="-122"/>
              </a:rPr>
              <a:t>。</a:t>
            </a:r>
            <a:endParaRPr kumimoji="0" lang="zh-CN" altLang="en-US" sz="2800" b="0" i="0" u="none" strike="noStrike" cap="none" normalizeH="0" baseline="0" dirty="0">
              <a:ln>
                <a:noFill/>
              </a:ln>
              <a:solidFill>
                <a:schemeClr val="tx1"/>
              </a:solidFill>
              <a:effectLst/>
              <a:latin typeface="华文宋体" panose="02010600040101010101" pitchFamily="2" charset="-122"/>
              <a:ea typeface="华文宋体" panose="02010600040101010101" pitchFamily="2" charset="-122"/>
            </a:endParaRPr>
          </a:p>
        </p:txBody>
      </p:sp>
      <p:sp>
        <p:nvSpPr>
          <p:cNvPr id="18" name="文本框 17">
            <a:extLst>
              <a:ext uri="{FF2B5EF4-FFF2-40B4-BE49-F238E27FC236}">
                <a16:creationId xmlns:a16="http://schemas.microsoft.com/office/drawing/2014/main" xmlns="" id="{F760F536-0C13-49EF-9A1E-3B7795F73DEB}"/>
              </a:ext>
            </a:extLst>
          </p:cNvPr>
          <p:cNvSpPr txBox="1"/>
          <p:nvPr/>
        </p:nvSpPr>
        <p:spPr>
          <a:xfrm>
            <a:off x="-93847" y="1689609"/>
            <a:ext cx="12035590" cy="523220"/>
          </a:xfrm>
          <a:prstGeom prst="rect">
            <a:avLst/>
          </a:prstGeom>
          <a:noFill/>
        </p:spPr>
        <p:txBody>
          <a:bodyPr wrap="square">
            <a:spAutoFit/>
          </a:bodyPr>
          <a:lstStyle/>
          <a:p>
            <a:pPr lvl="0"/>
            <a:r>
              <a:rPr lang="zh-CN" altLang="en-US" sz="2800" dirty="0">
                <a:latin typeface="宋体" panose="02010600030101010101" pitchFamily="2" charset="-122"/>
                <a:ea typeface="宋体" panose="02010600030101010101" pitchFamily="2" charset="-122"/>
              </a:rPr>
              <a:t>（</a:t>
            </a:r>
            <a:r>
              <a:rPr lang="en-US" altLang="zh-CN" sz="2800" dirty="0">
                <a:latin typeface="宋体" panose="02010600030101010101" pitchFamily="2" charset="-122"/>
                <a:ea typeface="宋体" panose="02010600030101010101" pitchFamily="2" charset="-122"/>
              </a:rPr>
              <a:t>2</a:t>
            </a:r>
            <a:r>
              <a:rPr lang="zh-CN" altLang="en-US" sz="2800" dirty="0">
                <a:latin typeface="宋体" panose="02010600030101010101" pitchFamily="2" charset="-122"/>
                <a:ea typeface="宋体" panose="02010600030101010101" pitchFamily="2" charset="-122"/>
              </a:rPr>
              <a:t>）</a:t>
            </a:r>
            <a:r>
              <a:rPr lang="zh-CN" altLang="zh-CN" sz="2800" dirty="0">
                <a:latin typeface="宋体" panose="02010600030101010101" pitchFamily="2" charset="-122"/>
                <a:ea typeface="宋体" panose="02010600030101010101" pitchFamily="2" charset="-122"/>
              </a:rPr>
              <a:t>分析图示</a:t>
            </a:r>
            <a:r>
              <a:rPr lang="zh-CN" altLang="zh-CN" sz="2800" dirty="0">
                <a:solidFill>
                  <a:srgbClr val="0000FF"/>
                </a:solidFill>
                <a:latin typeface="宋体" panose="02010600030101010101" pitchFamily="2" charset="-122"/>
                <a:ea typeface="宋体" panose="02010600030101010101" pitchFamily="2" charset="-122"/>
              </a:rPr>
              <a:t>额尔齐斯河流域</a:t>
            </a:r>
            <a:r>
              <a:rPr lang="zh-CN" altLang="zh-CN" sz="2800" dirty="0">
                <a:latin typeface="宋体" panose="02010600030101010101" pitchFamily="2" charset="-122"/>
                <a:ea typeface="宋体" panose="02010600030101010101" pitchFamily="2" charset="-122"/>
              </a:rPr>
              <a:t>适合白斑狗鱼</a:t>
            </a:r>
            <a:r>
              <a:rPr lang="zh-CN" altLang="zh-CN" sz="2800" dirty="0">
                <a:solidFill>
                  <a:srgbClr val="0000FF"/>
                </a:solidFill>
                <a:latin typeface="宋体" panose="02010600030101010101" pitchFamily="2" charset="-122"/>
                <a:ea typeface="宋体" panose="02010600030101010101" pitchFamily="2" charset="-122"/>
              </a:rPr>
              <a:t>生长繁殖</a:t>
            </a:r>
            <a:r>
              <a:rPr lang="zh-CN" altLang="zh-CN" sz="2800" dirty="0">
                <a:latin typeface="宋体" panose="02010600030101010101" pitchFamily="2" charset="-122"/>
                <a:ea typeface="宋体" panose="02010600030101010101" pitchFamily="2" charset="-122"/>
              </a:rPr>
              <a:t>的</a:t>
            </a:r>
            <a:r>
              <a:rPr lang="zh-CN" altLang="zh-CN" sz="2800" dirty="0">
                <a:solidFill>
                  <a:srgbClr val="0000FF"/>
                </a:solidFill>
                <a:latin typeface="宋体" panose="02010600030101010101" pitchFamily="2" charset="-122"/>
                <a:ea typeface="宋体" panose="02010600030101010101" pitchFamily="2" charset="-122"/>
              </a:rPr>
              <a:t>自然条件</a:t>
            </a:r>
            <a:r>
              <a:rPr lang="zh-CN" altLang="zh-CN" sz="2800" dirty="0">
                <a:latin typeface="宋体" panose="02010600030101010101" pitchFamily="2" charset="-122"/>
                <a:ea typeface="宋体" panose="02010600030101010101" pitchFamily="2" charset="-122"/>
              </a:rPr>
              <a:t>。（</a:t>
            </a:r>
            <a:r>
              <a:rPr lang="en-US" altLang="zh-CN" sz="2800" dirty="0">
                <a:latin typeface="宋体" panose="02010600030101010101" pitchFamily="2" charset="-122"/>
                <a:ea typeface="宋体" panose="02010600030101010101" pitchFamily="2" charset="-122"/>
              </a:rPr>
              <a:t>8</a:t>
            </a:r>
            <a:r>
              <a:rPr lang="zh-CN" altLang="zh-CN" sz="2800" dirty="0">
                <a:latin typeface="宋体" panose="02010600030101010101" pitchFamily="2" charset="-122"/>
                <a:ea typeface="宋体" panose="02010600030101010101" pitchFamily="2" charset="-122"/>
              </a:rPr>
              <a:t>分）</a:t>
            </a:r>
          </a:p>
        </p:txBody>
      </p:sp>
      <p:sp>
        <p:nvSpPr>
          <p:cNvPr id="19" name="文本框 18">
            <a:extLst>
              <a:ext uri="{FF2B5EF4-FFF2-40B4-BE49-F238E27FC236}">
                <a16:creationId xmlns:a16="http://schemas.microsoft.com/office/drawing/2014/main" xmlns="" id="{D446BF8B-CF9C-4A1A-AE72-88EF6C77F1E3}"/>
              </a:ext>
            </a:extLst>
          </p:cNvPr>
          <p:cNvSpPr txBox="1"/>
          <p:nvPr/>
        </p:nvSpPr>
        <p:spPr>
          <a:xfrm>
            <a:off x="0" y="2212829"/>
            <a:ext cx="10796545" cy="954107"/>
          </a:xfrm>
          <a:prstGeom prst="rect">
            <a:avLst/>
          </a:prstGeom>
          <a:noFill/>
        </p:spPr>
        <p:txBody>
          <a:bodyPr wrap="none" rtlCol="0">
            <a:spAutoFit/>
          </a:bodyPr>
          <a:lstStyle/>
          <a:p>
            <a:r>
              <a:rPr lang="en-US" altLang="zh-CN" sz="2800" b="1" dirty="0">
                <a:solidFill>
                  <a:srgbClr val="FF0000"/>
                </a:solidFill>
              </a:rPr>
              <a:t>【</a:t>
            </a:r>
            <a:r>
              <a:rPr lang="zh-CN" altLang="en-US" sz="2800" b="1" dirty="0">
                <a:solidFill>
                  <a:srgbClr val="FF0000"/>
                </a:solidFill>
              </a:rPr>
              <a:t>解析</a:t>
            </a:r>
            <a:r>
              <a:rPr lang="en-US" altLang="zh-CN" sz="2800" b="1" dirty="0">
                <a:solidFill>
                  <a:srgbClr val="FF0000"/>
                </a:solidFill>
              </a:rPr>
              <a:t>】1</a:t>
            </a:r>
            <a:r>
              <a:rPr lang="zh-CN" altLang="en-US" sz="2800" b="1" dirty="0">
                <a:solidFill>
                  <a:srgbClr val="FF0000"/>
                </a:solidFill>
              </a:rPr>
              <a:t>、影响渔业的一般因素：水域范围（生存空间）、饵料。</a:t>
            </a:r>
            <a:endParaRPr lang="en-US" altLang="zh-CN" sz="2800" b="1" dirty="0">
              <a:solidFill>
                <a:srgbClr val="FF0000"/>
              </a:solidFill>
            </a:endParaRPr>
          </a:p>
          <a:p>
            <a:r>
              <a:rPr lang="en-US" altLang="zh-CN" sz="2800" b="1" dirty="0">
                <a:solidFill>
                  <a:srgbClr val="FF0000"/>
                </a:solidFill>
              </a:rPr>
              <a:t>2</a:t>
            </a:r>
            <a:r>
              <a:rPr lang="zh-CN" altLang="en-US" sz="2800" b="1" dirty="0">
                <a:solidFill>
                  <a:srgbClr val="FF0000"/>
                </a:solidFill>
              </a:rPr>
              <a:t>、影响农业区位因素一般思路：</a:t>
            </a:r>
            <a:r>
              <a:rPr lang="en-US" altLang="zh-CN" sz="2800" b="1" dirty="0">
                <a:solidFill>
                  <a:srgbClr val="FF0000"/>
                </a:solidFill>
              </a:rPr>
              <a:t>a</a:t>
            </a:r>
            <a:r>
              <a:rPr lang="zh-CN" altLang="en-US" sz="2800" b="1" dirty="0">
                <a:solidFill>
                  <a:srgbClr val="FF0000"/>
                </a:solidFill>
              </a:rPr>
              <a:t>、区域特征，</a:t>
            </a:r>
            <a:r>
              <a:rPr lang="en-US" altLang="zh-CN" sz="2800" b="1" dirty="0">
                <a:solidFill>
                  <a:srgbClr val="FF0000"/>
                </a:solidFill>
              </a:rPr>
              <a:t>b</a:t>
            </a:r>
            <a:r>
              <a:rPr lang="zh-CN" altLang="en-US" sz="2800" b="1" dirty="0">
                <a:solidFill>
                  <a:srgbClr val="FF0000"/>
                </a:solidFill>
              </a:rPr>
              <a:t>、农产品习性。</a:t>
            </a:r>
          </a:p>
        </p:txBody>
      </p:sp>
      <p:sp>
        <p:nvSpPr>
          <p:cNvPr id="21" name="文本框 20">
            <a:extLst>
              <a:ext uri="{FF2B5EF4-FFF2-40B4-BE49-F238E27FC236}">
                <a16:creationId xmlns:a16="http://schemas.microsoft.com/office/drawing/2014/main" xmlns="" id="{92F1F2FD-A5BF-4F96-BC6C-DFB8649E341A}"/>
              </a:ext>
            </a:extLst>
          </p:cNvPr>
          <p:cNvSpPr txBox="1"/>
          <p:nvPr/>
        </p:nvSpPr>
        <p:spPr>
          <a:xfrm>
            <a:off x="45720" y="4041684"/>
            <a:ext cx="798897" cy="646331"/>
          </a:xfrm>
          <a:prstGeom prst="rect">
            <a:avLst/>
          </a:prstGeom>
          <a:noFill/>
        </p:spPr>
        <p:txBody>
          <a:bodyPr wrap="square">
            <a:spAutoFit/>
          </a:bodyPr>
          <a:lstStyle/>
          <a:p>
            <a:r>
              <a:rPr lang="zh-CN" altLang="zh-CN" sz="1800" dirty="0">
                <a:latin typeface="宋体" panose="02010600030101010101" pitchFamily="2" charset="-122"/>
                <a:ea typeface="宋体" panose="02010600030101010101" pitchFamily="2" charset="-122"/>
              </a:rPr>
              <a:t>白斑狗鱼</a:t>
            </a:r>
            <a:endParaRPr lang="zh-CN" altLang="en-US" dirty="0"/>
          </a:p>
        </p:txBody>
      </p:sp>
      <p:sp>
        <p:nvSpPr>
          <p:cNvPr id="20" name="左大括号 19">
            <a:extLst>
              <a:ext uri="{FF2B5EF4-FFF2-40B4-BE49-F238E27FC236}">
                <a16:creationId xmlns:a16="http://schemas.microsoft.com/office/drawing/2014/main" xmlns="" id="{1A6301CF-8787-40CB-AF3E-BB4E6A6406B4}"/>
              </a:ext>
            </a:extLst>
          </p:cNvPr>
          <p:cNvSpPr/>
          <p:nvPr/>
        </p:nvSpPr>
        <p:spPr>
          <a:xfrm>
            <a:off x="603985" y="3204799"/>
            <a:ext cx="389823" cy="2320102"/>
          </a:xfrm>
          <a:prstGeom prst="lef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xmlns="" id="{6C843C97-46C3-4B08-BB5A-4449D9B87731}"/>
              </a:ext>
            </a:extLst>
          </p:cNvPr>
          <p:cNvSpPr txBox="1"/>
          <p:nvPr/>
        </p:nvSpPr>
        <p:spPr>
          <a:xfrm>
            <a:off x="993808" y="3047877"/>
            <a:ext cx="1297005" cy="369332"/>
          </a:xfrm>
          <a:prstGeom prst="rect">
            <a:avLst/>
          </a:prstGeom>
          <a:noFill/>
          <a:ln>
            <a:solidFill>
              <a:srgbClr val="0000FF"/>
            </a:solidFill>
          </a:ln>
        </p:spPr>
        <p:txBody>
          <a:bodyPr wrap="square">
            <a:spAutoFit/>
          </a:bodyPr>
          <a:lstStyle/>
          <a:p>
            <a:r>
              <a:rPr kumimoji="0" lang="zh-CN" altLang="en-US" sz="1800" b="0" i="0" u="none" strike="noStrike" cap="none" normalizeH="0" baseline="0" dirty="0">
                <a:ln>
                  <a:noFill/>
                </a:ln>
                <a:solidFill>
                  <a:srgbClr val="0000FF"/>
                </a:solidFill>
                <a:effectLst/>
                <a:latin typeface="华文宋体" panose="02010600040101010101" pitchFamily="2" charset="-122"/>
                <a:ea typeface="华文宋体" panose="02010600040101010101" pitchFamily="2" charset="-122"/>
                <a:cs typeface="宋体" panose="02010600030101010101" pitchFamily="2" charset="-122"/>
              </a:rPr>
              <a:t>肉食性鱼</a:t>
            </a:r>
            <a:endParaRPr lang="zh-CN" altLang="en-US" dirty="0"/>
          </a:p>
        </p:txBody>
      </p:sp>
      <p:sp>
        <p:nvSpPr>
          <p:cNvPr id="25" name="文本框 24">
            <a:extLst>
              <a:ext uri="{FF2B5EF4-FFF2-40B4-BE49-F238E27FC236}">
                <a16:creationId xmlns:a16="http://schemas.microsoft.com/office/drawing/2014/main" xmlns="" id="{FECBB570-2351-4DDD-9F5D-7CA2E60B5FF1}"/>
              </a:ext>
            </a:extLst>
          </p:cNvPr>
          <p:cNvSpPr txBox="1"/>
          <p:nvPr/>
        </p:nvSpPr>
        <p:spPr>
          <a:xfrm>
            <a:off x="993808" y="3417209"/>
            <a:ext cx="1297005" cy="369332"/>
          </a:xfrm>
          <a:prstGeom prst="rect">
            <a:avLst/>
          </a:prstGeom>
          <a:noFill/>
          <a:ln>
            <a:solidFill>
              <a:srgbClr val="0000FF"/>
            </a:solidFill>
          </a:ln>
        </p:spPr>
        <p:txBody>
          <a:bodyPr wrap="square">
            <a:spAutoFit/>
          </a:bodyPr>
          <a:lstStyle/>
          <a:p>
            <a:r>
              <a:rPr lang="en-US" altLang="zh-CN" sz="1800" dirty="0">
                <a:solidFill>
                  <a:srgbClr val="0000FF"/>
                </a:solidFill>
                <a:latin typeface="华文宋体" panose="02010600040101010101" pitchFamily="2" charset="-122"/>
                <a:ea typeface="华文宋体" panose="02010600040101010101" pitchFamily="2" charset="-122"/>
                <a:cs typeface="宋体" panose="02010600030101010101" pitchFamily="2" charset="-122"/>
              </a:rPr>
              <a:t>16℃</a:t>
            </a:r>
            <a:r>
              <a:rPr lang="zh-CN" altLang="en-US" sz="1800" dirty="0">
                <a:solidFill>
                  <a:srgbClr val="0000FF"/>
                </a:solidFill>
                <a:latin typeface="华文宋体" panose="02010600040101010101" pitchFamily="2" charset="-122"/>
                <a:ea typeface="华文宋体" panose="02010600040101010101" pitchFamily="2" charset="-122"/>
                <a:cs typeface="宋体" panose="02010600030101010101" pitchFamily="2" charset="-122"/>
              </a:rPr>
              <a:t>以下</a:t>
            </a:r>
            <a:endParaRPr lang="zh-CN" altLang="en-US" dirty="0"/>
          </a:p>
        </p:txBody>
      </p:sp>
      <p:sp>
        <p:nvSpPr>
          <p:cNvPr id="27" name="文本框 26">
            <a:extLst>
              <a:ext uri="{FF2B5EF4-FFF2-40B4-BE49-F238E27FC236}">
                <a16:creationId xmlns:a16="http://schemas.microsoft.com/office/drawing/2014/main" xmlns="" id="{750E556E-EC7B-4F0B-9A16-CD1DDDC560DD}"/>
              </a:ext>
            </a:extLst>
          </p:cNvPr>
          <p:cNvSpPr txBox="1"/>
          <p:nvPr/>
        </p:nvSpPr>
        <p:spPr>
          <a:xfrm>
            <a:off x="993808" y="3875326"/>
            <a:ext cx="1595388" cy="923330"/>
          </a:xfrm>
          <a:prstGeom prst="rect">
            <a:avLst/>
          </a:prstGeom>
          <a:noFill/>
          <a:ln>
            <a:solidFill>
              <a:srgbClr val="0000FF"/>
            </a:solidFill>
          </a:ln>
        </p:spPr>
        <p:txBody>
          <a:bodyPr wrap="square">
            <a:spAutoFit/>
          </a:bodyPr>
          <a:lstStyle/>
          <a:p>
            <a:r>
              <a:rPr kumimoji="0" lang="zh-CN" altLang="en-US" sz="1800" b="0" i="0" u="none" strike="noStrike" cap="none" normalizeH="0" baseline="0" dirty="0">
                <a:ln>
                  <a:noFill/>
                </a:ln>
                <a:solidFill>
                  <a:schemeClr val="tx1"/>
                </a:solidFill>
                <a:effectLst/>
                <a:latin typeface="华文宋体" panose="02010600040101010101" pitchFamily="2" charset="-122"/>
                <a:ea typeface="华文宋体" panose="02010600040101010101" pitchFamily="2" charset="-122"/>
                <a:cs typeface="宋体" panose="02010600030101010101" pitchFamily="2" charset="-122"/>
              </a:rPr>
              <a:t>亚洲、欧洲和北美洲的</a:t>
            </a:r>
            <a:r>
              <a:rPr lang="zh-CN" altLang="en-US" sz="1800" dirty="0">
                <a:solidFill>
                  <a:srgbClr val="0000FF"/>
                </a:solidFill>
                <a:latin typeface="华文宋体" panose="02010600040101010101" pitchFamily="2" charset="-122"/>
                <a:ea typeface="华文宋体" panose="02010600040101010101" pitchFamily="2" charset="-122"/>
                <a:cs typeface="宋体" panose="02010600030101010101" pitchFamily="2" charset="-122"/>
              </a:rPr>
              <a:t>北部冷水水域</a:t>
            </a:r>
            <a:endParaRPr lang="zh-CN" altLang="en-US" dirty="0"/>
          </a:p>
        </p:txBody>
      </p:sp>
      <p:sp>
        <p:nvSpPr>
          <p:cNvPr id="29" name="文本框 28">
            <a:extLst>
              <a:ext uri="{FF2B5EF4-FFF2-40B4-BE49-F238E27FC236}">
                <a16:creationId xmlns:a16="http://schemas.microsoft.com/office/drawing/2014/main" xmlns="" id="{C42FDA9B-9351-4778-9C24-C7A801768596}"/>
              </a:ext>
            </a:extLst>
          </p:cNvPr>
          <p:cNvSpPr txBox="1"/>
          <p:nvPr/>
        </p:nvSpPr>
        <p:spPr>
          <a:xfrm>
            <a:off x="983836" y="4894957"/>
            <a:ext cx="1297005" cy="369332"/>
          </a:xfrm>
          <a:prstGeom prst="rect">
            <a:avLst/>
          </a:prstGeom>
          <a:noFill/>
          <a:ln>
            <a:solidFill>
              <a:srgbClr val="0000FF"/>
            </a:solidFill>
          </a:ln>
        </p:spPr>
        <p:txBody>
          <a:bodyPr wrap="square">
            <a:spAutoFit/>
          </a:bodyPr>
          <a:lstStyle/>
          <a:p>
            <a:r>
              <a:rPr lang="zh-CN" altLang="en-US" sz="1800" dirty="0">
                <a:solidFill>
                  <a:srgbClr val="0000FF"/>
                </a:solidFill>
                <a:latin typeface="华文宋体" panose="02010600040101010101" pitchFamily="2" charset="-122"/>
                <a:ea typeface="华文宋体" panose="02010600040101010101" pitchFamily="2" charset="-122"/>
                <a:cs typeface="宋体" panose="02010600030101010101" pitchFamily="2" charset="-122"/>
              </a:rPr>
              <a:t>水质清澈</a:t>
            </a:r>
            <a:endParaRPr lang="zh-CN" altLang="en-US" dirty="0"/>
          </a:p>
        </p:txBody>
      </p:sp>
      <p:sp>
        <p:nvSpPr>
          <p:cNvPr id="31" name="文本框 30">
            <a:extLst>
              <a:ext uri="{FF2B5EF4-FFF2-40B4-BE49-F238E27FC236}">
                <a16:creationId xmlns:a16="http://schemas.microsoft.com/office/drawing/2014/main" xmlns="" id="{522BFFF0-A88D-48E8-8614-567D6C8F8993}"/>
              </a:ext>
            </a:extLst>
          </p:cNvPr>
          <p:cNvSpPr txBox="1"/>
          <p:nvPr/>
        </p:nvSpPr>
        <p:spPr>
          <a:xfrm>
            <a:off x="983836" y="5357563"/>
            <a:ext cx="1220349" cy="369332"/>
          </a:xfrm>
          <a:prstGeom prst="rect">
            <a:avLst/>
          </a:prstGeom>
          <a:noFill/>
          <a:ln>
            <a:solidFill>
              <a:srgbClr val="0000FF"/>
            </a:solidFill>
          </a:ln>
        </p:spPr>
        <p:txBody>
          <a:bodyPr wrap="square">
            <a:spAutoFit/>
          </a:bodyPr>
          <a:lstStyle/>
          <a:p>
            <a:r>
              <a:rPr lang="zh-CN" altLang="en-US" sz="1800" dirty="0">
                <a:solidFill>
                  <a:srgbClr val="0000FF"/>
                </a:solidFill>
                <a:latin typeface="华文宋体" panose="02010600040101010101" pitchFamily="2" charset="-122"/>
                <a:ea typeface="华文宋体" panose="02010600040101010101" pitchFamily="2" charset="-122"/>
                <a:cs typeface="宋体" panose="02010600030101010101" pitchFamily="2" charset="-122"/>
              </a:rPr>
              <a:t>水草丛生</a:t>
            </a:r>
            <a:endParaRPr lang="zh-CN" altLang="en-US" dirty="0"/>
          </a:p>
        </p:txBody>
      </p:sp>
      <p:sp>
        <p:nvSpPr>
          <p:cNvPr id="33" name="文本框 32">
            <a:extLst>
              <a:ext uri="{FF2B5EF4-FFF2-40B4-BE49-F238E27FC236}">
                <a16:creationId xmlns:a16="http://schemas.microsoft.com/office/drawing/2014/main" xmlns="" id="{994D0B97-107A-416D-82C1-A4116F478B14}"/>
              </a:ext>
            </a:extLst>
          </p:cNvPr>
          <p:cNvSpPr txBox="1"/>
          <p:nvPr/>
        </p:nvSpPr>
        <p:spPr>
          <a:xfrm>
            <a:off x="4646251" y="4201708"/>
            <a:ext cx="1150219" cy="646331"/>
          </a:xfrm>
          <a:prstGeom prst="rect">
            <a:avLst/>
          </a:prstGeom>
          <a:noFill/>
        </p:spPr>
        <p:txBody>
          <a:bodyPr wrap="square">
            <a:spAutoFit/>
          </a:bodyPr>
          <a:lstStyle/>
          <a:p>
            <a:r>
              <a:rPr lang="zh-CN" altLang="zh-CN" sz="1800" dirty="0">
                <a:solidFill>
                  <a:srgbClr val="0000FF"/>
                </a:solidFill>
                <a:latin typeface="宋体" panose="02010600030101010101" pitchFamily="2" charset="-122"/>
                <a:ea typeface="宋体" panose="02010600030101010101" pitchFamily="2" charset="-122"/>
              </a:rPr>
              <a:t>额尔齐斯河流域</a:t>
            </a:r>
            <a:endParaRPr lang="zh-CN" altLang="en-US" dirty="0"/>
          </a:p>
        </p:txBody>
      </p:sp>
      <p:sp>
        <p:nvSpPr>
          <p:cNvPr id="32" name="右大括号 31">
            <a:extLst>
              <a:ext uri="{FF2B5EF4-FFF2-40B4-BE49-F238E27FC236}">
                <a16:creationId xmlns:a16="http://schemas.microsoft.com/office/drawing/2014/main" xmlns="" id="{ABA87DE5-C9D4-4912-80A8-7D8826681DB3}"/>
              </a:ext>
            </a:extLst>
          </p:cNvPr>
          <p:cNvSpPr/>
          <p:nvPr/>
        </p:nvSpPr>
        <p:spPr>
          <a:xfrm>
            <a:off x="4294927" y="3166936"/>
            <a:ext cx="389822" cy="2622985"/>
          </a:xfrm>
          <a:prstGeom prst="righ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5" name="文本框 34">
            <a:extLst>
              <a:ext uri="{FF2B5EF4-FFF2-40B4-BE49-F238E27FC236}">
                <a16:creationId xmlns:a16="http://schemas.microsoft.com/office/drawing/2014/main" xmlns="" id="{B4915E7C-4C99-404C-B440-E2537E31443B}"/>
              </a:ext>
            </a:extLst>
          </p:cNvPr>
          <p:cNvSpPr txBox="1"/>
          <p:nvPr/>
        </p:nvSpPr>
        <p:spPr>
          <a:xfrm>
            <a:off x="3347187" y="3075906"/>
            <a:ext cx="947740" cy="646331"/>
          </a:xfrm>
          <a:prstGeom prst="rect">
            <a:avLst/>
          </a:prstGeom>
          <a:noFill/>
          <a:ln>
            <a:solidFill>
              <a:srgbClr val="0000FF"/>
            </a:solidFill>
          </a:ln>
        </p:spPr>
        <p:txBody>
          <a:bodyPr wrap="square">
            <a:spAutoFit/>
          </a:bodyPr>
          <a:lstStyle/>
          <a:p>
            <a:r>
              <a:rPr kumimoji="0" lang="zh-CN" altLang="en-US" sz="1800" b="0" i="0" u="none" strike="noStrike" cap="none" normalizeH="0" baseline="0" dirty="0">
                <a:ln>
                  <a:noFill/>
                </a:ln>
                <a:solidFill>
                  <a:srgbClr val="0000FF"/>
                </a:solidFill>
                <a:effectLst/>
                <a:latin typeface="华文宋体" panose="02010600040101010101" pitchFamily="2" charset="-122"/>
                <a:ea typeface="华文宋体" panose="02010600040101010101" pitchFamily="2" charset="-122"/>
                <a:cs typeface="宋体" panose="02010600030101010101" pitchFamily="2" charset="-122"/>
              </a:rPr>
              <a:t>高纬，水温低</a:t>
            </a:r>
            <a:endParaRPr lang="zh-CN" altLang="en-US" dirty="0"/>
          </a:p>
        </p:txBody>
      </p:sp>
      <p:sp>
        <p:nvSpPr>
          <p:cNvPr id="36" name="文本框 35">
            <a:extLst>
              <a:ext uri="{FF2B5EF4-FFF2-40B4-BE49-F238E27FC236}">
                <a16:creationId xmlns:a16="http://schemas.microsoft.com/office/drawing/2014/main" xmlns="" id="{35BB1EFE-E556-45F7-85B9-04915DAB7F51}"/>
              </a:ext>
            </a:extLst>
          </p:cNvPr>
          <p:cNvSpPr txBox="1"/>
          <p:nvPr/>
        </p:nvSpPr>
        <p:spPr>
          <a:xfrm>
            <a:off x="3347187" y="3807810"/>
            <a:ext cx="947740" cy="1200329"/>
          </a:xfrm>
          <a:prstGeom prst="rect">
            <a:avLst/>
          </a:prstGeom>
          <a:noFill/>
          <a:ln>
            <a:solidFill>
              <a:srgbClr val="0000FF"/>
            </a:solidFill>
          </a:ln>
        </p:spPr>
        <p:txBody>
          <a:bodyPr wrap="square">
            <a:spAutoFit/>
          </a:bodyPr>
          <a:lstStyle/>
          <a:p>
            <a:r>
              <a:rPr kumimoji="0" lang="zh-CN" altLang="en-US" sz="1800" b="0" i="0" u="none" strike="noStrike" cap="none" normalizeH="0" baseline="0" dirty="0">
                <a:ln>
                  <a:noFill/>
                </a:ln>
                <a:solidFill>
                  <a:srgbClr val="0000FF"/>
                </a:solidFill>
                <a:effectLst/>
                <a:latin typeface="华文宋体" panose="02010600040101010101" pitchFamily="2" charset="-122"/>
                <a:ea typeface="华文宋体" panose="02010600040101010101" pitchFamily="2" charset="-122"/>
                <a:cs typeface="宋体" panose="02010600030101010101" pitchFamily="2" charset="-122"/>
              </a:rPr>
              <a:t>高山冰雪融水，水温低，水质清</a:t>
            </a:r>
            <a:endParaRPr lang="zh-CN" altLang="en-US" dirty="0"/>
          </a:p>
        </p:txBody>
      </p:sp>
      <p:sp>
        <p:nvSpPr>
          <p:cNvPr id="37" name="文本框 36">
            <a:extLst>
              <a:ext uri="{FF2B5EF4-FFF2-40B4-BE49-F238E27FC236}">
                <a16:creationId xmlns:a16="http://schemas.microsoft.com/office/drawing/2014/main" xmlns="" id="{BCC8FDF8-6235-4D59-ABBB-49DB2D2812E2}"/>
              </a:ext>
            </a:extLst>
          </p:cNvPr>
          <p:cNvSpPr txBox="1"/>
          <p:nvPr/>
        </p:nvSpPr>
        <p:spPr>
          <a:xfrm>
            <a:off x="3337215" y="5008139"/>
            <a:ext cx="947740" cy="646331"/>
          </a:xfrm>
          <a:prstGeom prst="rect">
            <a:avLst/>
          </a:prstGeom>
          <a:noFill/>
          <a:ln>
            <a:solidFill>
              <a:srgbClr val="0000FF"/>
            </a:solidFill>
          </a:ln>
        </p:spPr>
        <p:txBody>
          <a:bodyPr wrap="square">
            <a:spAutoFit/>
          </a:bodyPr>
          <a:lstStyle/>
          <a:p>
            <a:r>
              <a:rPr kumimoji="0" lang="zh-CN" altLang="en-US" sz="1800" b="0" i="0" u="none" strike="noStrike" cap="none" normalizeH="0" baseline="0" dirty="0">
                <a:ln>
                  <a:noFill/>
                </a:ln>
                <a:solidFill>
                  <a:srgbClr val="0000FF"/>
                </a:solidFill>
                <a:effectLst/>
                <a:latin typeface="华文宋体" panose="02010600040101010101" pitchFamily="2" charset="-122"/>
                <a:ea typeface="华文宋体" panose="02010600040101010101" pitchFamily="2" charset="-122"/>
                <a:cs typeface="宋体" panose="02010600030101010101" pitchFamily="2" charset="-122"/>
              </a:rPr>
              <a:t>流速慢，水草多</a:t>
            </a:r>
            <a:endParaRPr lang="zh-CN" altLang="en-US" dirty="0"/>
          </a:p>
        </p:txBody>
      </p:sp>
      <p:sp>
        <p:nvSpPr>
          <p:cNvPr id="38" name="文本框 37">
            <a:extLst>
              <a:ext uri="{FF2B5EF4-FFF2-40B4-BE49-F238E27FC236}">
                <a16:creationId xmlns:a16="http://schemas.microsoft.com/office/drawing/2014/main" xmlns="" id="{AD6E66C9-7BCC-4413-8FB3-1C1A133C061B}"/>
              </a:ext>
            </a:extLst>
          </p:cNvPr>
          <p:cNvSpPr txBox="1"/>
          <p:nvPr/>
        </p:nvSpPr>
        <p:spPr>
          <a:xfrm>
            <a:off x="3327243" y="5647710"/>
            <a:ext cx="947740" cy="923330"/>
          </a:xfrm>
          <a:prstGeom prst="rect">
            <a:avLst/>
          </a:prstGeom>
          <a:noFill/>
          <a:ln>
            <a:solidFill>
              <a:srgbClr val="0000FF"/>
            </a:solidFill>
          </a:ln>
        </p:spPr>
        <p:txBody>
          <a:bodyPr wrap="square">
            <a:spAutoFit/>
          </a:bodyPr>
          <a:lstStyle/>
          <a:p>
            <a:r>
              <a:rPr kumimoji="0" lang="zh-CN" altLang="en-US" sz="1800" b="0" i="0" u="none" strike="noStrike" cap="none" normalizeH="0" baseline="0" dirty="0">
                <a:ln>
                  <a:noFill/>
                </a:ln>
                <a:solidFill>
                  <a:srgbClr val="0000FF"/>
                </a:solidFill>
                <a:effectLst/>
                <a:latin typeface="华文宋体" panose="02010600040101010101" pitchFamily="2" charset="-122"/>
                <a:ea typeface="华文宋体" panose="02010600040101010101" pitchFamily="2" charset="-122"/>
                <a:cs typeface="宋体" panose="02010600030101010101" pitchFamily="2" charset="-122"/>
              </a:rPr>
              <a:t>北冰洋水系河流</a:t>
            </a:r>
            <a:endParaRPr lang="zh-CN" altLang="en-US" dirty="0"/>
          </a:p>
        </p:txBody>
      </p:sp>
      <p:cxnSp>
        <p:nvCxnSpPr>
          <p:cNvPr id="39" name="直接箭头连接符 38">
            <a:extLst>
              <a:ext uri="{FF2B5EF4-FFF2-40B4-BE49-F238E27FC236}">
                <a16:creationId xmlns:a16="http://schemas.microsoft.com/office/drawing/2014/main" xmlns="" id="{7AE3C68F-9FC3-4FA8-AFBB-5E726858D78D}"/>
              </a:ext>
            </a:extLst>
          </p:cNvPr>
          <p:cNvCxnSpPr>
            <a:stCxn id="35" idx="1"/>
            <a:endCxn id="25" idx="3"/>
          </p:cNvCxnSpPr>
          <p:nvPr/>
        </p:nvCxnSpPr>
        <p:spPr>
          <a:xfrm flipH="1">
            <a:off x="2290813" y="3399072"/>
            <a:ext cx="1056374" cy="2028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xmlns="" id="{E08F8217-7761-4D64-8784-A1CE10D66681}"/>
              </a:ext>
            </a:extLst>
          </p:cNvPr>
          <p:cNvCxnSpPr>
            <a:stCxn id="36" idx="1"/>
            <a:endCxn id="25" idx="3"/>
          </p:cNvCxnSpPr>
          <p:nvPr/>
        </p:nvCxnSpPr>
        <p:spPr>
          <a:xfrm flipH="1" flipV="1">
            <a:off x="2290813" y="3601875"/>
            <a:ext cx="1056374" cy="806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xmlns="" id="{A4ED5448-BC28-4977-AF5E-B852D93977C7}"/>
              </a:ext>
            </a:extLst>
          </p:cNvPr>
          <p:cNvCxnSpPr>
            <a:stCxn id="36" idx="1"/>
            <a:endCxn id="29" idx="3"/>
          </p:cNvCxnSpPr>
          <p:nvPr/>
        </p:nvCxnSpPr>
        <p:spPr>
          <a:xfrm flipH="1">
            <a:off x="2280841" y="4407975"/>
            <a:ext cx="1066346" cy="6716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a:extLst>
              <a:ext uri="{FF2B5EF4-FFF2-40B4-BE49-F238E27FC236}">
                <a16:creationId xmlns:a16="http://schemas.microsoft.com/office/drawing/2014/main" xmlns="" id="{B605D08F-82D0-4056-B8C4-62BAC8A5AC2D}"/>
              </a:ext>
            </a:extLst>
          </p:cNvPr>
          <p:cNvCxnSpPr>
            <a:stCxn id="37" idx="1"/>
            <a:endCxn id="31" idx="3"/>
          </p:cNvCxnSpPr>
          <p:nvPr/>
        </p:nvCxnSpPr>
        <p:spPr>
          <a:xfrm flipH="1">
            <a:off x="2204185" y="5331305"/>
            <a:ext cx="1133030" cy="2109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xmlns="" id="{08E4C2A0-7FE8-4EBA-8060-A8BF5FD5333C}"/>
              </a:ext>
            </a:extLst>
          </p:cNvPr>
          <p:cNvCxnSpPr>
            <a:stCxn id="38" idx="1"/>
            <a:endCxn id="27" idx="3"/>
          </p:cNvCxnSpPr>
          <p:nvPr/>
        </p:nvCxnSpPr>
        <p:spPr>
          <a:xfrm flipH="1" flipV="1">
            <a:off x="2589196" y="4336991"/>
            <a:ext cx="738047" cy="17723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597996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1" grpId="0"/>
      <p:bldP spid="20" grpId="0" animBg="1"/>
      <p:bldP spid="24" grpId="0" animBg="1"/>
      <p:bldP spid="25" grpId="0" animBg="1"/>
      <p:bldP spid="27" grpId="0" animBg="1"/>
      <p:bldP spid="29" grpId="0" animBg="1"/>
      <p:bldP spid="31" grpId="0" animBg="1"/>
      <p:bldP spid="33" grpId="0"/>
      <p:bldP spid="32" grpId="0" animBg="1"/>
      <p:bldP spid="35" grpId="0" animBg="1"/>
      <p:bldP spid="36" grpId="0" animBg="1"/>
      <p:bldP spid="37" grpId="0" animBg="1"/>
      <p:bldP spid="3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34DDC1F3-E323-43ED-94CF-A9D65AA82E4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7169" name="图片 11" descr="2017年全国普通高等学校招生统一考试文综地理（全国卷3）【解析】">
            <a:extLst>
              <a:ext uri="{FF2B5EF4-FFF2-40B4-BE49-F238E27FC236}">
                <a16:creationId xmlns:a16="http://schemas.microsoft.com/office/drawing/2014/main" xmlns="" id="{753C0C0B-07B3-48F1-88AF-31329280928A}"/>
              </a:ext>
            </a:extLst>
          </p:cNvPr>
          <p:cNvPicPr>
            <a:picLocks noChangeAspect="1" noChangeArrowheads="1"/>
          </p:cNvPicPr>
          <p:nvPr/>
        </p:nvPicPr>
        <p:blipFill>
          <a:blip r:embed="rId2" cstate="print">
            <a:lum bright="-38000" contrast="60000"/>
            <a:extLst>
              <a:ext uri="{28A0092B-C50C-407E-A947-70E740481C1C}">
                <a14:useLocalDpi xmlns:a14="http://schemas.microsoft.com/office/drawing/2010/main" xmlns="" val="0"/>
              </a:ext>
            </a:extLst>
          </a:blip>
          <a:srcRect/>
          <a:stretch>
            <a:fillRect/>
          </a:stretch>
        </p:blipFill>
        <p:spPr bwMode="auto">
          <a:xfrm>
            <a:off x="5741123" y="3359219"/>
            <a:ext cx="6450877" cy="3498781"/>
          </a:xfrm>
          <a:prstGeom prst="rect">
            <a:avLst/>
          </a:prstGeom>
          <a:noFill/>
          <a:extLst>
            <a:ext uri="{909E8E84-426E-40DD-AFC4-6F175D3DCCD1}">
              <a14:hiddenFill xmlns:a14="http://schemas.microsoft.com/office/drawing/2010/main" xmlns="">
                <a:solidFill>
                  <a:srgbClr val="FFFFFF"/>
                </a:solidFill>
              </a14:hiddenFill>
            </a:ext>
          </a:extLst>
        </p:spPr>
      </p:pic>
      <p:sp>
        <p:nvSpPr>
          <p:cNvPr id="3" name="Rectangle 3">
            <a:extLst>
              <a:ext uri="{FF2B5EF4-FFF2-40B4-BE49-F238E27FC236}">
                <a16:creationId xmlns:a16="http://schemas.microsoft.com/office/drawing/2014/main" xmlns="" id="{9CD8CB75-B05B-4541-81BC-3F1D571D3D62}"/>
              </a:ext>
            </a:extLst>
          </p:cNvPr>
          <p:cNvSpPr>
            <a:spLocks noChangeArrowheads="1"/>
          </p:cNvSpPr>
          <p:nvPr/>
        </p:nvSpPr>
        <p:spPr bwMode="auto">
          <a:xfrm>
            <a:off x="1" y="0"/>
            <a:ext cx="12192000" cy="18158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381000" algn="l"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dirty="0">
                <a:ln>
                  <a:noFill/>
                </a:ln>
                <a:solidFill>
                  <a:schemeClr val="tx1"/>
                </a:solidFill>
                <a:effectLst/>
                <a:latin typeface="华文宋体" panose="02010600040101010101" pitchFamily="2" charset="-122"/>
                <a:ea typeface="华文宋体" panose="02010600040101010101" pitchFamily="2" charset="-122"/>
                <a:cs typeface="宋体" panose="02010600030101010101" pitchFamily="2" charset="-122"/>
              </a:rPr>
              <a:t>  白斑狗鱼肉质细嫩，营养丰富，有“鱼中软黄金”之称，白斑狗鱼是</a:t>
            </a:r>
            <a:r>
              <a:rPr kumimoji="0" lang="zh-CN" altLang="en-US" sz="2800" b="0" i="0" u="none" strike="noStrike" cap="none" normalizeH="0" baseline="0" dirty="0">
                <a:ln>
                  <a:noFill/>
                </a:ln>
                <a:solidFill>
                  <a:srgbClr val="0000FF"/>
                </a:solidFill>
                <a:effectLst/>
                <a:latin typeface="华文宋体" panose="02010600040101010101" pitchFamily="2" charset="-122"/>
                <a:ea typeface="华文宋体" panose="02010600040101010101" pitchFamily="2" charset="-122"/>
                <a:cs typeface="宋体" panose="02010600030101010101" pitchFamily="2" charset="-122"/>
              </a:rPr>
              <a:t>肉食性鱼</a:t>
            </a:r>
            <a:r>
              <a:rPr kumimoji="0" lang="zh-CN" altLang="en-US" sz="2800" b="0" i="0" u="none" strike="noStrike" cap="none" normalizeH="0" baseline="0" dirty="0">
                <a:ln>
                  <a:noFill/>
                </a:ln>
                <a:solidFill>
                  <a:schemeClr val="tx1"/>
                </a:solidFill>
                <a:effectLst/>
                <a:latin typeface="华文宋体" panose="02010600040101010101" pitchFamily="2" charset="-122"/>
                <a:ea typeface="华文宋体" panose="02010600040101010101" pitchFamily="2" charset="-122"/>
                <a:cs typeface="宋体" panose="02010600030101010101" pitchFamily="2" charset="-122"/>
              </a:rPr>
              <a:t>，适宜</a:t>
            </a:r>
            <a:r>
              <a:rPr lang="zh-CN" altLang="en-US" sz="2800" dirty="0">
                <a:solidFill>
                  <a:srgbClr val="0000FF"/>
                </a:solidFill>
                <a:latin typeface="华文宋体" panose="02010600040101010101" pitchFamily="2" charset="-122"/>
                <a:ea typeface="华文宋体" panose="02010600040101010101" pitchFamily="2" charset="-122"/>
                <a:cs typeface="宋体" panose="02010600030101010101" pitchFamily="2" charset="-122"/>
              </a:rPr>
              <a:t>在</a:t>
            </a:r>
            <a:r>
              <a:rPr lang="en-US" altLang="zh-CN" sz="2800" dirty="0">
                <a:solidFill>
                  <a:srgbClr val="0000FF"/>
                </a:solidFill>
                <a:latin typeface="华文宋体" panose="02010600040101010101" pitchFamily="2" charset="-122"/>
                <a:ea typeface="华文宋体" panose="02010600040101010101" pitchFamily="2" charset="-122"/>
                <a:cs typeface="宋体" panose="02010600030101010101" pitchFamily="2" charset="-122"/>
              </a:rPr>
              <a:t>16℃</a:t>
            </a:r>
            <a:r>
              <a:rPr lang="zh-CN" altLang="en-US" sz="2800" dirty="0">
                <a:solidFill>
                  <a:srgbClr val="0000FF"/>
                </a:solidFill>
                <a:latin typeface="华文宋体" panose="02010600040101010101" pitchFamily="2" charset="-122"/>
                <a:ea typeface="华文宋体" panose="02010600040101010101" pitchFamily="2" charset="-122"/>
                <a:cs typeface="宋体" panose="02010600030101010101" pitchFamily="2" charset="-122"/>
              </a:rPr>
              <a:t>以下的水域产卵繁殖</a:t>
            </a:r>
            <a:r>
              <a:rPr kumimoji="0" lang="zh-CN" altLang="en-US" sz="2800" b="0" i="0" u="none" strike="noStrike" cap="none" normalizeH="0" baseline="0" dirty="0">
                <a:ln>
                  <a:noFill/>
                </a:ln>
                <a:solidFill>
                  <a:schemeClr val="tx1"/>
                </a:solidFill>
                <a:effectLst/>
                <a:latin typeface="华文宋体" panose="02010600040101010101" pitchFamily="2" charset="-122"/>
                <a:ea typeface="华文宋体" panose="02010600040101010101" pitchFamily="2" charset="-122"/>
                <a:cs typeface="宋体" panose="02010600030101010101" pitchFamily="2" charset="-122"/>
              </a:rPr>
              <a:t>，分布于亚洲、欧洲和北美洲的</a:t>
            </a:r>
            <a:r>
              <a:rPr lang="zh-CN" altLang="en-US" sz="2800" dirty="0">
                <a:solidFill>
                  <a:srgbClr val="0000FF"/>
                </a:solidFill>
                <a:latin typeface="华文宋体" panose="02010600040101010101" pitchFamily="2" charset="-122"/>
                <a:ea typeface="华文宋体" panose="02010600040101010101" pitchFamily="2" charset="-122"/>
                <a:cs typeface="宋体" panose="02010600030101010101" pitchFamily="2" charset="-122"/>
              </a:rPr>
              <a:t>北部冷水水域</a:t>
            </a:r>
            <a:r>
              <a:rPr kumimoji="0" lang="zh-CN" altLang="en-US" sz="2800" b="0" i="0" u="none" strike="noStrike" cap="none" normalizeH="0" baseline="0" dirty="0">
                <a:ln>
                  <a:noFill/>
                </a:ln>
                <a:solidFill>
                  <a:schemeClr val="tx1"/>
                </a:solidFill>
                <a:effectLst/>
                <a:latin typeface="华文宋体" panose="02010600040101010101" pitchFamily="2" charset="-122"/>
                <a:ea typeface="华文宋体" panose="02010600040101010101" pitchFamily="2" charset="-122"/>
                <a:cs typeface="宋体" panose="02010600030101010101" pitchFamily="2" charset="-122"/>
              </a:rPr>
              <a:t>，</a:t>
            </a:r>
            <a:r>
              <a:rPr lang="zh-CN" altLang="en-US" sz="2800" dirty="0">
                <a:solidFill>
                  <a:srgbClr val="0000FF"/>
                </a:solidFill>
                <a:latin typeface="华文宋体" panose="02010600040101010101" pitchFamily="2" charset="-122"/>
                <a:ea typeface="华文宋体" panose="02010600040101010101" pitchFamily="2" charset="-122"/>
                <a:cs typeface="宋体" panose="02010600030101010101" pitchFamily="2" charset="-122"/>
              </a:rPr>
              <a:t>栖息环境多为水质清澈、水草丛生的河流</a:t>
            </a:r>
            <a:r>
              <a:rPr kumimoji="0" lang="zh-CN" altLang="en-US" sz="2800" b="0" i="0" u="none" strike="noStrike" cap="none" normalizeH="0" baseline="0" dirty="0">
                <a:ln>
                  <a:noFill/>
                </a:ln>
                <a:solidFill>
                  <a:schemeClr val="tx1"/>
                </a:solidFill>
                <a:effectLst/>
                <a:latin typeface="华文宋体" panose="02010600040101010101" pitchFamily="2" charset="-122"/>
                <a:ea typeface="华文宋体" panose="02010600040101010101" pitchFamily="2" charset="-122"/>
                <a:cs typeface="宋体" panose="02010600030101010101" pitchFamily="2" charset="-122"/>
              </a:rPr>
              <a:t>，在我国仅见于新疆的额尔齐斯河流域。额尔齐斯河是我国</a:t>
            </a:r>
            <a:r>
              <a:rPr lang="zh-CN" altLang="en-US" sz="2800" dirty="0">
                <a:solidFill>
                  <a:srgbClr val="0000FF"/>
                </a:solidFill>
                <a:latin typeface="华文宋体" panose="02010600040101010101" pitchFamily="2" charset="-122"/>
                <a:ea typeface="华文宋体" panose="02010600040101010101" pitchFamily="2" charset="-122"/>
                <a:cs typeface="宋体" panose="02010600030101010101" pitchFamily="2" charset="-122"/>
              </a:rPr>
              <a:t>唯一属于北冰洋水系的河流</a:t>
            </a:r>
            <a:r>
              <a:rPr kumimoji="0" lang="zh-CN" altLang="en-US" sz="2800" b="0" i="0" u="none" strike="noStrike" cap="none" normalizeH="0" baseline="0" dirty="0">
                <a:ln>
                  <a:noFill/>
                </a:ln>
                <a:solidFill>
                  <a:schemeClr val="tx1"/>
                </a:solidFill>
                <a:effectLst/>
                <a:latin typeface="华文宋体" panose="02010600040101010101" pitchFamily="2" charset="-122"/>
                <a:ea typeface="华文宋体" panose="02010600040101010101" pitchFamily="2" charset="-122"/>
                <a:cs typeface="宋体" panose="02010600030101010101" pitchFamily="2" charset="-122"/>
              </a:rPr>
              <a:t>。</a:t>
            </a:r>
            <a:endParaRPr kumimoji="0" lang="zh-CN" altLang="en-US" sz="2800" b="0" i="0" u="none" strike="noStrike" cap="none" normalizeH="0" baseline="0" dirty="0">
              <a:ln>
                <a:noFill/>
              </a:ln>
              <a:solidFill>
                <a:schemeClr val="tx1"/>
              </a:solidFill>
              <a:effectLst/>
              <a:latin typeface="华文宋体" panose="02010600040101010101" pitchFamily="2" charset="-122"/>
              <a:ea typeface="华文宋体" panose="02010600040101010101" pitchFamily="2" charset="-122"/>
            </a:endParaRPr>
          </a:p>
        </p:txBody>
      </p:sp>
      <p:sp>
        <p:nvSpPr>
          <p:cNvPr id="18" name="文本框 17">
            <a:extLst>
              <a:ext uri="{FF2B5EF4-FFF2-40B4-BE49-F238E27FC236}">
                <a16:creationId xmlns:a16="http://schemas.microsoft.com/office/drawing/2014/main" xmlns="" id="{F760F536-0C13-49EF-9A1E-3B7795F73DEB}"/>
              </a:ext>
            </a:extLst>
          </p:cNvPr>
          <p:cNvSpPr txBox="1"/>
          <p:nvPr/>
        </p:nvSpPr>
        <p:spPr>
          <a:xfrm>
            <a:off x="-93847" y="1689609"/>
            <a:ext cx="12035590" cy="523220"/>
          </a:xfrm>
          <a:prstGeom prst="rect">
            <a:avLst/>
          </a:prstGeom>
          <a:noFill/>
        </p:spPr>
        <p:txBody>
          <a:bodyPr wrap="square">
            <a:spAutoFit/>
          </a:bodyPr>
          <a:lstStyle/>
          <a:p>
            <a:pPr lvl="0"/>
            <a:r>
              <a:rPr lang="zh-CN" altLang="en-US" sz="2800" dirty="0">
                <a:latin typeface="宋体" panose="02010600030101010101" pitchFamily="2" charset="-122"/>
                <a:ea typeface="宋体" panose="02010600030101010101" pitchFamily="2" charset="-122"/>
              </a:rPr>
              <a:t>（</a:t>
            </a:r>
            <a:r>
              <a:rPr lang="en-US" altLang="zh-CN" sz="2800" dirty="0">
                <a:latin typeface="宋体" panose="02010600030101010101" pitchFamily="2" charset="-122"/>
                <a:ea typeface="宋体" panose="02010600030101010101" pitchFamily="2" charset="-122"/>
              </a:rPr>
              <a:t>2</a:t>
            </a:r>
            <a:r>
              <a:rPr lang="zh-CN" altLang="en-US" sz="2800" dirty="0">
                <a:latin typeface="宋体" panose="02010600030101010101" pitchFamily="2" charset="-122"/>
                <a:ea typeface="宋体" panose="02010600030101010101" pitchFamily="2" charset="-122"/>
              </a:rPr>
              <a:t>）</a:t>
            </a:r>
            <a:r>
              <a:rPr lang="zh-CN" altLang="zh-CN" sz="2800" dirty="0">
                <a:latin typeface="宋体" panose="02010600030101010101" pitchFamily="2" charset="-122"/>
                <a:ea typeface="宋体" panose="02010600030101010101" pitchFamily="2" charset="-122"/>
              </a:rPr>
              <a:t>分析图示</a:t>
            </a:r>
            <a:r>
              <a:rPr lang="zh-CN" altLang="zh-CN" sz="2800" dirty="0">
                <a:solidFill>
                  <a:srgbClr val="0000FF"/>
                </a:solidFill>
                <a:latin typeface="宋体" panose="02010600030101010101" pitchFamily="2" charset="-122"/>
                <a:ea typeface="宋体" panose="02010600030101010101" pitchFamily="2" charset="-122"/>
              </a:rPr>
              <a:t>额尔齐斯河流域</a:t>
            </a:r>
            <a:r>
              <a:rPr lang="zh-CN" altLang="zh-CN" sz="2800" dirty="0">
                <a:latin typeface="宋体" panose="02010600030101010101" pitchFamily="2" charset="-122"/>
                <a:ea typeface="宋体" panose="02010600030101010101" pitchFamily="2" charset="-122"/>
              </a:rPr>
              <a:t>适合白斑狗鱼</a:t>
            </a:r>
            <a:r>
              <a:rPr lang="zh-CN" altLang="zh-CN" sz="2800" dirty="0">
                <a:solidFill>
                  <a:srgbClr val="0000FF"/>
                </a:solidFill>
                <a:latin typeface="宋体" panose="02010600030101010101" pitchFamily="2" charset="-122"/>
                <a:ea typeface="宋体" panose="02010600030101010101" pitchFamily="2" charset="-122"/>
              </a:rPr>
              <a:t>生长繁殖</a:t>
            </a:r>
            <a:r>
              <a:rPr lang="zh-CN" altLang="zh-CN" sz="2800" dirty="0">
                <a:latin typeface="宋体" panose="02010600030101010101" pitchFamily="2" charset="-122"/>
                <a:ea typeface="宋体" panose="02010600030101010101" pitchFamily="2" charset="-122"/>
              </a:rPr>
              <a:t>的</a:t>
            </a:r>
            <a:r>
              <a:rPr lang="zh-CN" altLang="zh-CN" sz="2800" dirty="0">
                <a:solidFill>
                  <a:srgbClr val="0000FF"/>
                </a:solidFill>
                <a:latin typeface="宋体" panose="02010600030101010101" pitchFamily="2" charset="-122"/>
                <a:ea typeface="宋体" panose="02010600030101010101" pitchFamily="2" charset="-122"/>
              </a:rPr>
              <a:t>自然条件</a:t>
            </a:r>
            <a:r>
              <a:rPr lang="zh-CN" altLang="zh-CN" sz="2800" dirty="0">
                <a:latin typeface="宋体" panose="02010600030101010101" pitchFamily="2" charset="-122"/>
                <a:ea typeface="宋体" panose="02010600030101010101" pitchFamily="2" charset="-122"/>
              </a:rPr>
              <a:t>。（</a:t>
            </a:r>
            <a:r>
              <a:rPr lang="en-US" altLang="zh-CN" sz="2800" dirty="0">
                <a:latin typeface="宋体" panose="02010600030101010101" pitchFamily="2" charset="-122"/>
                <a:ea typeface="宋体" panose="02010600030101010101" pitchFamily="2" charset="-122"/>
              </a:rPr>
              <a:t>8</a:t>
            </a:r>
            <a:r>
              <a:rPr lang="zh-CN" altLang="zh-CN" sz="2800" dirty="0">
                <a:latin typeface="宋体" panose="02010600030101010101" pitchFamily="2" charset="-122"/>
                <a:ea typeface="宋体" panose="02010600030101010101" pitchFamily="2" charset="-122"/>
              </a:rPr>
              <a:t>分）</a:t>
            </a:r>
          </a:p>
        </p:txBody>
      </p:sp>
      <p:sp>
        <p:nvSpPr>
          <p:cNvPr id="26" name="文本框 25">
            <a:extLst>
              <a:ext uri="{FF2B5EF4-FFF2-40B4-BE49-F238E27FC236}">
                <a16:creationId xmlns:a16="http://schemas.microsoft.com/office/drawing/2014/main" xmlns="" id="{DE8A63E3-3CCD-414D-99F7-374D07F12CA2}"/>
              </a:ext>
            </a:extLst>
          </p:cNvPr>
          <p:cNvSpPr txBox="1"/>
          <p:nvPr/>
        </p:nvSpPr>
        <p:spPr>
          <a:xfrm>
            <a:off x="81814" y="3585115"/>
            <a:ext cx="5659309" cy="3046988"/>
          </a:xfrm>
          <a:prstGeom prst="rect">
            <a:avLst/>
          </a:prstGeom>
          <a:noFill/>
        </p:spPr>
        <p:txBody>
          <a:bodyPr wrap="square">
            <a:spAutoFit/>
          </a:bodyPr>
          <a:lstStyle/>
          <a:p>
            <a:r>
              <a:rPr lang="zh-CN" altLang="zh-CN" sz="2400" b="1" dirty="0">
                <a:solidFill>
                  <a:srgbClr val="FF0000"/>
                </a:solidFill>
                <a:latin typeface="宋体" panose="02010600030101010101" pitchFamily="2" charset="-122"/>
                <a:ea typeface="宋体" panose="02010600030101010101" pitchFamily="2" charset="-122"/>
              </a:rPr>
              <a:t>支流发源于高山地区，水质好；</a:t>
            </a:r>
            <a:endParaRPr lang="en-US" altLang="zh-CN" sz="2400" b="1" dirty="0">
              <a:solidFill>
                <a:srgbClr val="FF0000"/>
              </a:solidFill>
              <a:latin typeface="宋体" panose="02010600030101010101" pitchFamily="2" charset="-122"/>
              <a:ea typeface="宋体" panose="02010600030101010101" pitchFamily="2" charset="-122"/>
            </a:endParaRPr>
          </a:p>
          <a:p>
            <a:endParaRPr lang="en-US" altLang="zh-CN" sz="2400" b="1" dirty="0">
              <a:solidFill>
                <a:srgbClr val="FF0000"/>
              </a:solidFill>
              <a:latin typeface="宋体" panose="02010600030101010101" pitchFamily="2" charset="-122"/>
              <a:ea typeface="宋体" panose="02010600030101010101" pitchFamily="2" charset="-122"/>
            </a:endParaRPr>
          </a:p>
          <a:p>
            <a:r>
              <a:rPr lang="zh-CN" altLang="zh-CN" sz="2400" b="1" dirty="0">
                <a:solidFill>
                  <a:srgbClr val="FF0000"/>
                </a:solidFill>
                <a:latin typeface="宋体" panose="02010600030101010101" pitchFamily="2" charset="-122"/>
                <a:ea typeface="宋体" panose="02010600030101010101" pitchFamily="2" charset="-122"/>
              </a:rPr>
              <a:t>纬度高，加之受高山融雪影响，水温低；</a:t>
            </a:r>
            <a:endParaRPr lang="en-US" altLang="zh-CN" sz="2400" b="1" dirty="0">
              <a:solidFill>
                <a:srgbClr val="FF0000"/>
              </a:solidFill>
              <a:latin typeface="宋体" panose="02010600030101010101" pitchFamily="2" charset="-122"/>
              <a:ea typeface="宋体" panose="02010600030101010101" pitchFamily="2" charset="-122"/>
            </a:endParaRPr>
          </a:p>
          <a:p>
            <a:endParaRPr lang="en-US" altLang="zh-CN" sz="2400" b="1" dirty="0">
              <a:solidFill>
                <a:srgbClr val="FF0000"/>
              </a:solidFill>
              <a:latin typeface="宋体" panose="02010600030101010101" pitchFamily="2" charset="-122"/>
              <a:ea typeface="宋体" panose="02010600030101010101" pitchFamily="2" charset="-122"/>
            </a:endParaRPr>
          </a:p>
          <a:p>
            <a:r>
              <a:rPr lang="zh-CN" altLang="zh-CN" sz="2400" b="1" dirty="0">
                <a:solidFill>
                  <a:srgbClr val="FF0000"/>
                </a:solidFill>
                <a:latin typeface="宋体" panose="02010600030101010101" pitchFamily="2" charset="-122"/>
                <a:ea typeface="宋体" panose="02010600030101010101" pitchFamily="2" charset="-122"/>
              </a:rPr>
              <a:t>干流流速较缓，水草丛生；</a:t>
            </a:r>
            <a:endParaRPr lang="en-US" altLang="zh-CN" sz="2400" b="1" dirty="0">
              <a:solidFill>
                <a:srgbClr val="FF0000"/>
              </a:solidFill>
              <a:latin typeface="宋体" panose="02010600030101010101" pitchFamily="2" charset="-122"/>
              <a:ea typeface="宋体" panose="02010600030101010101" pitchFamily="2" charset="-122"/>
            </a:endParaRPr>
          </a:p>
          <a:p>
            <a:endParaRPr lang="en-US" altLang="zh-CN" sz="2400" b="1" dirty="0">
              <a:solidFill>
                <a:srgbClr val="FF0000"/>
              </a:solidFill>
              <a:latin typeface="宋体" panose="02010600030101010101" pitchFamily="2" charset="-122"/>
              <a:ea typeface="宋体" panose="02010600030101010101" pitchFamily="2" charset="-122"/>
            </a:endParaRPr>
          </a:p>
          <a:p>
            <a:r>
              <a:rPr lang="zh-CN" altLang="zh-CN" sz="2400" b="1" dirty="0">
                <a:solidFill>
                  <a:srgbClr val="FF0000"/>
                </a:solidFill>
                <a:latin typeface="宋体" panose="02010600030101010101" pitchFamily="2" charset="-122"/>
                <a:ea typeface="宋体" panose="02010600030101010101" pitchFamily="2" charset="-122"/>
              </a:rPr>
              <a:t>河流下游冷水鱼可逆流而上（可构成统一种群）。</a:t>
            </a:r>
            <a:endParaRPr lang="zh-CN" altLang="en-US" sz="2400" b="1" dirty="0">
              <a:solidFill>
                <a:srgbClr val="FF0000"/>
              </a:solidFill>
              <a:latin typeface="宋体" panose="02010600030101010101" pitchFamily="2" charset="-122"/>
              <a:ea typeface="宋体" panose="02010600030101010101" pitchFamily="2" charset="-122"/>
            </a:endParaRPr>
          </a:p>
        </p:txBody>
      </p:sp>
      <p:sp>
        <p:nvSpPr>
          <p:cNvPr id="5" name="文本框 4">
            <a:extLst>
              <a:ext uri="{FF2B5EF4-FFF2-40B4-BE49-F238E27FC236}">
                <a16:creationId xmlns:a16="http://schemas.microsoft.com/office/drawing/2014/main" xmlns="" id="{2F2DC8B3-8E26-4EFE-BC27-0073A1A26601}"/>
              </a:ext>
            </a:extLst>
          </p:cNvPr>
          <p:cNvSpPr txBox="1"/>
          <p:nvPr/>
        </p:nvSpPr>
        <p:spPr>
          <a:xfrm>
            <a:off x="0" y="2292164"/>
            <a:ext cx="12035590" cy="954107"/>
          </a:xfrm>
          <a:prstGeom prst="rect">
            <a:avLst/>
          </a:prstGeom>
          <a:noFill/>
        </p:spPr>
        <p:txBody>
          <a:bodyPr wrap="square" rtlCol="0">
            <a:spAutoFit/>
          </a:bodyPr>
          <a:lstStyle/>
          <a:p>
            <a:r>
              <a:rPr lang="en-US" altLang="zh-CN" sz="2800" b="1" dirty="0">
                <a:solidFill>
                  <a:srgbClr val="FF0000"/>
                </a:solidFill>
              </a:rPr>
              <a:t>【</a:t>
            </a:r>
            <a:r>
              <a:rPr lang="zh-CN" altLang="en-US" sz="2800" b="1" dirty="0">
                <a:solidFill>
                  <a:srgbClr val="FF0000"/>
                </a:solidFill>
              </a:rPr>
              <a:t>常见问题</a:t>
            </a:r>
            <a:r>
              <a:rPr lang="en-US" altLang="zh-CN" sz="2800" b="1" dirty="0">
                <a:solidFill>
                  <a:srgbClr val="FF0000"/>
                </a:solidFill>
              </a:rPr>
              <a:t>】1</a:t>
            </a:r>
            <a:r>
              <a:rPr lang="zh-CN" altLang="en-US" sz="2800" b="1" dirty="0">
                <a:solidFill>
                  <a:srgbClr val="FF0000"/>
                </a:solidFill>
              </a:rPr>
              <a:t>、没有分析思路，只有结论（例如，照抄</a:t>
            </a:r>
            <a:r>
              <a:rPr lang="zh-CN" altLang="en-US" sz="2800" b="1" dirty="0" smtClean="0">
                <a:solidFill>
                  <a:srgbClr val="FF0000"/>
                </a:solidFill>
              </a:rPr>
              <a:t>材料：水质清澈、水草丛生）</a:t>
            </a:r>
            <a:r>
              <a:rPr lang="zh-CN" altLang="en-US" sz="2800" b="1" dirty="0">
                <a:solidFill>
                  <a:srgbClr val="FF0000"/>
                </a:solidFill>
              </a:rPr>
              <a:t>。</a:t>
            </a:r>
            <a:r>
              <a:rPr lang="en-US" altLang="zh-CN" sz="2800" b="1" dirty="0">
                <a:solidFill>
                  <a:srgbClr val="FF0000"/>
                </a:solidFill>
              </a:rPr>
              <a:t>2</a:t>
            </a:r>
            <a:r>
              <a:rPr lang="zh-CN" altLang="en-US" sz="2800" b="1" dirty="0">
                <a:solidFill>
                  <a:srgbClr val="FF0000"/>
                </a:solidFill>
              </a:rPr>
              <a:t>、审题不清，讲到人为原因。</a:t>
            </a:r>
          </a:p>
        </p:txBody>
      </p:sp>
    </p:spTree>
    <p:extLst>
      <p:ext uri="{BB962C8B-B14F-4D97-AF65-F5344CB8AC3E}">
        <p14:creationId xmlns:p14="http://schemas.microsoft.com/office/powerpoint/2010/main" xmlns="" val="4030903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0515600" cy="1325563"/>
          </a:xfrm>
        </p:spPr>
        <p:txBody>
          <a:bodyPr/>
          <a:lstStyle/>
          <a:p>
            <a:r>
              <a:rPr lang="en-US" altLang="zh-CN" dirty="0" smtClean="0"/>
              <a:t>【</a:t>
            </a:r>
            <a:r>
              <a:rPr lang="zh-CN" altLang="en-US" dirty="0" smtClean="0"/>
              <a:t>生物知识小拓展</a:t>
            </a:r>
            <a:r>
              <a:rPr lang="en-US" altLang="zh-CN" dirty="0" smtClean="0"/>
              <a:t>】</a:t>
            </a:r>
            <a:endParaRPr lang="zh-CN" altLang="en-US" dirty="0"/>
          </a:p>
        </p:txBody>
      </p:sp>
      <p:sp>
        <p:nvSpPr>
          <p:cNvPr id="3" name="内容占位符 2"/>
          <p:cNvSpPr>
            <a:spLocks noGrp="1"/>
          </p:cNvSpPr>
          <p:nvPr>
            <p:ph idx="1"/>
          </p:nvPr>
        </p:nvSpPr>
        <p:spPr>
          <a:xfrm>
            <a:off x="0" y="1056368"/>
            <a:ext cx="12192000" cy="1265918"/>
          </a:xfrm>
        </p:spPr>
        <p:txBody>
          <a:bodyPr/>
          <a:lstStyle/>
          <a:p>
            <a:pPr>
              <a:buNone/>
            </a:pPr>
            <a:r>
              <a:rPr lang="zh-CN" altLang="en-US" dirty="0" smtClean="0"/>
              <a:t>水草对鱼类繁殖的作用：</a:t>
            </a:r>
            <a:r>
              <a:rPr lang="zh-CN" altLang="en-US" dirty="0" smtClean="0"/>
              <a:t>自然水域的鱼类都是通过自身繁殖来延续物种的，其中水草扮演的及其重要的角色。有时候我们在野外水草周围都会看到一些圆形的卵，有的是青蛙的，有的是鱼类的</a:t>
            </a:r>
            <a:r>
              <a:rPr lang="zh-CN" altLang="en-US" dirty="0" smtClean="0"/>
              <a:t>。</a:t>
            </a:r>
            <a:endParaRPr lang="zh-CN" altLang="en-US" dirty="0"/>
          </a:p>
        </p:txBody>
      </p:sp>
      <p:pic>
        <p:nvPicPr>
          <p:cNvPr id="1026" name="Picture 2" descr="https://timgsa.baidu.com/timg?image&amp;quality=80&amp;size=b9999_10000&amp;sec=1606102353211&amp;di=0050521a35b226fb422b7c5dd7078b3b&amp;imgtype=0&amp;src=http%3A%2F%2Fphoto.16pic.com%2F00%2F36%2F37%2F16pic_3637287_b.jpg"/>
          <p:cNvPicPr>
            <a:picLocks noChangeAspect="1" noChangeArrowheads="1"/>
          </p:cNvPicPr>
          <p:nvPr/>
        </p:nvPicPr>
        <p:blipFill>
          <a:blip r:embed="rId2" cstate="print"/>
          <a:srcRect/>
          <a:stretch>
            <a:fillRect/>
          </a:stretch>
        </p:blipFill>
        <p:spPr bwMode="auto">
          <a:xfrm>
            <a:off x="1785257" y="3367174"/>
            <a:ext cx="2457310" cy="3490826"/>
          </a:xfrm>
          <a:prstGeom prst="rect">
            <a:avLst/>
          </a:prstGeom>
          <a:noFill/>
        </p:spPr>
      </p:pic>
      <p:pic>
        <p:nvPicPr>
          <p:cNvPr id="1028" name="Picture 4" descr="https://timgsa.baidu.com/timg?image&amp;quality=80&amp;size=b9999_10000&amp;sec=1606102344616&amp;di=cf3a47b0c26994b8be9aab8be0859a82&amp;imgtype=0&amp;src=http%3A%2F%2Fwww.qnong.com.cn%2Fuploadfile%2F2015%2F0705%2F20150705083653750.jpg"/>
          <p:cNvPicPr>
            <a:picLocks noChangeAspect="1" noChangeArrowheads="1"/>
          </p:cNvPicPr>
          <p:nvPr/>
        </p:nvPicPr>
        <p:blipFill>
          <a:blip r:embed="rId3" cstate="print"/>
          <a:srcRect/>
          <a:stretch>
            <a:fillRect/>
          </a:stretch>
        </p:blipFill>
        <p:spPr bwMode="auto">
          <a:xfrm>
            <a:off x="4209142" y="3409422"/>
            <a:ext cx="5337083" cy="3448578"/>
          </a:xfrm>
          <a:prstGeom prst="rect">
            <a:avLst/>
          </a:prstGeom>
          <a:noFill/>
        </p:spPr>
      </p:pic>
      <p:sp>
        <p:nvSpPr>
          <p:cNvPr id="6" name="内容占位符 2"/>
          <p:cNvSpPr txBox="1">
            <a:spLocks/>
          </p:cNvSpPr>
          <p:nvPr/>
        </p:nvSpPr>
        <p:spPr>
          <a:xfrm>
            <a:off x="0" y="2333625"/>
            <a:ext cx="12192000" cy="496661"/>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2800" b="0" i="0" u="none" strike="noStrike" kern="1200" cap="none" spc="0" normalizeH="0" baseline="0" noProof="0" dirty="0" smtClean="0">
                <a:ln>
                  <a:noFill/>
                </a:ln>
                <a:solidFill>
                  <a:srgbClr val="FF0000"/>
                </a:solidFill>
                <a:effectLst/>
                <a:uLnTx/>
                <a:uFillTx/>
                <a:latin typeface="+mn-lt"/>
                <a:ea typeface="+mn-ea"/>
                <a:cs typeface="+mn-cs"/>
              </a:rPr>
              <a:t>     水草是水生植物，根系较短，所以只有在流速较缓的水域</a:t>
            </a:r>
            <a:r>
              <a:rPr lang="zh-CN" altLang="en-US" sz="2800" dirty="0" smtClean="0">
                <a:solidFill>
                  <a:srgbClr val="FF0000"/>
                </a:solidFill>
              </a:rPr>
              <a:t>才能生长。</a:t>
            </a:r>
            <a:endParaRPr kumimoji="0" lang="zh-CN" altLang="en-US" sz="2800" b="0" i="0" u="none" strike="noStrike" kern="1200" cap="none" spc="0" normalizeH="0" baseline="0" noProof="0" dirty="0">
              <a:ln>
                <a:noFill/>
              </a:ln>
              <a:solidFill>
                <a:srgbClr val="FF0000"/>
              </a:solidFill>
              <a:effectLst/>
              <a:uLnTx/>
              <a:uFillTx/>
              <a:latin typeface="+mn-lt"/>
              <a:ea typeface="+mn-ea"/>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0515600" cy="1325563"/>
          </a:xfrm>
        </p:spPr>
        <p:txBody>
          <a:bodyPr/>
          <a:lstStyle/>
          <a:p>
            <a:r>
              <a:rPr lang="en-US" altLang="zh-CN" dirty="0" smtClean="0"/>
              <a:t>【</a:t>
            </a:r>
            <a:r>
              <a:rPr lang="zh-CN" altLang="en-US" dirty="0" smtClean="0"/>
              <a:t>生物知识小拓展</a:t>
            </a:r>
            <a:r>
              <a:rPr lang="en-US" altLang="zh-CN" dirty="0" smtClean="0"/>
              <a:t>】</a:t>
            </a:r>
            <a:endParaRPr lang="zh-CN" altLang="en-US" dirty="0"/>
          </a:p>
        </p:txBody>
      </p:sp>
      <p:sp>
        <p:nvSpPr>
          <p:cNvPr id="3" name="内容占位符 2"/>
          <p:cNvSpPr>
            <a:spLocks noGrp="1"/>
          </p:cNvSpPr>
          <p:nvPr>
            <p:ph idx="1"/>
          </p:nvPr>
        </p:nvSpPr>
        <p:spPr>
          <a:xfrm>
            <a:off x="0" y="1056368"/>
            <a:ext cx="12192000" cy="627289"/>
          </a:xfrm>
        </p:spPr>
        <p:txBody>
          <a:bodyPr>
            <a:normAutofit/>
          </a:bodyPr>
          <a:lstStyle/>
          <a:p>
            <a:pPr algn="ctr">
              <a:buNone/>
            </a:pPr>
            <a:r>
              <a:rPr lang="zh-CN" altLang="en-US" b="1" dirty="0" smtClean="0"/>
              <a:t>一个动物种群想要繁衍下去，最少需要多少数量呢</a:t>
            </a:r>
            <a:r>
              <a:rPr lang="zh-CN" altLang="en-US" b="1" dirty="0" smtClean="0"/>
              <a:t>？</a:t>
            </a:r>
            <a:endParaRPr lang="zh-CN" altLang="en-US" dirty="0"/>
          </a:p>
        </p:txBody>
      </p:sp>
      <p:sp>
        <p:nvSpPr>
          <p:cNvPr id="8" name="矩形 7"/>
          <p:cNvSpPr/>
          <p:nvPr/>
        </p:nvSpPr>
        <p:spPr>
          <a:xfrm>
            <a:off x="0" y="1545950"/>
            <a:ext cx="12192000" cy="1815882"/>
          </a:xfrm>
          <a:prstGeom prst="rect">
            <a:avLst/>
          </a:prstGeom>
        </p:spPr>
        <p:txBody>
          <a:bodyPr wrap="square">
            <a:spAutoFit/>
          </a:bodyPr>
          <a:lstStyle/>
          <a:p>
            <a:r>
              <a:rPr lang="zh-CN" altLang="en-US" sz="2800" dirty="0" smtClean="0"/>
              <a:t>       最小存活种群</a:t>
            </a:r>
            <a:r>
              <a:rPr lang="zh-CN" altLang="en-US" sz="2800" dirty="0" smtClean="0"/>
              <a:t>的定义是一个种群能够在特定时间内健康生存所需要的最小的有效数量</a:t>
            </a:r>
            <a:r>
              <a:rPr lang="zh-CN" altLang="en-US" sz="2800" dirty="0" smtClean="0"/>
              <a:t>。</a:t>
            </a:r>
            <a:endParaRPr lang="en-US" altLang="zh-CN" sz="2800" dirty="0" smtClean="0"/>
          </a:p>
          <a:p>
            <a:r>
              <a:rPr lang="en-US" altLang="zh-CN" sz="2800" dirty="0" smtClean="0"/>
              <a:t> </a:t>
            </a:r>
            <a:r>
              <a:rPr lang="en-US" altLang="zh-CN" sz="2800" dirty="0" smtClean="0"/>
              <a:t>      </a:t>
            </a:r>
            <a:r>
              <a:rPr lang="zh-CN" altLang="en-US" sz="2800" dirty="0" smtClean="0"/>
              <a:t>简单</a:t>
            </a:r>
            <a:r>
              <a:rPr lang="zh-CN" altLang="en-US" sz="2800" dirty="0" smtClean="0"/>
              <a:t>的说就是一个种群想要生存和延续所需要最少的个体数量，这是种群能否延续的临界值，低于这个临界值，种群就会逐渐的灭绝。</a:t>
            </a:r>
          </a:p>
        </p:txBody>
      </p:sp>
      <p:sp>
        <p:nvSpPr>
          <p:cNvPr id="9" name="矩形 8"/>
          <p:cNvSpPr/>
          <p:nvPr/>
        </p:nvSpPr>
        <p:spPr>
          <a:xfrm>
            <a:off x="1103086" y="4273621"/>
            <a:ext cx="10885714" cy="646331"/>
          </a:xfrm>
          <a:prstGeom prst="rect">
            <a:avLst/>
          </a:prstGeom>
        </p:spPr>
        <p:txBody>
          <a:bodyPr wrap="square">
            <a:spAutoFit/>
          </a:bodyPr>
          <a:lstStyle/>
          <a:p>
            <a:r>
              <a:rPr lang="en-US" altLang="zh-CN" dirty="0" smtClean="0"/>
              <a:t>https://view.inews.qq.com/w2/20200330A0SER000?tbkt=J&amp;strategy=&amp;openid=o04IBAIh8r1SX7wTaLGgmM6v6Np4&amp;uid=&amp;refer=wx_hot</a:t>
            </a:r>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34DDC1F3-E323-43ED-94CF-A9D65AA82E4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7169" name="图片 11" descr="2017年全国普通高等学校招生统一考试文综地理（全国卷3）【解析】">
            <a:extLst>
              <a:ext uri="{FF2B5EF4-FFF2-40B4-BE49-F238E27FC236}">
                <a16:creationId xmlns:a16="http://schemas.microsoft.com/office/drawing/2014/main" xmlns="" id="{753C0C0B-07B3-48F1-88AF-31329280928A}"/>
              </a:ext>
            </a:extLst>
          </p:cNvPr>
          <p:cNvPicPr>
            <a:picLocks noChangeAspect="1" noChangeArrowheads="1"/>
          </p:cNvPicPr>
          <p:nvPr/>
        </p:nvPicPr>
        <p:blipFill>
          <a:blip r:embed="rId2" cstate="print">
            <a:lum bright="-38000" contrast="60000"/>
            <a:extLst>
              <a:ext uri="{28A0092B-C50C-407E-A947-70E740481C1C}">
                <a14:useLocalDpi xmlns:a14="http://schemas.microsoft.com/office/drawing/2010/main" xmlns="" val="0"/>
              </a:ext>
            </a:extLst>
          </a:blip>
          <a:srcRect/>
          <a:stretch>
            <a:fillRect/>
          </a:stretch>
        </p:blipFill>
        <p:spPr bwMode="auto">
          <a:xfrm>
            <a:off x="5741123" y="3359219"/>
            <a:ext cx="6450877" cy="3498781"/>
          </a:xfrm>
          <a:prstGeom prst="rect">
            <a:avLst/>
          </a:prstGeom>
          <a:noFill/>
          <a:extLst>
            <a:ext uri="{909E8E84-426E-40DD-AFC4-6F175D3DCCD1}">
              <a14:hiddenFill xmlns:a14="http://schemas.microsoft.com/office/drawing/2010/main" xmlns="">
                <a:solidFill>
                  <a:srgbClr val="FFFFFF"/>
                </a:solidFill>
              </a14:hiddenFill>
            </a:ext>
          </a:extLst>
        </p:spPr>
      </p:pic>
      <p:sp>
        <p:nvSpPr>
          <p:cNvPr id="3" name="Rectangle 3">
            <a:extLst>
              <a:ext uri="{FF2B5EF4-FFF2-40B4-BE49-F238E27FC236}">
                <a16:creationId xmlns:a16="http://schemas.microsoft.com/office/drawing/2014/main" xmlns="" id="{9CD8CB75-B05B-4541-81BC-3F1D571D3D62}"/>
              </a:ext>
            </a:extLst>
          </p:cNvPr>
          <p:cNvSpPr>
            <a:spLocks noChangeArrowheads="1"/>
          </p:cNvSpPr>
          <p:nvPr/>
        </p:nvSpPr>
        <p:spPr bwMode="auto">
          <a:xfrm>
            <a:off x="0" y="92327"/>
            <a:ext cx="12192000" cy="18158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381000" algn="l"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dirty="0">
                <a:ln>
                  <a:noFill/>
                </a:ln>
                <a:solidFill>
                  <a:schemeClr val="tx1"/>
                </a:solidFill>
                <a:effectLst/>
                <a:latin typeface="华文宋体" panose="02010600040101010101" pitchFamily="2" charset="-122"/>
                <a:ea typeface="华文宋体" panose="02010600040101010101" pitchFamily="2" charset="-122"/>
                <a:cs typeface="宋体" panose="02010600030101010101" pitchFamily="2" charset="-122"/>
              </a:rPr>
              <a:t>  白斑狗鱼肉质细嫩，营养丰富，有“鱼中软黄金”之称，白斑狗鱼是肉食性鱼，适宜在</a:t>
            </a:r>
            <a:r>
              <a:rPr kumimoji="0" lang="en-US" altLang="zh-CN" sz="2800" b="0" i="0" u="none" strike="noStrike" cap="none" normalizeH="0" baseline="0" dirty="0">
                <a:ln>
                  <a:noFill/>
                </a:ln>
                <a:solidFill>
                  <a:schemeClr val="tx1"/>
                </a:solidFill>
                <a:effectLst/>
                <a:latin typeface="华文宋体" panose="02010600040101010101" pitchFamily="2" charset="-122"/>
                <a:ea typeface="华文宋体" panose="02010600040101010101" pitchFamily="2" charset="-122"/>
                <a:cs typeface="宋体" panose="02010600030101010101" pitchFamily="2" charset="-122"/>
              </a:rPr>
              <a:t>16℃</a:t>
            </a:r>
            <a:r>
              <a:rPr kumimoji="0" lang="zh-CN" altLang="en-US" sz="2800" b="0" i="0" u="none" strike="noStrike" cap="none" normalizeH="0" baseline="0" dirty="0">
                <a:ln>
                  <a:noFill/>
                </a:ln>
                <a:solidFill>
                  <a:schemeClr val="tx1"/>
                </a:solidFill>
                <a:effectLst/>
                <a:latin typeface="华文宋体" panose="02010600040101010101" pitchFamily="2" charset="-122"/>
                <a:ea typeface="华文宋体" panose="02010600040101010101" pitchFamily="2" charset="-122"/>
                <a:cs typeface="宋体" panose="02010600030101010101" pitchFamily="2" charset="-122"/>
              </a:rPr>
              <a:t>以下的水域产卵繁殖，分布于亚洲、欧洲和北美洲的北部冷水水域，栖息环境多为水质清澈、水草丛生的河流，在我国仅见于新疆的额尔齐斯河流域。额尔齐斯河是我国唯一属于北冰洋水系的河流。</a:t>
            </a:r>
            <a:endParaRPr kumimoji="0" lang="zh-CN" altLang="en-US" sz="2800" b="0" i="0" u="none" strike="noStrike" cap="none" normalizeH="0" baseline="0" dirty="0">
              <a:ln>
                <a:noFill/>
              </a:ln>
              <a:solidFill>
                <a:schemeClr val="tx1"/>
              </a:solidFill>
              <a:effectLst/>
              <a:latin typeface="华文宋体" panose="02010600040101010101" pitchFamily="2" charset="-122"/>
              <a:ea typeface="华文宋体" panose="02010600040101010101" pitchFamily="2" charset="-122"/>
            </a:endParaRPr>
          </a:p>
        </p:txBody>
      </p:sp>
      <p:sp>
        <p:nvSpPr>
          <p:cNvPr id="6" name="文本框 5">
            <a:extLst>
              <a:ext uri="{FF2B5EF4-FFF2-40B4-BE49-F238E27FC236}">
                <a16:creationId xmlns:a16="http://schemas.microsoft.com/office/drawing/2014/main" xmlns="" id="{80070FAF-1058-4C85-A3B9-8FA1289DB791}"/>
              </a:ext>
            </a:extLst>
          </p:cNvPr>
          <p:cNvSpPr txBox="1"/>
          <p:nvPr/>
        </p:nvSpPr>
        <p:spPr>
          <a:xfrm>
            <a:off x="127534" y="1908209"/>
            <a:ext cx="7871059" cy="523220"/>
          </a:xfrm>
          <a:prstGeom prst="rect">
            <a:avLst/>
          </a:prstGeom>
          <a:noFill/>
        </p:spPr>
        <p:txBody>
          <a:bodyPr wrap="square">
            <a:spAutoFit/>
          </a:bodyPr>
          <a:lstStyle/>
          <a:p>
            <a:pPr lvl="0"/>
            <a:r>
              <a:rPr lang="zh-CN" altLang="en-US" sz="2800" dirty="0">
                <a:latin typeface="宋体" panose="02010600030101010101" pitchFamily="2" charset="-122"/>
                <a:ea typeface="宋体" panose="02010600030101010101" pitchFamily="2" charset="-122"/>
              </a:rPr>
              <a:t>（</a:t>
            </a:r>
            <a:r>
              <a:rPr lang="en-US" altLang="zh-CN" sz="2800" dirty="0">
                <a:latin typeface="宋体" panose="02010600030101010101" pitchFamily="2" charset="-122"/>
                <a:ea typeface="宋体" panose="02010600030101010101" pitchFamily="2" charset="-122"/>
              </a:rPr>
              <a:t>3</a:t>
            </a:r>
            <a:r>
              <a:rPr lang="zh-CN" altLang="en-US" sz="2800" dirty="0">
                <a:latin typeface="宋体" panose="02010600030101010101" pitchFamily="2" charset="-122"/>
                <a:ea typeface="宋体" panose="02010600030101010101" pitchFamily="2" charset="-122"/>
              </a:rPr>
              <a:t>）</a:t>
            </a:r>
            <a:r>
              <a:rPr lang="zh-CN" altLang="zh-CN" sz="2800" dirty="0">
                <a:latin typeface="宋体" panose="02010600030101010101" pitchFamily="2" charset="-122"/>
                <a:ea typeface="宋体" panose="02010600030101010101" pitchFamily="2" charset="-122"/>
              </a:rPr>
              <a:t>说明白斑狗鱼产量低的原因。（</a:t>
            </a:r>
            <a:r>
              <a:rPr lang="en-US" altLang="zh-CN" sz="2800" dirty="0">
                <a:latin typeface="宋体" panose="02010600030101010101" pitchFamily="2" charset="-122"/>
                <a:ea typeface="宋体" panose="02010600030101010101" pitchFamily="2" charset="-122"/>
              </a:rPr>
              <a:t>6</a:t>
            </a:r>
            <a:r>
              <a:rPr lang="zh-CN" altLang="zh-CN" sz="2800" dirty="0">
                <a:latin typeface="宋体" panose="02010600030101010101" pitchFamily="2" charset="-122"/>
                <a:ea typeface="宋体" panose="02010600030101010101" pitchFamily="2" charset="-122"/>
              </a:rPr>
              <a:t>分）</a:t>
            </a:r>
          </a:p>
        </p:txBody>
      </p:sp>
      <p:sp>
        <p:nvSpPr>
          <p:cNvPr id="8" name="文本框 7">
            <a:extLst>
              <a:ext uri="{FF2B5EF4-FFF2-40B4-BE49-F238E27FC236}">
                <a16:creationId xmlns:a16="http://schemas.microsoft.com/office/drawing/2014/main" xmlns="" id="{B8C7FE73-F677-454F-9CD4-2AD5B521C5F9}"/>
              </a:ext>
            </a:extLst>
          </p:cNvPr>
          <p:cNvSpPr txBox="1"/>
          <p:nvPr/>
        </p:nvSpPr>
        <p:spPr>
          <a:xfrm>
            <a:off x="0" y="4328644"/>
            <a:ext cx="798897" cy="646331"/>
          </a:xfrm>
          <a:prstGeom prst="rect">
            <a:avLst/>
          </a:prstGeom>
          <a:noFill/>
        </p:spPr>
        <p:txBody>
          <a:bodyPr wrap="square">
            <a:spAutoFit/>
          </a:bodyPr>
          <a:lstStyle/>
          <a:p>
            <a:r>
              <a:rPr lang="zh-CN" altLang="zh-CN" sz="1800" dirty="0">
                <a:latin typeface="宋体" panose="02010600030101010101" pitchFamily="2" charset="-122"/>
                <a:ea typeface="宋体" panose="02010600030101010101" pitchFamily="2" charset="-122"/>
              </a:rPr>
              <a:t>白斑狗鱼</a:t>
            </a:r>
            <a:endParaRPr lang="zh-CN" altLang="en-US" dirty="0"/>
          </a:p>
        </p:txBody>
      </p:sp>
      <p:sp>
        <p:nvSpPr>
          <p:cNvPr id="9" name="左大括号 8">
            <a:extLst>
              <a:ext uri="{FF2B5EF4-FFF2-40B4-BE49-F238E27FC236}">
                <a16:creationId xmlns:a16="http://schemas.microsoft.com/office/drawing/2014/main" xmlns="" id="{11684EB6-1DB7-4DD5-8D54-71F23CB2278D}"/>
              </a:ext>
            </a:extLst>
          </p:cNvPr>
          <p:cNvSpPr/>
          <p:nvPr/>
        </p:nvSpPr>
        <p:spPr>
          <a:xfrm>
            <a:off x="558265" y="3491759"/>
            <a:ext cx="389823" cy="2320102"/>
          </a:xfrm>
          <a:prstGeom prst="lef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xmlns="" id="{01DCBA49-C73C-4B9B-8C0D-6BC8C85014CB}"/>
              </a:ext>
            </a:extLst>
          </p:cNvPr>
          <p:cNvSpPr txBox="1"/>
          <p:nvPr/>
        </p:nvSpPr>
        <p:spPr>
          <a:xfrm>
            <a:off x="948088" y="3334837"/>
            <a:ext cx="1297005" cy="369332"/>
          </a:xfrm>
          <a:prstGeom prst="rect">
            <a:avLst/>
          </a:prstGeom>
          <a:noFill/>
          <a:ln>
            <a:solidFill>
              <a:srgbClr val="0000FF"/>
            </a:solidFill>
          </a:ln>
        </p:spPr>
        <p:txBody>
          <a:bodyPr wrap="square">
            <a:spAutoFit/>
          </a:bodyPr>
          <a:lstStyle/>
          <a:p>
            <a:r>
              <a:rPr kumimoji="0" lang="zh-CN" altLang="en-US" sz="1800" b="0" i="0" u="none" strike="noStrike" cap="none" normalizeH="0" baseline="0" dirty="0">
                <a:ln>
                  <a:noFill/>
                </a:ln>
                <a:solidFill>
                  <a:srgbClr val="0000FF"/>
                </a:solidFill>
                <a:effectLst/>
                <a:latin typeface="华文宋体" panose="02010600040101010101" pitchFamily="2" charset="-122"/>
                <a:ea typeface="华文宋体" panose="02010600040101010101" pitchFamily="2" charset="-122"/>
                <a:cs typeface="宋体" panose="02010600030101010101" pitchFamily="2" charset="-122"/>
              </a:rPr>
              <a:t>肉食性鱼</a:t>
            </a:r>
            <a:endParaRPr lang="zh-CN" altLang="en-US" dirty="0"/>
          </a:p>
        </p:txBody>
      </p:sp>
      <p:sp>
        <p:nvSpPr>
          <p:cNvPr id="11" name="文本框 10">
            <a:extLst>
              <a:ext uri="{FF2B5EF4-FFF2-40B4-BE49-F238E27FC236}">
                <a16:creationId xmlns:a16="http://schemas.microsoft.com/office/drawing/2014/main" xmlns="" id="{9C9DF22D-2D97-4C4B-8AF0-5954B1619815}"/>
              </a:ext>
            </a:extLst>
          </p:cNvPr>
          <p:cNvSpPr txBox="1"/>
          <p:nvPr/>
        </p:nvSpPr>
        <p:spPr>
          <a:xfrm>
            <a:off x="948088" y="3704169"/>
            <a:ext cx="1297005" cy="369332"/>
          </a:xfrm>
          <a:prstGeom prst="rect">
            <a:avLst/>
          </a:prstGeom>
          <a:noFill/>
          <a:ln>
            <a:solidFill>
              <a:srgbClr val="0000FF"/>
            </a:solidFill>
          </a:ln>
        </p:spPr>
        <p:txBody>
          <a:bodyPr wrap="square">
            <a:spAutoFit/>
          </a:bodyPr>
          <a:lstStyle/>
          <a:p>
            <a:r>
              <a:rPr lang="en-US" altLang="zh-CN" sz="1800" dirty="0">
                <a:solidFill>
                  <a:srgbClr val="0000FF"/>
                </a:solidFill>
                <a:latin typeface="华文宋体" panose="02010600040101010101" pitchFamily="2" charset="-122"/>
                <a:ea typeface="华文宋体" panose="02010600040101010101" pitchFamily="2" charset="-122"/>
                <a:cs typeface="宋体" panose="02010600030101010101" pitchFamily="2" charset="-122"/>
              </a:rPr>
              <a:t>16℃</a:t>
            </a:r>
            <a:r>
              <a:rPr lang="zh-CN" altLang="en-US" sz="1800" dirty="0">
                <a:solidFill>
                  <a:srgbClr val="0000FF"/>
                </a:solidFill>
                <a:latin typeface="华文宋体" panose="02010600040101010101" pitchFamily="2" charset="-122"/>
                <a:ea typeface="华文宋体" panose="02010600040101010101" pitchFamily="2" charset="-122"/>
                <a:cs typeface="宋体" panose="02010600030101010101" pitchFamily="2" charset="-122"/>
              </a:rPr>
              <a:t>以下</a:t>
            </a:r>
            <a:endParaRPr lang="zh-CN" altLang="en-US" dirty="0"/>
          </a:p>
        </p:txBody>
      </p:sp>
      <p:sp>
        <p:nvSpPr>
          <p:cNvPr id="12" name="文本框 11">
            <a:extLst>
              <a:ext uri="{FF2B5EF4-FFF2-40B4-BE49-F238E27FC236}">
                <a16:creationId xmlns:a16="http://schemas.microsoft.com/office/drawing/2014/main" xmlns="" id="{93AF28C5-8BC8-4C27-9F6A-E4DED578C883}"/>
              </a:ext>
            </a:extLst>
          </p:cNvPr>
          <p:cNvSpPr txBox="1"/>
          <p:nvPr/>
        </p:nvSpPr>
        <p:spPr>
          <a:xfrm>
            <a:off x="948088" y="4162286"/>
            <a:ext cx="1595388" cy="923330"/>
          </a:xfrm>
          <a:prstGeom prst="rect">
            <a:avLst/>
          </a:prstGeom>
          <a:noFill/>
          <a:ln>
            <a:solidFill>
              <a:srgbClr val="0000FF"/>
            </a:solidFill>
          </a:ln>
        </p:spPr>
        <p:txBody>
          <a:bodyPr wrap="square">
            <a:spAutoFit/>
          </a:bodyPr>
          <a:lstStyle/>
          <a:p>
            <a:r>
              <a:rPr kumimoji="0" lang="zh-CN" altLang="en-US" sz="1800" b="0" i="0" u="none" strike="noStrike" cap="none" normalizeH="0" baseline="0" dirty="0">
                <a:ln>
                  <a:noFill/>
                </a:ln>
                <a:solidFill>
                  <a:schemeClr val="tx1"/>
                </a:solidFill>
                <a:effectLst/>
                <a:latin typeface="华文宋体" panose="02010600040101010101" pitchFamily="2" charset="-122"/>
                <a:ea typeface="华文宋体" panose="02010600040101010101" pitchFamily="2" charset="-122"/>
                <a:cs typeface="宋体" panose="02010600030101010101" pitchFamily="2" charset="-122"/>
              </a:rPr>
              <a:t>亚洲、欧洲和北美洲的</a:t>
            </a:r>
            <a:r>
              <a:rPr lang="zh-CN" altLang="en-US" sz="1800" dirty="0">
                <a:solidFill>
                  <a:srgbClr val="0000FF"/>
                </a:solidFill>
                <a:latin typeface="华文宋体" panose="02010600040101010101" pitchFamily="2" charset="-122"/>
                <a:ea typeface="华文宋体" panose="02010600040101010101" pitchFamily="2" charset="-122"/>
                <a:cs typeface="宋体" panose="02010600030101010101" pitchFamily="2" charset="-122"/>
              </a:rPr>
              <a:t>北部冷水水域</a:t>
            </a:r>
            <a:endParaRPr lang="zh-CN" altLang="en-US" dirty="0"/>
          </a:p>
        </p:txBody>
      </p:sp>
      <p:sp>
        <p:nvSpPr>
          <p:cNvPr id="13" name="文本框 12">
            <a:extLst>
              <a:ext uri="{FF2B5EF4-FFF2-40B4-BE49-F238E27FC236}">
                <a16:creationId xmlns:a16="http://schemas.microsoft.com/office/drawing/2014/main" xmlns="" id="{26C687C4-ADB4-42E5-A675-77AB17D99B64}"/>
              </a:ext>
            </a:extLst>
          </p:cNvPr>
          <p:cNvSpPr txBox="1"/>
          <p:nvPr/>
        </p:nvSpPr>
        <p:spPr>
          <a:xfrm>
            <a:off x="938116" y="5181917"/>
            <a:ext cx="1297005" cy="369332"/>
          </a:xfrm>
          <a:prstGeom prst="rect">
            <a:avLst/>
          </a:prstGeom>
          <a:noFill/>
          <a:ln>
            <a:solidFill>
              <a:srgbClr val="0000FF"/>
            </a:solidFill>
          </a:ln>
        </p:spPr>
        <p:txBody>
          <a:bodyPr wrap="square">
            <a:spAutoFit/>
          </a:bodyPr>
          <a:lstStyle/>
          <a:p>
            <a:r>
              <a:rPr lang="zh-CN" altLang="en-US" sz="1800" dirty="0">
                <a:solidFill>
                  <a:srgbClr val="0000FF"/>
                </a:solidFill>
                <a:latin typeface="华文宋体" panose="02010600040101010101" pitchFamily="2" charset="-122"/>
                <a:ea typeface="华文宋体" panose="02010600040101010101" pitchFamily="2" charset="-122"/>
                <a:cs typeface="宋体" panose="02010600030101010101" pitchFamily="2" charset="-122"/>
              </a:rPr>
              <a:t>水质清澈</a:t>
            </a:r>
            <a:endParaRPr lang="zh-CN" altLang="en-US" dirty="0"/>
          </a:p>
        </p:txBody>
      </p:sp>
      <p:sp>
        <p:nvSpPr>
          <p:cNvPr id="14" name="文本框 13">
            <a:extLst>
              <a:ext uri="{FF2B5EF4-FFF2-40B4-BE49-F238E27FC236}">
                <a16:creationId xmlns:a16="http://schemas.microsoft.com/office/drawing/2014/main" xmlns="" id="{64631520-8529-42A9-A2D3-4A869C41481F}"/>
              </a:ext>
            </a:extLst>
          </p:cNvPr>
          <p:cNvSpPr txBox="1"/>
          <p:nvPr/>
        </p:nvSpPr>
        <p:spPr>
          <a:xfrm>
            <a:off x="938116" y="5644523"/>
            <a:ext cx="1220349" cy="369332"/>
          </a:xfrm>
          <a:prstGeom prst="rect">
            <a:avLst/>
          </a:prstGeom>
          <a:noFill/>
          <a:ln>
            <a:solidFill>
              <a:srgbClr val="0000FF"/>
            </a:solidFill>
          </a:ln>
        </p:spPr>
        <p:txBody>
          <a:bodyPr wrap="square">
            <a:spAutoFit/>
          </a:bodyPr>
          <a:lstStyle/>
          <a:p>
            <a:r>
              <a:rPr lang="zh-CN" altLang="en-US" sz="1800" dirty="0">
                <a:solidFill>
                  <a:srgbClr val="0000FF"/>
                </a:solidFill>
                <a:latin typeface="华文宋体" panose="02010600040101010101" pitchFamily="2" charset="-122"/>
                <a:ea typeface="华文宋体" panose="02010600040101010101" pitchFamily="2" charset="-122"/>
                <a:cs typeface="宋体" panose="02010600030101010101" pitchFamily="2" charset="-122"/>
              </a:rPr>
              <a:t>水草丛生</a:t>
            </a:r>
            <a:endParaRPr lang="zh-CN" altLang="en-US" dirty="0"/>
          </a:p>
        </p:txBody>
      </p:sp>
      <p:sp>
        <p:nvSpPr>
          <p:cNvPr id="15" name="文本框 14">
            <a:extLst>
              <a:ext uri="{FF2B5EF4-FFF2-40B4-BE49-F238E27FC236}">
                <a16:creationId xmlns:a16="http://schemas.microsoft.com/office/drawing/2014/main" xmlns="" id="{65E1383F-28A6-474D-922D-821F926AE3DD}"/>
              </a:ext>
            </a:extLst>
          </p:cNvPr>
          <p:cNvSpPr txBox="1"/>
          <p:nvPr/>
        </p:nvSpPr>
        <p:spPr>
          <a:xfrm>
            <a:off x="4600531" y="4488668"/>
            <a:ext cx="1150219" cy="646331"/>
          </a:xfrm>
          <a:prstGeom prst="rect">
            <a:avLst/>
          </a:prstGeom>
          <a:noFill/>
        </p:spPr>
        <p:txBody>
          <a:bodyPr wrap="square">
            <a:spAutoFit/>
          </a:bodyPr>
          <a:lstStyle/>
          <a:p>
            <a:r>
              <a:rPr lang="zh-CN" altLang="zh-CN" sz="1800" dirty="0">
                <a:solidFill>
                  <a:srgbClr val="0000FF"/>
                </a:solidFill>
                <a:latin typeface="宋体" panose="02010600030101010101" pitchFamily="2" charset="-122"/>
                <a:ea typeface="宋体" panose="02010600030101010101" pitchFamily="2" charset="-122"/>
              </a:rPr>
              <a:t>额尔齐斯河流域</a:t>
            </a:r>
            <a:endParaRPr lang="zh-CN" altLang="en-US" dirty="0"/>
          </a:p>
        </p:txBody>
      </p:sp>
      <p:sp>
        <p:nvSpPr>
          <p:cNvPr id="16" name="右大括号 15">
            <a:extLst>
              <a:ext uri="{FF2B5EF4-FFF2-40B4-BE49-F238E27FC236}">
                <a16:creationId xmlns:a16="http://schemas.microsoft.com/office/drawing/2014/main" xmlns="" id="{EAA0F0A7-C310-4783-ADB2-B8A6319246EA}"/>
              </a:ext>
            </a:extLst>
          </p:cNvPr>
          <p:cNvSpPr/>
          <p:nvPr/>
        </p:nvSpPr>
        <p:spPr>
          <a:xfrm>
            <a:off x="4249207" y="3453896"/>
            <a:ext cx="389822" cy="2622985"/>
          </a:xfrm>
          <a:prstGeom prst="righ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xmlns="" id="{0C2A11A0-555B-4C4C-8E15-779EEA9B90B8}"/>
              </a:ext>
            </a:extLst>
          </p:cNvPr>
          <p:cNvSpPr txBox="1"/>
          <p:nvPr/>
        </p:nvSpPr>
        <p:spPr>
          <a:xfrm>
            <a:off x="3301467" y="3362866"/>
            <a:ext cx="947740" cy="646331"/>
          </a:xfrm>
          <a:prstGeom prst="rect">
            <a:avLst/>
          </a:prstGeom>
          <a:noFill/>
          <a:ln>
            <a:solidFill>
              <a:srgbClr val="0000FF"/>
            </a:solidFill>
          </a:ln>
        </p:spPr>
        <p:txBody>
          <a:bodyPr wrap="square">
            <a:spAutoFit/>
          </a:bodyPr>
          <a:lstStyle/>
          <a:p>
            <a:r>
              <a:rPr kumimoji="0" lang="zh-CN" altLang="en-US" sz="1800" b="0" i="0" u="none" strike="noStrike" cap="none" normalizeH="0" baseline="0" dirty="0">
                <a:ln>
                  <a:noFill/>
                </a:ln>
                <a:solidFill>
                  <a:srgbClr val="0000FF"/>
                </a:solidFill>
                <a:effectLst/>
                <a:latin typeface="华文宋体" panose="02010600040101010101" pitchFamily="2" charset="-122"/>
                <a:ea typeface="华文宋体" panose="02010600040101010101" pitchFamily="2" charset="-122"/>
                <a:cs typeface="宋体" panose="02010600030101010101" pitchFamily="2" charset="-122"/>
              </a:rPr>
              <a:t>高纬，水温低</a:t>
            </a:r>
            <a:endParaRPr lang="zh-CN" altLang="en-US" dirty="0"/>
          </a:p>
        </p:txBody>
      </p:sp>
      <p:sp>
        <p:nvSpPr>
          <p:cNvPr id="18" name="文本框 17">
            <a:extLst>
              <a:ext uri="{FF2B5EF4-FFF2-40B4-BE49-F238E27FC236}">
                <a16:creationId xmlns:a16="http://schemas.microsoft.com/office/drawing/2014/main" xmlns="" id="{77882F92-E2FF-47BB-BE2C-99A0D3BBECCA}"/>
              </a:ext>
            </a:extLst>
          </p:cNvPr>
          <p:cNvSpPr txBox="1"/>
          <p:nvPr/>
        </p:nvSpPr>
        <p:spPr>
          <a:xfrm>
            <a:off x="3301467" y="4094770"/>
            <a:ext cx="947740" cy="1200329"/>
          </a:xfrm>
          <a:prstGeom prst="rect">
            <a:avLst/>
          </a:prstGeom>
          <a:noFill/>
          <a:ln>
            <a:solidFill>
              <a:srgbClr val="0000FF"/>
            </a:solidFill>
          </a:ln>
        </p:spPr>
        <p:txBody>
          <a:bodyPr wrap="square">
            <a:spAutoFit/>
          </a:bodyPr>
          <a:lstStyle/>
          <a:p>
            <a:r>
              <a:rPr kumimoji="0" lang="zh-CN" altLang="en-US" sz="1800" b="0" i="0" u="none" strike="noStrike" cap="none" normalizeH="0" baseline="0" dirty="0">
                <a:ln>
                  <a:noFill/>
                </a:ln>
                <a:solidFill>
                  <a:srgbClr val="0000FF"/>
                </a:solidFill>
                <a:effectLst/>
                <a:latin typeface="华文宋体" panose="02010600040101010101" pitchFamily="2" charset="-122"/>
                <a:ea typeface="华文宋体" panose="02010600040101010101" pitchFamily="2" charset="-122"/>
                <a:cs typeface="宋体" panose="02010600030101010101" pitchFamily="2" charset="-122"/>
              </a:rPr>
              <a:t>高山冰雪融水，水温低，水质清</a:t>
            </a:r>
            <a:endParaRPr lang="zh-CN" altLang="en-US" dirty="0"/>
          </a:p>
        </p:txBody>
      </p:sp>
      <p:sp>
        <p:nvSpPr>
          <p:cNvPr id="19" name="文本框 18">
            <a:extLst>
              <a:ext uri="{FF2B5EF4-FFF2-40B4-BE49-F238E27FC236}">
                <a16:creationId xmlns:a16="http://schemas.microsoft.com/office/drawing/2014/main" xmlns="" id="{D74D2BCF-5CC2-4F12-93CB-9BB4821D15F5}"/>
              </a:ext>
            </a:extLst>
          </p:cNvPr>
          <p:cNvSpPr txBox="1"/>
          <p:nvPr/>
        </p:nvSpPr>
        <p:spPr>
          <a:xfrm>
            <a:off x="3291495" y="5295099"/>
            <a:ext cx="947740" cy="646331"/>
          </a:xfrm>
          <a:prstGeom prst="rect">
            <a:avLst/>
          </a:prstGeom>
          <a:noFill/>
          <a:ln>
            <a:solidFill>
              <a:srgbClr val="0000FF"/>
            </a:solidFill>
          </a:ln>
        </p:spPr>
        <p:txBody>
          <a:bodyPr wrap="square">
            <a:spAutoFit/>
          </a:bodyPr>
          <a:lstStyle/>
          <a:p>
            <a:r>
              <a:rPr kumimoji="0" lang="zh-CN" altLang="en-US" sz="1800" b="0" i="0" u="none" strike="noStrike" cap="none" normalizeH="0" baseline="0" dirty="0">
                <a:ln>
                  <a:noFill/>
                </a:ln>
                <a:solidFill>
                  <a:srgbClr val="0000FF"/>
                </a:solidFill>
                <a:effectLst/>
                <a:latin typeface="华文宋体" panose="02010600040101010101" pitchFamily="2" charset="-122"/>
                <a:ea typeface="华文宋体" panose="02010600040101010101" pitchFamily="2" charset="-122"/>
                <a:cs typeface="宋体" panose="02010600030101010101" pitchFamily="2" charset="-122"/>
              </a:rPr>
              <a:t>流速慢，水草多</a:t>
            </a:r>
            <a:endParaRPr lang="zh-CN" altLang="en-US" dirty="0"/>
          </a:p>
        </p:txBody>
      </p:sp>
      <p:sp>
        <p:nvSpPr>
          <p:cNvPr id="20" name="文本框 19">
            <a:extLst>
              <a:ext uri="{FF2B5EF4-FFF2-40B4-BE49-F238E27FC236}">
                <a16:creationId xmlns:a16="http://schemas.microsoft.com/office/drawing/2014/main" xmlns="" id="{9C6CEAFC-01E5-4888-8D7B-0D5EDA398000}"/>
              </a:ext>
            </a:extLst>
          </p:cNvPr>
          <p:cNvSpPr txBox="1"/>
          <p:nvPr/>
        </p:nvSpPr>
        <p:spPr>
          <a:xfrm>
            <a:off x="3281523" y="5934670"/>
            <a:ext cx="947740" cy="923330"/>
          </a:xfrm>
          <a:prstGeom prst="rect">
            <a:avLst/>
          </a:prstGeom>
          <a:noFill/>
          <a:ln>
            <a:solidFill>
              <a:srgbClr val="0000FF"/>
            </a:solidFill>
          </a:ln>
        </p:spPr>
        <p:txBody>
          <a:bodyPr wrap="square">
            <a:spAutoFit/>
          </a:bodyPr>
          <a:lstStyle/>
          <a:p>
            <a:r>
              <a:rPr kumimoji="0" lang="zh-CN" altLang="en-US" sz="1800" b="0" i="0" u="none" strike="noStrike" cap="none" normalizeH="0" baseline="0" dirty="0">
                <a:ln>
                  <a:noFill/>
                </a:ln>
                <a:solidFill>
                  <a:srgbClr val="0000FF"/>
                </a:solidFill>
                <a:effectLst/>
                <a:latin typeface="华文宋体" panose="02010600040101010101" pitchFamily="2" charset="-122"/>
                <a:ea typeface="华文宋体" panose="02010600040101010101" pitchFamily="2" charset="-122"/>
                <a:cs typeface="宋体" panose="02010600030101010101" pitchFamily="2" charset="-122"/>
              </a:rPr>
              <a:t>北冰洋水系河流</a:t>
            </a:r>
            <a:endParaRPr lang="zh-CN" altLang="en-US" dirty="0"/>
          </a:p>
        </p:txBody>
      </p:sp>
      <p:cxnSp>
        <p:nvCxnSpPr>
          <p:cNvPr id="26" name="直接箭头连接符 25">
            <a:extLst>
              <a:ext uri="{FF2B5EF4-FFF2-40B4-BE49-F238E27FC236}">
                <a16:creationId xmlns:a16="http://schemas.microsoft.com/office/drawing/2014/main" xmlns="" id="{2593008E-C732-40FD-ADCF-2232454DFD7F}"/>
              </a:ext>
            </a:extLst>
          </p:cNvPr>
          <p:cNvCxnSpPr>
            <a:stCxn id="18" idx="1"/>
            <a:endCxn id="10" idx="3"/>
          </p:cNvCxnSpPr>
          <p:nvPr/>
        </p:nvCxnSpPr>
        <p:spPr>
          <a:xfrm flipH="1" flipV="1">
            <a:off x="2245093" y="3519503"/>
            <a:ext cx="1056374" cy="11754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xmlns="" id="{F446816F-ABE8-4721-A350-5F9E71D8BA8F}"/>
              </a:ext>
            </a:extLst>
          </p:cNvPr>
          <p:cNvCxnSpPr>
            <a:stCxn id="17" idx="1"/>
            <a:endCxn id="11" idx="3"/>
          </p:cNvCxnSpPr>
          <p:nvPr/>
        </p:nvCxnSpPr>
        <p:spPr>
          <a:xfrm flipH="1">
            <a:off x="2245093" y="3686032"/>
            <a:ext cx="1056374" cy="2028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xmlns="" id="{FA0DFF10-BF81-4864-B00D-9D2A8A81572D}"/>
              </a:ext>
            </a:extLst>
          </p:cNvPr>
          <p:cNvCxnSpPr>
            <a:stCxn id="18" idx="1"/>
            <a:endCxn id="11" idx="3"/>
          </p:cNvCxnSpPr>
          <p:nvPr/>
        </p:nvCxnSpPr>
        <p:spPr>
          <a:xfrm flipH="1" flipV="1">
            <a:off x="2245093" y="3888835"/>
            <a:ext cx="1056374" cy="806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xmlns="" id="{3FA2CCDF-1E66-4042-ACA7-63E5AD494597}"/>
              </a:ext>
            </a:extLst>
          </p:cNvPr>
          <p:cNvCxnSpPr>
            <a:stCxn id="20" idx="1"/>
            <a:endCxn id="12" idx="3"/>
          </p:cNvCxnSpPr>
          <p:nvPr/>
        </p:nvCxnSpPr>
        <p:spPr>
          <a:xfrm flipH="1" flipV="1">
            <a:off x="2543476" y="4623951"/>
            <a:ext cx="738047" cy="17723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xmlns="" id="{AB21BFF2-8AF4-4EA7-AB3B-9EB2C1F6180E}"/>
              </a:ext>
            </a:extLst>
          </p:cNvPr>
          <p:cNvSpPr txBox="1"/>
          <p:nvPr/>
        </p:nvSpPr>
        <p:spPr>
          <a:xfrm>
            <a:off x="127534" y="2324822"/>
            <a:ext cx="12064466" cy="1015663"/>
          </a:xfrm>
          <a:prstGeom prst="rect">
            <a:avLst/>
          </a:prstGeom>
          <a:noFill/>
        </p:spPr>
        <p:txBody>
          <a:bodyPr wrap="square" rtlCol="0">
            <a:spAutoFit/>
          </a:bodyPr>
          <a:lstStyle/>
          <a:p>
            <a:r>
              <a:rPr lang="en-US" altLang="zh-CN" sz="2000" b="1" dirty="0">
                <a:solidFill>
                  <a:srgbClr val="FF0000"/>
                </a:solidFill>
              </a:rPr>
              <a:t>【</a:t>
            </a:r>
            <a:r>
              <a:rPr lang="zh-CN" altLang="en-US" sz="2000" b="1" dirty="0">
                <a:solidFill>
                  <a:srgbClr val="FF0000"/>
                </a:solidFill>
              </a:rPr>
              <a:t>解析</a:t>
            </a:r>
            <a:r>
              <a:rPr lang="en-US" altLang="zh-CN" sz="2000" b="1" dirty="0">
                <a:solidFill>
                  <a:srgbClr val="FF0000"/>
                </a:solidFill>
              </a:rPr>
              <a:t>】1</a:t>
            </a:r>
            <a:r>
              <a:rPr lang="zh-CN" altLang="en-US" sz="2000" b="1" dirty="0">
                <a:solidFill>
                  <a:srgbClr val="FF0000"/>
                </a:solidFill>
              </a:rPr>
              <a:t>、影响渔业的一般因素：水域范围（生存空间）、饵料。</a:t>
            </a:r>
            <a:endParaRPr lang="en-US" altLang="zh-CN" sz="2000" b="1" dirty="0">
              <a:solidFill>
                <a:srgbClr val="FF0000"/>
              </a:solidFill>
            </a:endParaRPr>
          </a:p>
          <a:p>
            <a:r>
              <a:rPr lang="en-US" altLang="zh-CN" sz="2000" b="1" dirty="0">
                <a:solidFill>
                  <a:srgbClr val="FF0000"/>
                </a:solidFill>
              </a:rPr>
              <a:t>2</a:t>
            </a:r>
            <a:r>
              <a:rPr lang="zh-CN" altLang="en-US" sz="2000" b="1" dirty="0">
                <a:solidFill>
                  <a:srgbClr val="FF0000"/>
                </a:solidFill>
              </a:rPr>
              <a:t>、影响农业区位因素一般思路：</a:t>
            </a:r>
            <a:r>
              <a:rPr lang="en-US" altLang="zh-CN" sz="2000" b="1" dirty="0">
                <a:solidFill>
                  <a:srgbClr val="FF0000"/>
                </a:solidFill>
              </a:rPr>
              <a:t>a</a:t>
            </a:r>
            <a:r>
              <a:rPr lang="zh-CN" altLang="en-US" sz="2000" b="1" dirty="0">
                <a:solidFill>
                  <a:srgbClr val="FF0000"/>
                </a:solidFill>
              </a:rPr>
              <a:t>、区域特征，</a:t>
            </a:r>
            <a:r>
              <a:rPr lang="en-US" altLang="zh-CN" sz="2000" b="1" dirty="0">
                <a:solidFill>
                  <a:srgbClr val="FF0000"/>
                </a:solidFill>
              </a:rPr>
              <a:t>b</a:t>
            </a:r>
            <a:r>
              <a:rPr lang="zh-CN" altLang="en-US" sz="2000" b="1" dirty="0">
                <a:solidFill>
                  <a:srgbClr val="FF0000"/>
                </a:solidFill>
              </a:rPr>
              <a:t>、农产品习性。</a:t>
            </a:r>
            <a:endParaRPr lang="en-US" altLang="zh-CN" sz="2000" b="1" dirty="0">
              <a:solidFill>
                <a:srgbClr val="FF0000"/>
              </a:solidFill>
            </a:endParaRPr>
          </a:p>
          <a:p>
            <a:r>
              <a:rPr lang="en-US" altLang="zh-CN" sz="2000" b="1" u="sng" dirty="0">
                <a:solidFill>
                  <a:srgbClr val="FF0000"/>
                </a:solidFill>
              </a:rPr>
              <a:t>3</a:t>
            </a:r>
            <a:r>
              <a:rPr lang="zh-CN" altLang="en-US" sz="2000" b="1" u="sng" dirty="0">
                <a:solidFill>
                  <a:srgbClr val="FF0000"/>
                </a:solidFill>
              </a:rPr>
              <a:t>、产量低，即农业不利条件。</a:t>
            </a:r>
          </a:p>
        </p:txBody>
      </p:sp>
    </p:spTree>
    <p:extLst>
      <p:ext uri="{BB962C8B-B14F-4D97-AF65-F5344CB8AC3E}">
        <p14:creationId xmlns:p14="http://schemas.microsoft.com/office/powerpoint/2010/main" xmlns="" val="3744593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0" grpId="0" animBg="1"/>
      <p:bldP spid="11" grpId="0" animBg="1"/>
      <p:bldP spid="12" grpId="0" animBg="1"/>
      <p:bldP spid="13" grpId="0" animBg="1"/>
      <p:bldP spid="14" grpId="0" animBg="1"/>
      <p:bldP spid="15" grpId="0"/>
      <p:bldP spid="16" grpId="0" animBg="1"/>
      <p:bldP spid="17" grpId="0" animBg="1"/>
      <p:bldP spid="18" grpId="0" animBg="1"/>
      <p:bldP spid="19" grpId="0" animBg="1"/>
      <p:bldP spid="20" grpId="0" animBg="1"/>
      <p:bldP spid="3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34DDC1F3-E323-43ED-94CF-A9D65AA82E4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7169" name="图片 11" descr="2017年全国普通高等学校招生统一考试文综地理（全国卷3）【解析】">
            <a:extLst>
              <a:ext uri="{FF2B5EF4-FFF2-40B4-BE49-F238E27FC236}">
                <a16:creationId xmlns:a16="http://schemas.microsoft.com/office/drawing/2014/main" xmlns="" id="{753C0C0B-07B3-48F1-88AF-31329280928A}"/>
              </a:ext>
            </a:extLst>
          </p:cNvPr>
          <p:cNvPicPr>
            <a:picLocks noChangeAspect="1" noChangeArrowheads="1"/>
          </p:cNvPicPr>
          <p:nvPr/>
        </p:nvPicPr>
        <p:blipFill>
          <a:blip r:embed="rId2" cstate="print">
            <a:lum bright="-38000" contrast="60000"/>
            <a:extLst>
              <a:ext uri="{28A0092B-C50C-407E-A947-70E740481C1C}">
                <a14:useLocalDpi xmlns:a14="http://schemas.microsoft.com/office/drawing/2010/main" xmlns="" val="0"/>
              </a:ext>
            </a:extLst>
          </a:blip>
          <a:srcRect/>
          <a:stretch>
            <a:fillRect/>
          </a:stretch>
        </p:blipFill>
        <p:spPr bwMode="auto">
          <a:xfrm>
            <a:off x="5741123" y="3359219"/>
            <a:ext cx="6450877" cy="3498781"/>
          </a:xfrm>
          <a:prstGeom prst="rect">
            <a:avLst/>
          </a:prstGeom>
          <a:noFill/>
          <a:extLst>
            <a:ext uri="{909E8E84-426E-40DD-AFC4-6F175D3DCCD1}">
              <a14:hiddenFill xmlns:a14="http://schemas.microsoft.com/office/drawing/2010/main" xmlns="">
                <a:solidFill>
                  <a:srgbClr val="FFFFFF"/>
                </a:solidFill>
              </a14:hiddenFill>
            </a:ext>
          </a:extLst>
        </p:spPr>
      </p:pic>
      <p:sp>
        <p:nvSpPr>
          <p:cNvPr id="3" name="Rectangle 3">
            <a:extLst>
              <a:ext uri="{FF2B5EF4-FFF2-40B4-BE49-F238E27FC236}">
                <a16:creationId xmlns:a16="http://schemas.microsoft.com/office/drawing/2014/main" xmlns="" id="{9CD8CB75-B05B-4541-81BC-3F1D571D3D62}"/>
              </a:ext>
            </a:extLst>
          </p:cNvPr>
          <p:cNvSpPr>
            <a:spLocks noChangeArrowheads="1"/>
          </p:cNvSpPr>
          <p:nvPr/>
        </p:nvSpPr>
        <p:spPr bwMode="auto">
          <a:xfrm>
            <a:off x="0" y="92327"/>
            <a:ext cx="12192000" cy="18158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381000" algn="l"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dirty="0">
                <a:ln>
                  <a:noFill/>
                </a:ln>
                <a:solidFill>
                  <a:schemeClr val="tx1"/>
                </a:solidFill>
                <a:effectLst/>
                <a:latin typeface="华文宋体" panose="02010600040101010101" pitchFamily="2" charset="-122"/>
                <a:ea typeface="华文宋体" panose="02010600040101010101" pitchFamily="2" charset="-122"/>
                <a:cs typeface="宋体" panose="02010600030101010101" pitchFamily="2" charset="-122"/>
              </a:rPr>
              <a:t>  白斑狗鱼肉质细嫩，营养丰富，有“鱼中软黄金”之称，白斑狗鱼是肉食性鱼，适宜在</a:t>
            </a:r>
            <a:r>
              <a:rPr kumimoji="0" lang="en-US" altLang="zh-CN" sz="2800" b="0" i="0" u="none" strike="noStrike" cap="none" normalizeH="0" baseline="0" dirty="0">
                <a:ln>
                  <a:noFill/>
                </a:ln>
                <a:solidFill>
                  <a:schemeClr val="tx1"/>
                </a:solidFill>
                <a:effectLst/>
                <a:latin typeface="华文宋体" panose="02010600040101010101" pitchFamily="2" charset="-122"/>
                <a:ea typeface="华文宋体" panose="02010600040101010101" pitchFamily="2" charset="-122"/>
                <a:cs typeface="宋体" panose="02010600030101010101" pitchFamily="2" charset="-122"/>
              </a:rPr>
              <a:t>16℃</a:t>
            </a:r>
            <a:r>
              <a:rPr kumimoji="0" lang="zh-CN" altLang="en-US" sz="2800" b="0" i="0" u="none" strike="noStrike" cap="none" normalizeH="0" baseline="0" dirty="0">
                <a:ln>
                  <a:noFill/>
                </a:ln>
                <a:solidFill>
                  <a:schemeClr val="tx1"/>
                </a:solidFill>
                <a:effectLst/>
                <a:latin typeface="华文宋体" panose="02010600040101010101" pitchFamily="2" charset="-122"/>
                <a:ea typeface="华文宋体" panose="02010600040101010101" pitchFamily="2" charset="-122"/>
                <a:cs typeface="宋体" panose="02010600030101010101" pitchFamily="2" charset="-122"/>
              </a:rPr>
              <a:t>以下的水域产卵繁殖，分布于亚洲、欧洲和北美洲的北部冷水水域，栖息环境多为水质清澈、水草丛生的河流，在我国仅见于新疆的额尔齐斯河流域。额尔齐斯河是我国唯一属于北冰洋水系的河流。</a:t>
            </a:r>
            <a:endParaRPr kumimoji="0" lang="zh-CN" altLang="en-US" sz="2800" b="0" i="0" u="none" strike="noStrike" cap="none" normalizeH="0" baseline="0" dirty="0">
              <a:ln>
                <a:noFill/>
              </a:ln>
              <a:solidFill>
                <a:schemeClr val="tx1"/>
              </a:solidFill>
              <a:effectLst/>
              <a:latin typeface="华文宋体" panose="02010600040101010101" pitchFamily="2" charset="-122"/>
              <a:ea typeface="华文宋体" panose="02010600040101010101" pitchFamily="2" charset="-122"/>
            </a:endParaRPr>
          </a:p>
        </p:txBody>
      </p:sp>
      <p:sp>
        <p:nvSpPr>
          <p:cNvPr id="6" name="文本框 5">
            <a:extLst>
              <a:ext uri="{FF2B5EF4-FFF2-40B4-BE49-F238E27FC236}">
                <a16:creationId xmlns:a16="http://schemas.microsoft.com/office/drawing/2014/main" xmlns="" id="{80070FAF-1058-4C85-A3B9-8FA1289DB791}"/>
              </a:ext>
            </a:extLst>
          </p:cNvPr>
          <p:cNvSpPr txBox="1"/>
          <p:nvPr/>
        </p:nvSpPr>
        <p:spPr>
          <a:xfrm>
            <a:off x="127534" y="1908209"/>
            <a:ext cx="7871059" cy="523220"/>
          </a:xfrm>
          <a:prstGeom prst="rect">
            <a:avLst/>
          </a:prstGeom>
          <a:noFill/>
        </p:spPr>
        <p:txBody>
          <a:bodyPr wrap="square">
            <a:spAutoFit/>
          </a:bodyPr>
          <a:lstStyle/>
          <a:p>
            <a:pPr lvl="0"/>
            <a:r>
              <a:rPr lang="zh-CN" altLang="en-US" sz="2800" dirty="0">
                <a:latin typeface="宋体" panose="02010600030101010101" pitchFamily="2" charset="-122"/>
                <a:ea typeface="宋体" panose="02010600030101010101" pitchFamily="2" charset="-122"/>
              </a:rPr>
              <a:t>（</a:t>
            </a:r>
            <a:r>
              <a:rPr lang="en-US" altLang="zh-CN" sz="2800" dirty="0">
                <a:latin typeface="宋体" panose="02010600030101010101" pitchFamily="2" charset="-122"/>
                <a:ea typeface="宋体" panose="02010600030101010101" pitchFamily="2" charset="-122"/>
              </a:rPr>
              <a:t>3</a:t>
            </a:r>
            <a:r>
              <a:rPr lang="zh-CN" altLang="en-US" sz="2800" dirty="0">
                <a:latin typeface="宋体" panose="02010600030101010101" pitchFamily="2" charset="-122"/>
                <a:ea typeface="宋体" panose="02010600030101010101" pitchFamily="2" charset="-122"/>
              </a:rPr>
              <a:t>）</a:t>
            </a:r>
            <a:r>
              <a:rPr lang="zh-CN" altLang="zh-CN" sz="2800" dirty="0">
                <a:latin typeface="宋体" panose="02010600030101010101" pitchFamily="2" charset="-122"/>
                <a:ea typeface="宋体" panose="02010600030101010101" pitchFamily="2" charset="-122"/>
              </a:rPr>
              <a:t>说明白斑狗鱼产量低的原因。（</a:t>
            </a:r>
            <a:r>
              <a:rPr lang="en-US" altLang="zh-CN" sz="2800" dirty="0">
                <a:latin typeface="宋体" panose="02010600030101010101" pitchFamily="2" charset="-122"/>
                <a:ea typeface="宋体" panose="02010600030101010101" pitchFamily="2" charset="-122"/>
              </a:rPr>
              <a:t>6</a:t>
            </a:r>
            <a:r>
              <a:rPr lang="zh-CN" altLang="zh-CN" sz="2800" dirty="0">
                <a:latin typeface="宋体" panose="02010600030101010101" pitchFamily="2" charset="-122"/>
                <a:ea typeface="宋体" panose="02010600030101010101" pitchFamily="2" charset="-122"/>
              </a:rPr>
              <a:t>分）</a:t>
            </a:r>
          </a:p>
        </p:txBody>
      </p:sp>
      <p:sp>
        <p:nvSpPr>
          <p:cNvPr id="35" name="文本框 34">
            <a:extLst>
              <a:ext uri="{FF2B5EF4-FFF2-40B4-BE49-F238E27FC236}">
                <a16:creationId xmlns:a16="http://schemas.microsoft.com/office/drawing/2014/main" xmlns="" id="{0ECD7B53-9FB9-4E8A-985B-DD2D349D75B4}"/>
              </a:ext>
            </a:extLst>
          </p:cNvPr>
          <p:cNvSpPr txBox="1"/>
          <p:nvPr/>
        </p:nvSpPr>
        <p:spPr>
          <a:xfrm>
            <a:off x="127533" y="2800285"/>
            <a:ext cx="5613589" cy="2308324"/>
          </a:xfrm>
          <a:prstGeom prst="rect">
            <a:avLst/>
          </a:prstGeom>
          <a:noFill/>
        </p:spPr>
        <p:txBody>
          <a:bodyPr wrap="square">
            <a:spAutoFit/>
          </a:bodyPr>
          <a:lstStyle/>
          <a:p>
            <a:r>
              <a:rPr lang="en-US" altLang="zh-CN" sz="2400" b="1" dirty="0">
                <a:solidFill>
                  <a:srgbClr val="FF0000"/>
                </a:solidFill>
                <a:latin typeface="宋体" panose="02010600030101010101" pitchFamily="2" charset="-122"/>
                <a:ea typeface="宋体" panose="02010600030101010101" pitchFamily="2" charset="-122"/>
              </a:rPr>
              <a:t>1</a:t>
            </a:r>
            <a:r>
              <a:rPr lang="zh-CN" altLang="en-US" sz="2400" b="1" dirty="0">
                <a:solidFill>
                  <a:srgbClr val="FF0000"/>
                </a:solidFill>
                <a:latin typeface="宋体" panose="02010600030101010101" pitchFamily="2" charset="-122"/>
                <a:ea typeface="宋体" panose="02010600030101010101" pitchFamily="2" charset="-122"/>
              </a:rPr>
              <a:t>、</a:t>
            </a:r>
            <a:r>
              <a:rPr lang="zh-CN" altLang="zh-CN" sz="2400" b="1" dirty="0">
                <a:solidFill>
                  <a:srgbClr val="FF0000"/>
                </a:solidFill>
                <a:latin typeface="宋体" panose="02010600030101010101" pitchFamily="2" charset="-122"/>
                <a:ea typeface="宋体" panose="02010600030101010101" pitchFamily="2" charset="-122"/>
              </a:rPr>
              <a:t>生长繁殖的环境要求特殊，适宜生长繁殖的水域少；</a:t>
            </a:r>
            <a:endParaRPr lang="en-US" altLang="zh-CN" sz="2400" b="1" dirty="0">
              <a:solidFill>
                <a:srgbClr val="FF0000"/>
              </a:solidFill>
              <a:latin typeface="宋体" panose="02010600030101010101" pitchFamily="2" charset="-122"/>
              <a:ea typeface="宋体" panose="02010600030101010101" pitchFamily="2" charset="-122"/>
            </a:endParaRPr>
          </a:p>
          <a:p>
            <a:endParaRPr lang="en-US" altLang="zh-CN" sz="2400" b="1" dirty="0">
              <a:solidFill>
                <a:srgbClr val="FF0000"/>
              </a:solidFill>
              <a:latin typeface="宋体" panose="02010600030101010101" pitchFamily="2" charset="-122"/>
              <a:ea typeface="宋体" panose="02010600030101010101" pitchFamily="2" charset="-122"/>
            </a:endParaRPr>
          </a:p>
          <a:p>
            <a:r>
              <a:rPr lang="en-US" altLang="zh-CN" sz="2400" b="1" dirty="0">
                <a:solidFill>
                  <a:srgbClr val="FF0000"/>
                </a:solidFill>
                <a:latin typeface="宋体" panose="02010600030101010101" pitchFamily="2" charset="-122"/>
                <a:ea typeface="宋体" panose="02010600030101010101" pitchFamily="2" charset="-122"/>
              </a:rPr>
              <a:t>2</a:t>
            </a:r>
            <a:r>
              <a:rPr lang="zh-CN" altLang="en-US" sz="2400" b="1" dirty="0">
                <a:solidFill>
                  <a:srgbClr val="FF0000"/>
                </a:solidFill>
                <a:latin typeface="宋体" panose="02010600030101010101" pitchFamily="2" charset="-122"/>
                <a:ea typeface="宋体" panose="02010600030101010101" pitchFamily="2" charset="-122"/>
              </a:rPr>
              <a:t>、</a:t>
            </a:r>
            <a:r>
              <a:rPr lang="zh-CN" altLang="zh-CN" sz="2400" b="1" dirty="0">
                <a:solidFill>
                  <a:srgbClr val="FF0000"/>
                </a:solidFill>
                <a:latin typeface="宋体" panose="02010600030101010101" pitchFamily="2" charset="-122"/>
                <a:ea typeface="宋体" panose="02010600030101010101" pitchFamily="2" charset="-122"/>
              </a:rPr>
              <a:t>水中生物量低，饵料少；</a:t>
            </a:r>
            <a:endParaRPr lang="en-US" altLang="zh-CN" sz="2400" b="1" dirty="0">
              <a:solidFill>
                <a:srgbClr val="FF0000"/>
              </a:solidFill>
              <a:latin typeface="宋体" panose="02010600030101010101" pitchFamily="2" charset="-122"/>
              <a:ea typeface="宋体" panose="02010600030101010101" pitchFamily="2" charset="-122"/>
            </a:endParaRPr>
          </a:p>
          <a:p>
            <a:endParaRPr lang="en-US" altLang="zh-CN" sz="2400" b="1" dirty="0">
              <a:solidFill>
                <a:srgbClr val="FF0000"/>
              </a:solidFill>
              <a:latin typeface="宋体" panose="02010600030101010101" pitchFamily="2" charset="-122"/>
              <a:ea typeface="宋体" panose="02010600030101010101" pitchFamily="2" charset="-122"/>
            </a:endParaRPr>
          </a:p>
          <a:p>
            <a:r>
              <a:rPr lang="en-US" altLang="zh-CN" sz="2400" b="1" dirty="0">
                <a:solidFill>
                  <a:srgbClr val="FF0000"/>
                </a:solidFill>
                <a:latin typeface="宋体" panose="02010600030101010101" pitchFamily="2" charset="-122"/>
                <a:ea typeface="宋体" panose="02010600030101010101" pitchFamily="2" charset="-122"/>
              </a:rPr>
              <a:t>3</a:t>
            </a:r>
            <a:r>
              <a:rPr lang="zh-CN" altLang="en-US" sz="2400" b="1" dirty="0">
                <a:solidFill>
                  <a:srgbClr val="FF0000"/>
                </a:solidFill>
                <a:latin typeface="宋体" panose="02010600030101010101" pitchFamily="2" charset="-122"/>
                <a:ea typeface="宋体" panose="02010600030101010101" pitchFamily="2" charset="-122"/>
              </a:rPr>
              <a:t>、</a:t>
            </a:r>
            <a:r>
              <a:rPr lang="zh-CN" altLang="zh-CN" sz="2400" b="1" dirty="0">
                <a:solidFill>
                  <a:srgbClr val="FF0000"/>
                </a:solidFill>
                <a:latin typeface="宋体" panose="02010600030101010101" pitchFamily="2" charset="-122"/>
                <a:ea typeface="宋体" panose="02010600030101010101" pitchFamily="2" charset="-122"/>
              </a:rPr>
              <a:t>水温低，生长缓慢。</a:t>
            </a:r>
            <a:endParaRPr lang="zh-CN" altLang="en-US" sz="2400" b="1" dirty="0">
              <a:solidFill>
                <a:srgbClr val="FF0000"/>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xmlns="" val="1990181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142</TotalTime>
  <Words>2923</Words>
  <Application>Microsoft Office PowerPoint</Application>
  <PresentationFormat>自定义</PresentationFormat>
  <Paragraphs>159</Paragraphs>
  <Slides>19</Slides>
  <Notes>0</Notes>
  <HiddenSlides>0</HiddenSlides>
  <MMClips>0</MMClips>
  <ScaleCrop>false</ScaleCrop>
  <HeadingPairs>
    <vt:vector size="4" baseType="variant">
      <vt:variant>
        <vt:lpstr>主题</vt:lpstr>
      </vt:variant>
      <vt:variant>
        <vt:i4>1</vt:i4>
      </vt:variant>
      <vt:variant>
        <vt:lpstr>幻灯片标题</vt:lpstr>
      </vt:variant>
      <vt:variant>
        <vt:i4>19</vt:i4>
      </vt:variant>
    </vt:vector>
  </HeadingPairs>
  <TitlesOfParts>
    <vt:vector size="20" baseType="lpstr">
      <vt:lpstr>Office 主题​​</vt:lpstr>
      <vt:lpstr>幻灯片 1</vt:lpstr>
      <vt:lpstr>幻灯片 2</vt:lpstr>
      <vt:lpstr>幻灯片 3</vt:lpstr>
      <vt:lpstr>幻灯片 4</vt:lpstr>
      <vt:lpstr>幻灯片 5</vt:lpstr>
      <vt:lpstr>幻灯片 6</vt:lpstr>
      <vt:lpstr>幻灯片 7</vt:lpstr>
      <vt:lpstr>幻灯片 8</vt:lpstr>
      <vt:lpstr>幻灯片 9</vt:lpstr>
      <vt:lpstr>幻灯片 10</vt:lpstr>
      <vt:lpstr>【概念拓展——生物链】</vt:lpstr>
      <vt:lpstr>幻灯片 12</vt:lpstr>
      <vt:lpstr>幻灯片 13</vt:lpstr>
      <vt:lpstr>幻灯片 14</vt:lpstr>
      <vt:lpstr>幻灯片 15</vt:lpstr>
      <vt:lpstr>【生物知识小拓展】</vt:lpstr>
      <vt:lpstr>【生物知识小拓展】</vt:lpstr>
      <vt:lpstr>幻灯片 18</vt:lpstr>
      <vt:lpstr>幻灯片 19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江 周祥</dc:creator>
  <cp:lastModifiedBy>Administrator</cp:lastModifiedBy>
  <cp:revision>27</cp:revision>
  <dcterms:created xsi:type="dcterms:W3CDTF">2020-11-22T12:14:32Z</dcterms:created>
  <dcterms:modified xsi:type="dcterms:W3CDTF">2020-11-23T01:13:49Z</dcterms:modified>
</cp:coreProperties>
</file>