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8" d="100"/>
          <a:sy n="108" d="100"/>
        </p:scale>
        <p:origin x="-1116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2020-11-30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2020-11-30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2020-11-30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2020-11-30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2020-11-30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2020-11-30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2020-11-30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2020-11-30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2020-11-30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2020-11-30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2020-11-30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pPr/>
              <a:t>2020-11-30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file:///C:\Users\Administrator\Desktop\&#20013;&#22269;&#20892;&#19994;\2.7%20&#35838;\&#21306;&#22495;&#22320;&#29702;&#25552;&#21319;&#29256;\&#35838;&#26102;&#20316;&#19994;word&#29256;\Q268.TIF" TargetMode="Externa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Rectangle 1"/>
          <p:cNvSpPr>
            <a:spLocks noChangeArrowheads="1"/>
          </p:cNvSpPr>
          <p:nvPr/>
        </p:nvSpPr>
        <p:spPr bwMode="auto">
          <a:xfrm>
            <a:off x="0" y="0"/>
            <a:ext cx="9144000" cy="378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266700" algn="l" defTabSz="9144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971800" algn="l"/>
              </a:tabLst>
            </a:pPr>
            <a:r>
              <a:rPr kumimoji="0" lang="zh-CN" sz="24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宋体" pitchFamily="2" charset="-122"/>
                <a:cs typeface="楷体" pitchFamily="49" charset="-122"/>
              </a:rPr>
              <a:t>下表反映我国四省区煤炭、太阳辐射能、天然气、水能四种资源的丰歉程度（</a:t>
            </a:r>
            <a:r>
              <a:rPr kumimoji="0" lang="zh-CN" altLang="en-US" sz="24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宋体" pitchFamily="2" charset="-122"/>
                <a:cs typeface="楷体" pitchFamily="49" charset="-122"/>
              </a:rPr>
              <a:t>☆号越多代表资源分布越丰富），据此完成</a:t>
            </a:r>
            <a:r>
              <a:rPr kumimoji="0" lang="en-US" altLang="zh-CN" sz="24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宋体" pitchFamily="2" charset="-122"/>
                <a:cs typeface="楷体" pitchFamily="49" charset="-122"/>
              </a:rPr>
              <a:t>1-2</a:t>
            </a:r>
            <a:r>
              <a:rPr kumimoji="0" lang="zh-CN" altLang="en-US" sz="24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宋体" pitchFamily="2" charset="-122"/>
                <a:cs typeface="楷体" pitchFamily="49" charset="-122"/>
              </a:rPr>
              <a:t>题。</a:t>
            </a:r>
            <a:endParaRPr kumimoji="0" lang="zh-CN" altLang="en-US" sz="24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marL="0" marR="0" lvl="0" indent="266700" algn="l" defTabSz="914400" rtl="0" eaLnBrk="0" font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971800" algn="l"/>
              </a:tabLst>
            </a:pPr>
            <a:r>
              <a:rPr kumimoji="0" lang="en-US" altLang="zh-CN" sz="24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宋体" pitchFamily="2" charset="-122"/>
                <a:ea typeface="宋体" pitchFamily="2" charset="-122"/>
                <a:cs typeface="Times New Roman" pitchFamily="18" charset="0"/>
              </a:rPr>
              <a:t>1</a:t>
            </a:r>
            <a:r>
              <a:rPr kumimoji="0" lang="zh-CN" altLang="en-US" sz="24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宋体" pitchFamily="2" charset="-122"/>
                <a:ea typeface="宋体" pitchFamily="2" charset="-122"/>
                <a:cs typeface="Times New Roman" pitchFamily="18" charset="0"/>
              </a:rPr>
              <a:t>．</a:t>
            </a:r>
            <a:r>
              <a:rPr kumimoji="0" lang="zh-CN" altLang="en-US" sz="24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判断甲乙丙丁四省区依次为</a:t>
            </a:r>
            <a:endParaRPr kumimoji="0" lang="zh-CN" altLang="en-US" sz="24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marL="0" marR="0" lvl="0" indent="266700" algn="l" defTabSz="914400" rtl="0" eaLnBrk="0" font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971800" algn="l"/>
              </a:tabLst>
            </a:pPr>
            <a:r>
              <a:rPr kumimoji="0" lang="en-US" altLang="zh-CN" sz="24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宋体" pitchFamily="2" charset="-122"/>
                <a:ea typeface="宋体" pitchFamily="2" charset="-122"/>
                <a:cs typeface="Times New Roman" pitchFamily="18" charset="0"/>
              </a:rPr>
              <a:t> A</a:t>
            </a:r>
            <a:r>
              <a:rPr kumimoji="0" lang="zh-CN" altLang="en-US" sz="24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宋体" pitchFamily="2" charset="-122"/>
                <a:ea typeface="宋体" pitchFamily="2" charset="-122"/>
                <a:cs typeface="Times New Roman" pitchFamily="18" charset="0"/>
              </a:rPr>
              <a:t>．</a:t>
            </a:r>
            <a:r>
              <a:rPr kumimoji="0" lang="zh-CN" altLang="en-US" sz="24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陕西、四川、新疆、湖南 </a:t>
            </a:r>
            <a:r>
              <a:rPr kumimoji="0" lang="en-US" altLang="zh-CN" sz="24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宋体" pitchFamily="2" charset="-122"/>
                <a:ea typeface="宋体" pitchFamily="2" charset="-122"/>
                <a:cs typeface="Times New Roman" pitchFamily="18" charset="0"/>
              </a:rPr>
              <a:t>B</a:t>
            </a:r>
            <a:r>
              <a:rPr kumimoji="0" lang="zh-CN" altLang="en-US" sz="24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宋体" pitchFamily="2" charset="-122"/>
                <a:ea typeface="宋体" pitchFamily="2" charset="-122"/>
                <a:cs typeface="Times New Roman" pitchFamily="18" charset="0"/>
              </a:rPr>
              <a:t>．</a:t>
            </a:r>
            <a:r>
              <a:rPr kumimoji="0" lang="zh-CN" altLang="en-US" sz="24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新疆、湖南、四川、陕西</a:t>
            </a:r>
            <a:endParaRPr kumimoji="0" lang="zh-CN" altLang="en-US" sz="24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marL="0" marR="0" lvl="0" indent="266700" algn="l" defTabSz="914400" rtl="0" eaLnBrk="0" font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971800" algn="l"/>
              </a:tabLst>
            </a:pPr>
            <a:r>
              <a:rPr kumimoji="0" lang="en-US" altLang="zh-CN" sz="24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宋体" pitchFamily="2" charset="-122"/>
                <a:ea typeface="宋体" pitchFamily="2" charset="-122"/>
                <a:cs typeface="Times New Roman" pitchFamily="18" charset="0"/>
              </a:rPr>
              <a:t> C</a:t>
            </a:r>
            <a:r>
              <a:rPr kumimoji="0" lang="zh-CN" altLang="en-US" sz="24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宋体" pitchFamily="2" charset="-122"/>
                <a:ea typeface="宋体" pitchFamily="2" charset="-122"/>
                <a:cs typeface="Times New Roman" pitchFamily="18" charset="0"/>
              </a:rPr>
              <a:t>．</a:t>
            </a:r>
            <a:r>
              <a:rPr kumimoji="0" lang="zh-CN" altLang="en-US" sz="24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四川、陕西、新疆、湖南 </a:t>
            </a:r>
            <a:r>
              <a:rPr kumimoji="0" lang="en-US" altLang="zh-CN" sz="24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宋体" pitchFamily="2" charset="-122"/>
                <a:ea typeface="宋体" pitchFamily="2" charset="-122"/>
                <a:cs typeface="Times New Roman" pitchFamily="18" charset="0"/>
              </a:rPr>
              <a:t>D</a:t>
            </a:r>
            <a:r>
              <a:rPr kumimoji="0" lang="zh-CN" altLang="en-US" sz="24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宋体" pitchFamily="2" charset="-122"/>
                <a:ea typeface="宋体" pitchFamily="2" charset="-122"/>
                <a:cs typeface="Times New Roman" pitchFamily="18" charset="0"/>
              </a:rPr>
              <a:t>．</a:t>
            </a:r>
            <a:r>
              <a:rPr kumimoji="0" lang="zh-CN" altLang="en-US" sz="24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新疆、陕西、四川、湖南</a:t>
            </a:r>
            <a:endParaRPr kumimoji="0" lang="zh-CN" altLang="en-US" sz="2400" b="1" i="0" u="none" strike="noStrike" cap="none" normalizeH="0" baseline="0" dirty="0" smtClean="0">
              <a:ln>
                <a:noFill/>
              </a:ln>
              <a:solidFill>
                <a:srgbClr val="FF0000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marL="0" marR="0" lvl="0" indent="266700" algn="l" defTabSz="914400" rtl="0" eaLnBrk="0" font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971800" algn="l"/>
              </a:tabLst>
            </a:pPr>
            <a:r>
              <a:rPr kumimoji="0" lang="en-US" altLang="zh-CN" sz="24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宋体" pitchFamily="2" charset="-122"/>
                <a:ea typeface="宋体" pitchFamily="2" charset="-122"/>
                <a:cs typeface="Times New Roman" pitchFamily="18" charset="0"/>
              </a:rPr>
              <a:t>2</a:t>
            </a:r>
            <a:r>
              <a:rPr kumimoji="0" lang="zh-CN" altLang="en-US" sz="24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宋体" pitchFamily="2" charset="-122"/>
                <a:ea typeface="宋体" pitchFamily="2" charset="-122"/>
                <a:cs typeface="Times New Roman" pitchFamily="18" charset="0"/>
              </a:rPr>
              <a:t>．</a:t>
            </a:r>
            <a:r>
              <a:rPr kumimoji="0" lang="zh-CN" altLang="en-US" sz="24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对四省区能源资源的叙述，正确的是（   ）</a:t>
            </a:r>
            <a:endParaRPr kumimoji="0" lang="zh-CN" altLang="en-US" sz="24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marL="0" marR="0" lvl="0" indent="266700" algn="l" defTabSz="914400" rtl="0" eaLnBrk="0" font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971800" algn="l"/>
              </a:tabLst>
            </a:pPr>
            <a:r>
              <a:rPr kumimoji="0" lang="en-US" altLang="zh-CN" sz="24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宋体" pitchFamily="2" charset="-122"/>
                <a:ea typeface="宋体" pitchFamily="2" charset="-122"/>
                <a:cs typeface="Times New Roman" pitchFamily="18" charset="0"/>
              </a:rPr>
              <a:t> A</a:t>
            </a:r>
            <a:r>
              <a:rPr kumimoji="0" lang="zh-CN" altLang="en-US" sz="24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宋体" pitchFamily="2" charset="-122"/>
                <a:ea typeface="宋体" pitchFamily="2" charset="-122"/>
                <a:cs typeface="Times New Roman" pitchFamily="18" charset="0"/>
              </a:rPr>
              <a:t>．</a:t>
            </a:r>
            <a:r>
              <a:rPr kumimoji="0" lang="zh-CN" altLang="en-US" sz="24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甲省区太阳辐射能丰富与地势高有关</a:t>
            </a:r>
            <a:endParaRPr kumimoji="0" lang="zh-CN" altLang="en-US" sz="24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marL="0" marR="0" lvl="0" indent="266700" algn="l" defTabSz="914400" rtl="0" eaLnBrk="0" font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971800" algn="l"/>
              </a:tabLst>
            </a:pPr>
            <a:r>
              <a:rPr kumimoji="0" lang="en-US" altLang="zh-CN" sz="24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宋体" pitchFamily="2" charset="-122"/>
                <a:ea typeface="宋体" pitchFamily="2" charset="-122"/>
                <a:cs typeface="Times New Roman" pitchFamily="18" charset="0"/>
              </a:rPr>
              <a:t> B</a:t>
            </a:r>
            <a:r>
              <a:rPr kumimoji="0" lang="zh-CN" altLang="en-US" sz="24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宋体" pitchFamily="2" charset="-122"/>
                <a:ea typeface="宋体" pitchFamily="2" charset="-122"/>
                <a:cs typeface="Times New Roman" pitchFamily="18" charset="0"/>
              </a:rPr>
              <a:t>．</a:t>
            </a:r>
            <a:r>
              <a:rPr kumimoji="0" lang="zh-CN" altLang="en-US" sz="24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交通条件是乙省区煤炭资源开发的限制性因素</a:t>
            </a:r>
            <a:endParaRPr kumimoji="0" lang="zh-CN" altLang="en-US" sz="2400" b="1" i="0" u="none" strike="noStrike" cap="none" normalizeH="0" baseline="0" dirty="0" smtClean="0">
              <a:ln>
                <a:noFill/>
              </a:ln>
              <a:solidFill>
                <a:srgbClr val="FF0000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marL="0" marR="0" lvl="0" indent="266700" algn="l" defTabSz="914400" rtl="0" eaLnBrk="0" font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971800" algn="l"/>
              </a:tabLst>
            </a:pPr>
            <a:r>
              <a:rPr kumimoji="0" lang="en-US" altLang="zh-CN" sz="24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宋体" pitchFamily="2" charset="-122"/>
                <a:ea typeface="宋体" pitchFamily="2" charset="-122"/>
                <a:cs typeface="Times New Roman" pitchFamily="18" charset="0"/>
              </a:rPr>
              <a:t> C</a:t>
            </a:r>
            <a:r>
              <a:rPr kumimoji="0" lang="zh-CN" altLang="en-US" sz="24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宋体" pitchFamily="2" charset="-122"/>
                <a:ea typeface="宋体" pitchFamily="2" charset="-122"/>
                <a:cs typeface="Times New Roman" pitchFamily="18" charset="0"/>
              </a:rPr>
              <a:t>．</a:t>
            </a:r>
            <a:r>
              <a:rPr kumimoji="0" lang="zh-CN" altLang="en-US" sz="24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丙省区地处高纬度地区太阳辐射能比较弱</a:t>
            </a:r>
            <a:endParaRPr kumimoji="0" lang="zh-CN" altLang="en-US" sz="2400" b="1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Arial" pitchFamily="34" charset="0"/>
              <a:ea typeface="宋体" pitchFamily="2" charset="-122"/>
              <a:cs typeface="Times New Roman" pitchFamily="18" charset="0"/>
            </a:endParaRPr>
          </a:p>
          <a:p>
            <a:pPr marL="0" marR="0" lvl="0" indent="2667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971800" algn="l"/>
              </a:tabLst>
            </a:pPr>
            <a:r>
              <a:rPr lang="en-US" altLang="zh-CN" sz="2400" b="1" dirty="0" smtClean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宋体" pitchFamily="2" charset="-122"/>
              </a:rPr>
              <a:t>  D</a:t>
            </a:r>
            <a:r>
              <a:rPr lang="zh-CN" altLang="en-US" sz="2400" b="1" dirty="0" smtClean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宋体" pitchFamily="2" charset="-122"/>
              </a:rPr>
              <a:t>．丁省区</a:t>
            </a:r>
            <a:r>
              <a:rPr kumimoji="0" lang="zh-CN" altLang="en-US" sz="24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itchFamily="34" charset="0"/>
                <a:ea typeface="宋体" pitchFamily="2" charset="-122"/>
                <a:cs typeface="宋体" pitchFamily="2" charset="-122"/>
              </a:rPr>
              <a:t>水能资源丰富但开发程度很低</a:t>
            </a:r>
            <a:r>
              <a:rPr kumimoji="0" lang="zh-CN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宋体" pitchFamily="2" charset="-122"/>
              </a:rPr>
              <a:t> </a:t>
            </a:r>
          </a:p>
        </p:txBody>
      </p:sp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683568" y="3789040"/>
          <a:ext cx="7344815" cy="3068960"/>
        </p:xfrm>
        <a:graphic>
          <a:graphicData uri="http://schemas.openxmlformats.org/drawingml/2006/table">
            <a:tbl>
              <a:tblPr/>
              <a:tblGrid>
                <a:gridCol w="1189160"/>
                <a:gridCol w="1513732"/>
                <a:gridCol w="1659228"/>
                <a:gridCol w="1594875"/>
                <a:gridCol w="1387820"/>
              </a:tblGrid>
              <a:tr h="613792">
                <a:tc>
                  <a:txBody>
                    <a:bodyPr/>
                    <a:lstStyle/>
                    <a:p>
                      <a:pPr algn="l" font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800" kern="100">
                          <a:solidFill>
                            <a:srgbClr val="000000"/>
                          </a:solidFill>
                          <a:latin typeface="Times New Roman"/>
                          <a:ea typeface="宋体"/>
                          <a:cs typeface="宋体"/>
                        </a:rPr>
                        <a:t>资源种类</a:t>
                      </a:r>
                      <a:endParaRPr lang="zh-CN" sz="1800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76200" marR="76200" marT="47625" marB="4762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800" kern="100">
                          <a:solidFill>
                            <a:srgbClr val="000000"/>
                          </a:solidFill>
                          <a:latin typeface="Times New Roman"/>
                          <a:ea typeface="宋体"/>
                          <a:cs typeface="宋体"/>
                        </a:rPr>
                        <a:t>煤炭</a:t>
                      </a:r>
                      <a:endParaRPr lang="zh-CN" sz="1800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76200" marR="76200" marT="47625" marB="4762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800" kern="100">
                          <a:solidFill>
                            <a:srgbClr val="000000"/>
                          </a:solidFill>
                          <a:latin typeface="Times New Roman"/>
                          <a:ea typeface="宋体"/>
                          <a:cs typeface="宋体"/>
                        </a:rPr>
                        <a:t>太阳辐射能</a:t>
                      </a:r>
                      <a:endParaRPr lang="zh-CN" sz="1800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76200" marR="76200" marT="47625" marB="4762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800" kern="100">
                          <a:solidFill>
                            <a:srgbClr val="000000"/>
                          </a:solidFill>
                          <a:latin typeface="Times New Roman"/>
                          <a:ea typeface="宋体"/>
                          <a:cs typeface="宋体"/>
                        </a:rPr>
                        <a:t>水能</a:t>
                      </a:r>
                      <a:endParaRPr lang="zh-CN" sz="1800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76200" marR="76200" marT="47625" marB="4762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800" kern="100">
                          <a:solidFill>
                            <a:srgbClr val="000000"/>
                          </a:solidFill>
                          <a:latin typeface="Times New Roman"/>
                          <a:ea typeface="宋体"/>
                          <a:cs typeface="宋体"/>
                        </a:rPr>
                        <a:t>天然气</a:t>
                      </a:r>
                      <a:endParaRPr lang="zh-CN" sz="1800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76200" marR="76200" marT="47625" marB="4762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13792">
                <a:tc>
                  <a:txBody>
                    <a:bodyPr/>
                    <a:lstStyle/>
                    <a:p>
                      <a:pPr algn="l" font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800" kern="100">
                          <a:solidFill>
                            <a:srgbClr val="000000"/>
                          </a:solidFill>
                          <a:latin typeface="Times New Roman"/>
                          <a:ea typeface="宋体"/>
                          <a:cs typeface="宋体"/>
                        </a:rPr>
                        <a:t>甲</a:t>
                      </a:r>
                      <a:endParaRPr lang="zh-CN" sz="1800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76200" marR="76200" marT="47625" marB="4762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solidFill>
                            <a:srgbClr val="000000"/>
                          </a:solidFill>
                          <a:latin typeface="宋体"/>
                          <a:ea typeface="宋体"/>
                          <a:cs typeface="宋体"/>
                        </a:rPr>
                        <a:t>☆☆☆</a:t>
                      </a:r>
                      <a:endParaRPr lang="zh-CN" sz="1800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76200" marR="76200" marT="47625" marB="4762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solidFill>
                            <a:srgbClr val="000000"/>
                          </a:solidFill>
                          <a:latin typeface="宋体"/>
                          <a:ea typeface="宋体"/>
                          <a:cs typeface="宋体"/>
                        </a:rPr>
                        <a:t>☆☆☆☆</a:t>
                      </a:r>
                      <a:endParaRPr lang="zh-CN" sz="1800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76200" marR="76200" marT="47625" marB="4762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solidFill>
                            <a:srgbClr val="000000"/>
                          </a:solidFill>
                          <a:latin typeface="宋体"/>
                          <a:ea typeface="宋体"/>
                          <a:cs typeface="宋体"/>
                        </a:rPr>
                        <a:t>☆</a:t>
                      </a:r>
                      <a:endParaRPr lang="zh-CN" sz="1800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76200" marR="76200" marT="47625" marB="4762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solidFill>
                            <a:srgbClr val="000000"/>
                          </a:solidFill>
                          <a:latin typeface="宋体"/>
                          <a:ea typeface="宋体"/>
                          <a:cs typeface="宋体"/>
                        </a:rPr>
                        <a:t>☆☆☆☆</a:t>
                      </a:r>
                      <a:endParaRPr lang="zh-CN" sz="1800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76200" marR="76200" marT="47625" marB="4762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13792">
                <a:tc>
                  <a:txBody>
                    <a:bodyPr/>
                    <a:lstStyle/>
                    <a:p>
                      <a:pPr algn="l" font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800" kern="100">
                          <a:solidFill>
                            <a:srgbClr val="000000"/>
                          </a:solidFill>
                          <a:latin typeface="Times New Roman"/>
                          <a:ea typeface="宋体"/>
                          <a:cs typeface="宋体"/>
                        </a:rPr>
                        <a:t>乙</a:t>
                      </a:r>
                      <a:endParaRPr lang="zh-CN" sz="1800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76200" marR="76200" marT="47625" marB="4762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solidFill>
                            <a:srgbClr val="000000"/>
                          </a:solidFill>
                          <a:latin typeface="宋体"/>
                          <a:ea typeface="宋体"/>
                          <a:cs typeface="宋体"/>
                        </a:rPr>
                        <a:t>☆☆☆☆</a:t>
                      </a:r>
                      <a:endParaRPr lang="zh-CN" sz="1800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76200" marR="76200" marT="47625" marB="4762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solidFill>
                            <a:srgbClr val="000000"/>
                          </a:solidFill>
                          <a:latin typeface="宋体"/>
                          <a:ea typeface="宋体"/>
                          <a:cs typeface="宋体"/>
                        </a:rPr>
                        <a:t>☆☆☆</a:t>
                      </a:r>
                      <a:endParaRPr lang="zh-CN" sz="1800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76200" marR="76200" marT="47625" marB="4762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solidFill>
                            <a:srgbClr val="000000"/>
                          </a:solidFill>
                          <a:latin typeface="宋体"/>
                          <a:ea typeface="宋体"/>
                          <a:cs typeface="宋体"/>
                        </a:rPr>
                        <a:t>☆☆</a:t>
                      </a:r>
                      <a:endParaRPr lang="zh-CN" sz="1800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76200" marR="76200" marT="47625" marB="4762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solidFill>
                            <a:srgbClr val="000000"/>
                          </a:solidFill>
                          <a:latin typeface="宋体"/>
                          <a:ea typeface="宋体"/>
                          <a:cs typeface="宋体"/>
                        </a:rPr>
                        <a:t>☆☆☆</a:t>
                      </a:r>
                      <a:endParaRPr lang="zh-CN" sz="1800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76200" marR="76200" marT="47625" marB="4762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13792">
                <a:tc>
                  <a:txBody>
                    <a:bodyPr/>
                    <a:lstStyle/>
                    <a:p>
                      <a:pPr algn="l" font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800" kern="100">
                          <a:solidFill>
                            <a:srgbClr val="000000"/>
                          </a:solidFill>
                          <a:latin typeface="Times New Roman"/>
                          <a:ea typeface="宋体"/>
                          <a:cs typeface="宋体"/>
                        </a:rPr>
                        <a:t>丙</a:t>
                      </a:r>
                      <a:endParaRPr lang="zh-CN" sz="1800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76200" marR="76200" marT="47625" marB="4762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solidFill>
                            <a:srgbClr val="000000"/>
                          </a:solidFill>
                          <a:latin typeface="宋体"/>
                          <a:ea typeface="宋体"/>
                          <a:cs typeface="宋体"/>
                        </a:rPr>
                        <a:t>☆☆</a:t>
                      </a:r>
                      <a:endParaRPr lang="zh-CN" sz="1800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76200" marR="76200" marT="47625" marB="4762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solidFill>
                            <a:srgbClr val="000000"/>
                          </a:solidFill>
                          <a:latin typeface="宋体"/>
                          <a:ea typeface="宋体"/>
                          <a:cs typeface="宋体"/>
                        </a:rPr>
                        <a:t>☆</a:t>
                      </a:r>
                      <a:endParaRPr lang="zh-CN" sz="1800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76200" marR="76200" marT="47625" marB="4762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solidFill>
                            <a:srgbClr val="000000"/>
                          </a:solidFill>
                          <a:latin typeface="宋体"/>
                          <a:ea typeface="宋体"/>
                          <a:cs typeface="宋体"/>
                        </a:rPr>
                        <a:t>☆☆☆☆</a:t>
                      </a:r>
                      <a:endParaRPr lang="zh-CN" sz="1800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76200" marR="76200" marT="47625" marB="4762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solidFill>
                            <a:srgbClr val="000000"/>
                          </a:solidFill>
                          <a:latin typeface="宋体"/>
                          <a:ea typeface="宋体"/>
                          <a:cs typeface="宋体"/>
                        </a:rPr>
                        <a:t>☆☆☆☆</a:t>
                      </a:r>
                      <a:endParaRPr lang="zh-CN" sz="1800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76200" marR="76200" marT="47625" marB="4762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13792">
                <a:tc>
                  <a:txBody>
                    <a:bodyPr/>
                    <a:lstStyle/>
                    <a:p>
                      <a:pPr algn="l" font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800" kern="100">
                          <a:solidFill>
                            <a:srgbClr val="000000"/>
                          </a:solidFill>
                          <a:latin typeface="Times New Roman"/>
                          <a:ea typeface="宋体"/>
                          <a:cs typeface="宋体"/>
                        </a:rPr>
                        <a:t>丁</a:t>
                      </a:r>
                      <a:endParaRPr lang="zh-CN" sz="1800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76200" marR="76200" marT="47625" marB="4762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solidFill>
                            <a:srgbClr val="000000"/>
                          </a:solidFill>
                          <a:latin typeface="宋体"/>
                          <a:ea typeface="宋体"/>
                          <a:cs typeface="宋体"/>
                        </a:rPr>
                        <a:t>☆</a:t>
                      </a:r>
                      <a:endParaRPr lang="zh-CN" sz="1800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76200" marR="76200" marT="47625" marB="4762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solidFill>
                            <a:srgbClr val="000000"/>
                          </a:solidFill>
                          <a:latin typeface="宋体"/>
                          <a:ea typeface="宋体"/>
                          <a:cs typeface="宋体"/>
                        </a:rPr>
                        <a:t>☆☆</a:t>
                      </a:r>
                      <a:endParaRPr lang="zh-CN" sz="1800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76200" marR="76200" marT="47625" marB="4762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solidFill>
                            <a:srgbClr val="000000"/>
                          </a:solidFill>
                          <a:latin typeface="宋体"/>
                          <a:ea typeface="宋体"/>
                          <a:cs typeface="宋体"/>
                        </a:rPr>
                        <a:t>☆☆☆☆</a:t>
                      </a:r>
                      <a:endParaRPr lang="zh-CN" sz="1800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76200" marR="76200" marT="47625" marB="4762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rgbClr val="000000"/>
                          </a:solidFill>
                          <a:latin typeface="宋体"/>
                          <a:ea typeface="宋体"/>
                          <a:cs typeface="宋体"/>
                        </a:rPr>
                        <a:t>☆</a:t>
                      </a:r>
                      <a:endParaRPr lang="zh-CN" sz="1800" kern="10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76200" marR="76200" marT="47625" marB="4762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9144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 smtClean="0"/>
              <a:t>      中国</a:t>
            </a:r>
            <a:r>
              <a:rPr lang="zh-CN" altLang="en-US" sz="2400" b="1" dirty="0" smtClean="0"/>
              <a:t>煤炭资源的</a:t>
            </a:r>
            <a:r>
              <a:rPr lang="en-US" altLang="zh-CN" sz="2400" b="1" dirty="0" smtClean="0"/>
              <a:t>80%</a:t>
            </a:r>
            <a:r>
              <a:rPr lang="zh-CN" altLang="en-US" sz="2400" b="1" dirty="0" smtClean="0"/>
              <a:t>分布于北方，</a:t>
            </a:r>
            <a:r>
              <a:rPr lang="en-US" altLang="zh-CN" sz="2400" b="1" dirty="0" smtClean="0"/>
              <a:t>10%</a:t>
            </a:r>
            <a:r>
              <a:rPr lang="zh-CN" altLang="en-US" sz="2400" b="1" dirty="0" smtClean="0"/>
              <a:t>在西南，经济发达能耗集中的江南</a:t>
            </a:r>
            <a:r>
              <a:rPr lang="en-US" altLang="zh-CN" sz="2400" b="1" dirty="0" smtClean="0"/>
              <a:t>9</a:t>
            </a:r>
            <a:r>
              <a:rPr lang="zh-CN" altLang="en-US" sz="2400" b="1" dirty="0" smtClean="0"/>
              <a:t>省、市、区只占</a:t>
            </a:r>
            <a:r>
              <a:rPr lang="en-US" altLang="zh-CN" sz="2400" b="1" dirty="0" smtClean="0"/>
              <a:t>1.8%</a:t>
            </a:r>
            <a:r>
              <a:rPr lang="zh-CN" altLang="en-US" sz="2400" b="1" dirty="0" smtClean="0"/>
              <a:t>，从而使中国常年大量把煤炭从北方生产区运往南方消费区。</a:t>
            </a:r>
            <a:endParaRPr lang="zh-CN" altLang="en-US" sz="2400" b="1" dirty="0"/>
          </a:p>
        </p:txBody>
      </p:sp>
      <p:pic>
        <p:nvPicPr>
          <p:cNvPr id="7170" name="Picture 2" descr="https://bkimg.cdn.bcebos.com/pic/f31fbe096b63f624c82caeba8544ebf81a4ca312?x-bce-process=image/watermark,image_d2F0ZXIvYmFpa2U4MA==,g_7,xp_5,yp_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99592" y="2276872"/>
            <a:ext cx="5940152" cy="4348192"/>
          </a:xfrm>
          <a:prstGeom prst="rect">
            <a:avLst/>
          </a:prstGeom>
          <a:noFill/>
        </p:spPr>
      </p:pic>
      <p:sp>
        <p:nvSpPr>
          <p:cNvPr id="4" name="矩形 3"/>
          <p:cNvSpPr/>
          <p:nvPr/>
        </p:nvSpPr>
        <p:spPr>
          <a:xfrm>
            <a:off x="0" y="1340768"/>
            <a:ext cx="91440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 smtClean="0"/>
              <a:t>      近</a:t>
            </a:r>
            <a:r>
              <a:rPr lang="zh-CN" altLang="en-US" sz="2400" b="1" dirty="0" smtClean="0"/>
              <a:t>中期北煤南运最大的制约因素是运力不足，国家及相关省区都在想方设法改建铁路或增设新线，以提高北煤南运的能力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ChangeArrowheads="1"/>
          </p:cNvSpPr>
          <p:nvPr/>
        </p:nvSpPr>
        <p:spPr bwMode="auto">
          <a:xfrm>
            <a:off x="0" y="0"/>
            <a:ext cx="9144000" cy="38164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266700" algn="l" defTabSz="9144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2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/>
                <a:ea typeface="宋体" pitchFamily="2" charset="-122"/>
                <a:cs typeface="楷体" pitchFamily="49" charset="-122"/>
              </a:rPr>
              <a:t>“</a:t>
            </a:r>
            <a:r>
              <a:rPr kumimoji="0" lang="zh-CN" altLang="en-US" sz="22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宋体" pitchFamily="2" charset="-122"/>
                <a:cs typeface="楷体" pitchFamily="49" charset="-122"/>
              </a:rPr>
              <a:t>全国农业科技推广示范县</a:t>
            </a:r>
            <a:r>
              <a:rPr kumimoji="0" lang="zh-CN" altLang="en-US" sz="22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/>
                <a:ea typeface="宋体" pitchFamily="2" charset="-122"/>
                <a:cs typeface="楷体" pitchFamily="49" charset="-122"/>
              </a:rPr>
              <a:t>”</a:t>
            </a:r>
            <a:r>
              <a:rPr kumimoji="0" lang="en-US" altLang="zh-CN" sz="22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/>
                <a:ea typeface="宋体" pitchFamily="2" charset="-122"/>
                <a:cs typeface="楷体" pitchFamily="49" charset="-122"/>
              </a:rPr>
              <a:t>—</a:t>
            </a:r>
            <a:r>
              <a:rPr kumimoji="0" lang="zh-CN" altLang="en-US" sz="22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宋体" pitchFamily="2" charset="-122"/>
                <a:cs typeface="楷体" pitchFamily="49" charset="-122"/>
              </a:rPr>
              <a:t>广东省徐闻县（图甲）</a:t>
            </a:r>
            <a:r>
              <a:rPr lang="zh-CN" altLang="en-US" sz="2200" b="1" dirty="0" smtClean="0">
                <a:solidFill>
                  <a:srgbClr val="0000FF"/>
                </a:solidFill>
                <a:latin typeface="Times New Roman" pitchFamily="18" charset="0"/>
                <a:ea typeface="宋体" pitchFamily="2" charset="-122"/>
                <a:cs typeface="宋体" pitchFamily="2" charset="-122"/>
              </a:rPr>
              <a:t>受地形影响，地表水缺乏，</a:t>
            </a:r>
            <a:r>
              <a:rPr kumimoji="0" lang="zh-CN" altLang="en-US" sz="22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宋体" pitchFamily="2" charset="-122"/>
                <a:cs typeface="楷体" pitchFamily="49" charset="-122"/>
              </a:rPr>
              <a:t>历史上曾经</a:t>
            </a:r>
            <a:r>
              <a:rPr kumimoji="0" lang="zh-CN" altLang="en-US" sz="22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/>
                <a:ea typeface="宋体" pitchFamily="2" charset="-122"/>
                <a:cs typeface="楷体" pitchFamily="49" charset="-122"/>
              </a:rPr>
              <a:t>“</a:t>
            </a:r>
            <a:r>
              <a:rPr kumimoji="0" lang="zh-CN" altLang="en-US" sz="22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宋体" pitchFamily="2" charset="-122"/>
                <a:cs typeface="楷体" pitchFamily="49" charset="-122"/>
              </a:rPr>
              <a:t>十年九旱</a:t>
            </a:r>
            <a:r>
              <a:rPr kumimoji="0" lang="zh-CN" altLang="en-US" sz="22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/>
                <a:ea typeface="宋体" pitchFamily="2" charset="-122"/>
                <a:cs typeface="楷体" pitchFamily="49" charset="-122"/>
              </a:rPr>
              <a:t>”</a:t>
            </a:r>
            <a:r>
              <a:rPr kumimoji="0" lang="zh-CN" altLang="en-US" sz="22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宋体" pitchFamily="2" charset="-122"/>
                <a:cs typeface="楷体" pitchFamily="49" charset="-122"/>
              </a:rPr>
              <a:t>，但这儿里素有</a:t>
            </a:r>
            <a:r>
              <a:rPr kumimoji="0" lang="zh-CN" altLang="en-US" sz="22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/>
                <a:ea typeface="宋体" pitchFamily="2" charset="-122"/>
                <a:cs typeface="楷体" pitchFamily="49" charset="-122"/>
              </a:rPr>
              <a:t>“</a:t>
            </a:r>
            <a:r>
              <a:rPr kumimoji="0" lang="zh-CN" altLang="en-US" sz="22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宋体" pitchFamily="2" charset="-122"/>
                <a:cs typeface="楷体" pitchFamily="49" charset="-122"/>
              </a:rPr>
              <a:t>天然温室，热带果园</a:t>
            </a:r>
            <a:r>
              <a:rPr kumimoji="0" lang="zh-CN" altLang="en-US" sz="22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/>
                <a:ea typeface="宋体" pitchFamily="2" charset="-122"/>
                <a:cs typeface="楷体" pitchFamily="49" charset="-122"/>
              </a:rPr>
              <a:t>”</a:t>
            </a:r>
            <a:r>
              <a:rPr kumimoji="0" lang="zh-CN" altLang="en-US" sz="22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宋体" pitchFamily="2" charset="-122"/>
                <a:cs typeface="楷体" pitchFamily="49" charset="-122"/>
              </a:rPr>
              <a:t>、</a:t>
            </a:r>
            <a:r>
              <a:rPr kumimoji="0" lang="zh-CN" altLang="en-US" sz="22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/>
                <a:ea typeface="宋体" pitchFamily="2" charset="-122"/>
                <a:cs typeface="楷体" pitchFamily="49" charset="-122"/>
              </a:rPr>
              <a:t>“</a:t>
            </a:r>
            <a:r>
              <a:rPr kumimoji="0" lang="zh-CN" altLang="en-US" sz="22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宋体" pitchFamily="2" charset="-122"/>
                <a:cs typeface="楷体" pitchFamily="49" charset="-122"/>
              </a:rPr>
              <a:t>中国香蕉之乡</a:t>
            </a:r>
            <a:r>
              <a:rPr kumimoji="0" lang="zh-CN" altLang="en-US" sz="22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/>
                <a:ea typeface="宋体" pitchFamily="2" charset="-122"/>
                <a:cs typeface="楷体" pitchFamily="49" charset="-122"/>
              </a:rPr>
              <a:t>”</a:t>
            </a:r>
            <a:r>
              <a:rPr kumimoji="0" lang="zh-CN" altLang="en-US" sz="22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宋体" pitchFamily="2" charset="-122"/>
                <a:cs typeface="楷体" pitchFamily="49" charset="-122"/>
              </a:rPr>
              <a:t>、</a:t>
            </a:r>
            <a:r>
              <a:rPr kumimoji="0" lang="zh-CN" altLang="en-US" sz="22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/>
                <a:ea typeface="宋体" pitchFamily="2" charset="-122"/>
                <a:cs typeface="楷体" pitchFamily="49" charset="-122"/>
              </a:rPr>
              <a:t>“</a:t>
            </a:r>
            <a:r>
              <a:rPr kumimoji="0" lang="zh-CN" altLang="en-US" sz="22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宋体" pitchFamily="2" charset="-122"/>
                <a:cs typeface="楷体" pitchFamily="49" charset="-122"/>
              </a:rPr>
              <a:t>中国冬季蔬菜产业龙头县</a:t>
            </a:r>
            <a:r>
              <a:rPr kumimoji="0" lang="zh-CN" altLang="en-US" sz="22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/>
                <a:ea typeface="宋体" pitchFamily="2" charset="-122"/>
                <a:cs typeface="楷体" pitchFamily="49" charset="-122"/>
              </a:rPr>
              <a:t>”</a:t>
            </a:r>
            <a:r>
              <a:rPr kumimoji="0" lang="zh-CN" altLang="en-US" sz="22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宋体" pitchFamily="2" charset="-122"/>
                <a:cs typeface="楷体" pitchFamily="49" charset="-122"/>
              </a:rPr>
              <a:t>、</a:t>
            </a:r>
            <a:r>
              <a:rPr kumimoji="0" lang="zh-CN" altLang="en-US" sz="22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/>
                <a:ea typeface="宋体" pitchFamily="2" charset="-122"/>
                <a:cs typeface="楷体" pitchFamily="49" charset="-122"/>
              </a:rPr>
              <a:t>“</a:t>
            </a:r>
            <a:r>
              <a:rPr kumimoji="0" lang="zh-CN" altLang="en-US" sz="22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宋体" pitchFamily="2" charset="-122"/>
                <a:cs typeface="楷体" pitchFamily="49" charset="-122"/>
              </a:rPr>
              <a:t>菠萝的海</a:t>
            </a:r>
            <a:r>
              <a:rPr kumimoji="0" lang="zh-CN" altLang="en-US" sz="22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/>
                <a:ea typeface="宋体" pitchFamily="2" charset="-122"/>
                <a:cs typeface="楷体" pitchFamily="49" charset="-122"/>
              </a:rPr>
              <a:t>”</a:t>
            </a:r>
            <a:r>
              <a:rPr kumimoji="0" lang="zh-CN" altLang="en-US" sz="22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宋体" pitchFamily="2" charset="-122"/>
                <a:cs typeface="楷体" pitchFamily="49" charset="-122"/>
              </a:rPr>
              <a:t>的美誉，图乙是当地农业发展模式图。据此回答</a:t>
            </a:r>
            <a:r>
              <a:rPr kumimoji="0" lang="en-US" altLang="zh-CN" sz="22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宋体" pitchFamily="2" charset="-122"/>
                <a:cs typeface="楷体" pitchFamily="49" charset="-122"/>
              </a:rPr>
              <a:t>11-13</a:t>
            </a:r>
            <a:r>
              <a:rPr kumimoji="0" lang="zh-CN" altLang="en-US" sz="22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宋体" pitchFamily="2" charset="-122"/>
                <a:cs typeface="楷体" pitchFamily="49" charset="-122"/>
              </a:rPr>
              <a:t>题。</a:t>
            </a:r>
            <a:endParaRPr kumimoji="0" lang="zh-CN" altLang="en-US" sz="22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lvl="0" indent="266700" fontAlgn="ctr">
              <a:spcBef>
                <a:spcPct val="0"/>
              </a:spcBef>
              <a:spcAft>
                <a:spcPct val="0"/>
              </a:spcAft>
              <a:tabLst>
                <a:tab pos="1317625" algn="l"/>
                <a:tab pos="2636838" algn="l"/>
                <a:tab pos="3956050" algn="l"/>
              </a:tabLst>
            </a:pPr>
            <a:r>
              <a:rPr lang="en-US" altLang="zh-CN" sz="2200" b="1" dirty="0" smtClean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11</a:t>
            </a:r>
            <a:r>
              <a:rPr lang="zh-CN" altLang="en-US" sz="2200" b="1" dirty="0" smtClean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．</a:t>
            </a:r>
            <a:r>
              <a:rPr lang="zh-CN" altLang="en-US" sz="2200" b="1" dirty="0" smtClean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宋体" pitchFamily="2" charset="-122"/>
              </a:rPr>
              <a:t>图中</a:t>
            </a:r>
            <a:r>
              <a:rPr lang="en-US" altLang="zh-CN" sz="2200" b="1" dirty="0" smtClean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宋体" pitchFamily="2" charset="-122"/>
              </a:rPr>
              <a:t>A</a:t>
            </a:r>
            <a:r>
              <a:rPr lang="zh-CN" altLang="en-US" sz="2200" b="1" dirty="0" smtClean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宋体" pitchFamily="2" charset="-122"/>
              </a:rPr>
              <a:t>处农田主要种植的</a:t>
            </a:r>
            <a:r>
              <a:rPr lang="zh-CN" altLang="en-US" sz="2200" b="1" dirty="0" smtClean="0">
                <a:solidFill>
                  <a:srgbClr val="0000FF"/>
                </a:solidFill>
                <a:latin typeface="Times New Roman" pitchFamily="18" charset="0"/>
                <a:ea typeface="宋体" pitchFamily="2" charset="-122"/>
                <a:cs typeface="宋体" pitchFamily="2" charset="-122"/>
              </a:rPr>
              <a:t>粮食作物</a:t>
            </a:r>
            <a:r>
              <a:rPr lang="zh-CN" altLang="en-US" sz="2200" b="1" dirty="0" smtClean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宋体" pitchFamily="2" charset="-122"/>
              </a:rPr>
              <a:t>最有可能是（   ）</a:t>
            </a:r>
            <a:endParaRPr lang="zh-CN" altLang="en-US" sz="2200" b="1" dirty="0" smtClean="0"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lvl="0" indent="266700" eaLnBrk="0" fontAlgn="ctr" hangingPunct="0">
              <a:spcBef>
                <a:spcPct val="0"/>
              </a:spcBef>
              <a:spcAft>
                <a:spcPct val="0"/>
              </a:spcAft>
              <a:tabLst>
                <a:tab pos="1317625" algn="l"/>
                <a:tab pos="2636838" algn="l"/>
                <a:tab pos="3956050" algn="l"/>
              </a:tabLst>
            </a:pPr>
            <a:r>
              <a:rPr lang="en-US" altLang="zh-CN" sz="2200" b="1" dirty="0" smtClean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   A</a:t>
            </a:r>
            <a:r>
              <a:rPr lang="zh-CN" altLang="en-US" sz="2200" b="1" dirty="0" smtClean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．</a:t>
            </a:r>
            <a:r>
              <a:rPr lang="zh-CN" altLang="en-US" sz="2200" b="1" dirty="0" smtClean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宋体" pitchFamily="2" charset="-122"/>
              </a:rPr>
              <a:t>小麦</a:t>
            </a:r>
            <a:r>
              <a:rPr lang="zh-CN" altLang="en-US" sz="2200" b="1" dirty="0" smtClean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	</a:t>
            </a:r>
            <a:r>
              <a:rPr lang="en-US" altLang="zh-CN" sz="2200" b="1" dirty="0" smtClean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B</a:t>
            </a:r>
            <a:r>
              <a:rPr lang="zh-CN" altLang="en-US" sz="2200" b="1" dirty="0" smtClean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．</a:t>
            </a:r>
            <a:r>
              <a:rPr lang="zh-CN" altLang="en-US" sz="2200" b="1" dirty="0" smtClean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  <a:cs typeface="宋体" pitchFamily="2" charset="-122"/>
              </a:rPr>
              <a:t>水稻</a:t>
            </a:r>
            <a:r>
              <a:rPr lang="zh-CN" altLang="en-US" sz="2200" b="1" dirty="0" smtClean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	</a:t>
            </a:r>
            <a:r>
              <a:rPr lang="zh-CN" altLang="en-US" sz="2200" b="1" dirty="0" smtClean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    </a:t>
            </a:r>
            <a:r>
              <a:rPr lang="en-US" altLang="zh-CN" sz="2200" b="1" dirty="0" smtClean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C</a:t>
            </a:r>
            <a:r>
              <a:rPr lang="zh-CN" altLang="en-US" sz="2200" b="1" dirty="0" smtClean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．</a:t>
            </a:r>
            <a:r>
              <a:rPr lang="zh-CN" altLang="en-US" sz="2200" b="1" dirty="0" smtClean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宋体" pitchFamily="2" charset="-122"/>
              </a:rPr>
              <a:t>甜菜</a:t>
            </a:r>
            <a:r>
              <a:rPr lang="zh-CN" altLang="en-US" sz="2200" b="1" dirty="0" smtClean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	</a:t>
            </a:r>
            <a:r>
              <a:rPr lang="zh-CN" altLang="en-US" sz="2200" b="1" dirty="0" smtClean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        </a:t>
            </a:r>
            <a:r>
              <a:rPr lang="en-US" altLang="zh-CN" sz="2200" b="1" dirty="0" smtClean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D</a:t>
            </a:r>
            <a:r>
              <a:rPr lang="zh-CN" altLang="en-US" sz="2200" b="1" dirty="0" smtClean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．</a:t>
            </a:r>
            <a:r>
              <a:rPr lang="zh-CN" altLang="en-US" sz="2200" b="1" dirty="0" smtClean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宋体" pitchFamily="2" charset="-122"/>
              </a:rPr>
              <a:t>棉花</a:t>
            </a:r>
            <a:endParaRPr lang="zh-CN" altLang="en-US" sz="2200" b="1" dirty="0" smtClean="0"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lvl="0" indent="266700" eaLnBrk="0" fontAlgn="ctr" hangingPunct="0">
              <a:spcBef>
                <a:spcPct val="0"/>
              </a:spcBef>
              <a:spcAft>
                <a:spcPct val="0"/>
              </a:spcAft>
              <a:tabLst>
                <a:tab pos="1317625" algn="l"/>
                <a:tab pos="2636838" algn="l"/>
                <a:tab pos="3956050" algn="l"/>
              </a:tabLst>
            </a:pPr>
            <a:r>
              <a:rPr lang="en-US" altLang="zh-CN" sz="2200" b="1" dirty="0" smtClean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12</a:t>
            </a:r>
            <a:r>
              <a:rPr lang="zh-CN" altLang="en-US" sz="2200" b="1" dirty="0" smtClean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．</a:t>
            </a:r>
            <a:r>
              <a:rPr lang="zh-CN" altLang="en-US" sz="2200" b="1" dirty="0" smtClean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宋体" pitchFamily="2" charset="-122"/>
              </a:rPr>
              <a:t>徐闻县</a:t>
            </a:r>
            <a:r>
              <a:rPr lang="zh-CN" altLang="en-US" sz="2200" b="1" dirty="0" smtClean="0">
                <a:solidFill>
                  <a:srgbClr val="0000FF"/>
                </a:solidFill>
                <a:latin typeface="Times New Roman" pitchFamily="18" charset="0"/>
                <a:ea typeface="宋体" pitchFamily="2" charset="-122"/>
                <a:cs typeface="宋体" pitchFamily="2" charset="-122"/>
              </a:rPr>
              <a:t>农业发展模式形成</a:t>
            </a:r>
            <a:r>
              <a:rPr lang="zh-CN" altLang="en-US" sz="2200" b="1" dirty="0" smtClean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宋体" pitchFamily="2" charset="-122"/>
              </a:rPr>
              <a:t>的主导区位因素是（   ）</a:t>
            </a:r>
            <a:endParaRPr lang="zh-CN" altLang="en-US" sz="2200" b="1" dirty="0" smtClean="0"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lvl="0" indent="266700" eaLnBrk="0" fontAlgn="ctr" hangingPunct="0">
              <a:spcBef>
                <a:spcPct val="0"/>
              </a:spcBef>
              <a:spcAft>
                <a:spcPct val="0"/>
              </a:spcAft>
              <a:tabLst>
                <a:tab pos="1317625" algn="l"/>
                <a:tab pos="2636838" algn="l"/>
                <a:tab pos="3956050" algn="l"/>
              </a:tabLst>
            </a:pPr>
            <a:r>
              <a:rPr lang="en-US" altLang="zh-CN" sz="2200" b="1" dirty="0" smtClean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  </a:t>
            </a:r>
            <a:r>
              <a:rPr lang="en-US" altLang="zh-CN" sz="2200" b="1" dirty="0" smtClean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A</a:t>
            </a:r>
            <a:r>
              <a:rPr lang="zh-CN" altLang="en-US" sz="2200" b="1" dirty="0" smtClean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．地形</a:t>
            </a:r>
            <a:r>
              <a:rPr lang="zh-CN" altLang="en-US" sz="2200" b="1" dirty="0" smtClean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	</a:t>
            </a:r>
            <a:r>
              <a:rPr lang="en-US" altLang="zh-CN" sz="2200" b="1" dirty="0" smtClean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B</a:t>
            </a:r>
            <a:r>
              <a:rPr lang="zh-CN" altLang="en-US" sz="2200" b="1" dirty="0" smtClean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．</a:t>
            </a:r>
            <a:r>
              <a:rPr lang="zh-CN" altLang="en-US" sz="2200" b="1" dirty="0" smtClean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宋体" pitchFamily="2" charset="-122"/>
              </a:rPr>
              <a:t>气候</a:t>
            </a:r>
            <a:r>
              <a:rPr lang="zh-CN" altLang="en-US" sz="2200" b="1" dirty="0" smtClean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	</a:t>
            </a:r>
            <a:r>
              <a:rPr lang="zh-CN" altLang="en-US" sz="2200" b="1" dirty="0" smtClean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    </a:t>
            </a:r>
            <a:r>
              <a:rPr lang="en-US" altLang="zh-CN" sz="2200" b="1" dirty="0" smtClean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C</a:t>
            </a:r>
            <a:r>
              <a:rPr lang="zh-CN" altLang="en-US" sz="2200" b="1" dirty="0" smtClean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．</a:t>
            </a:r>
            <a:r>
              <a:rPr lang="zh-CN" altLang="en-US" sz="2200" b="1" dirty="0" smtClean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宋体" pitchFamily="2" charset="-122"/>
              </a:rPr>
              <a:t>水源</a:t>
            </a:r>
            <a:r>
              <a:rPr lang="zh-CN" altLang="en-US" sz="2200" b="1" dirty="0" smtClean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	</a:t>
            </a:r>
            <a:r>
              <a:rPr lang="zh-CN" altLang="en-US" sz="2200" b="1" dirty="0" smtClean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        </a:t>
            </a:r>
            <a:r>
              <a:rPr lang="en-US" altLang="zh-CN" sz="2200" b="1" dirty="0" smtClean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D</a:t>
            </a:r>
            <a:r>
              <a:rPr lang="zh-CN" altLang="en-US" sz="2200" b="1" dirty="0" smtClean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．</a:t>
            </a:r>
            <a:r>
              <a:rPr lang="zh-CN" altLang="en-US" sz="2200" b="1" dirty="0" smtClean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宋体" pitchFamily="2" charset="-122"/>
              </a:rPr>
              <a:t>技术</a:t>
            </a:r>
            <a:endParaRPr lang="zh-CN" altLang="en-US" sz="2200" b="1" dirty="0" smtClean="0"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lvl="0" indent="266700" eaLnBrk="0" fontAlgn="ctr" hangingPunct="0">
              <a:spcBef>
                <a:spcPct val="0"/>
              </a:spcBef>
              <a:spcAft>
                <a:spcPct val="0"/>
              </a:spcAft>
              <a:tabLst>
                <a:tab pos="1317625" algn="l"/>
                <a:tab pos="2636838" algn="l"/>
                <a:tab pos="3956050" algn="l"/>
              </a:tabLst>
            </a:pPr>
            <a:r>
              <a:rPr lang="en-US" altLang="zh-CN" sz="2200" b="1" dirty="0" smtClean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13</a:t>
            </a:r>
            <a:r>
              <a:rPr lang="zh-CN" altLang="en-US" sz="2200" b="1" dirty="0" smtClean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．</a:t>
            </a:r>
            <a:r>
              <a:rPr lang="zh-CN" altLang="en-US" sz="2200" b="1" dirty="0" smtClean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宋体" pitchFamily="2" charset="-122"/>
              </a:rPr>
              <a:t>在图乙所示的农业模式中，当地</a:t>
            </a:r>
            <a:r>
              <a:rPr lang="zh-CN" altLang="en-US" sz="2200" b="1" dirty="0" smtClean="0">
                <a:solidFill>
                  <a:srgbClr val="0000FF"/>
                </a:solidFill>
                <a:latin typeface="Times New Roman" pitchFamily="18" charset="0"/>
                <a:ea typeface="宋体" pitchFamily="2" charset="-122"/>
                <a:cs typeface="宋体" pitchFamily="2" charset="-122"/>
              </a:rPr>
              <a:t>改造的农业区位因素</a:t>
            </a:r>
            <a:r>
              <a:rPr lang="zh-CN" altLang="en-US" sz="2200" b="1" dirty="0" smtClean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宋体" pitchFamily="2" charset="-122"/>
              </a:rPr>
              <a:t>是</a:t>
            </a:r>
            <a:endParaRPr lang="zh-CN" altLang="en-US" sz="2200" b="1" dirty="0" smtClean="0"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lvl="0" indent="266700" eaLnBrk="0" fontAlgn="ctr" hangingPunct="0">
              <a:spcBef>
                <a:spcPct val="0"/>
              </a:spcBef>
              <a:spcAft>
                <a:spcPct val="0"/>
              </a:spcAft>
              <a:tabLst>
                <a:tab pos="1317625" algn="l"/>
                <a:tab pos="2636838" algn="l"/>
                <a:tab pos="3956050" algn="l"/>
              </a:tabLst>
            </a:pPr>
            <a:r>
              <a:rPr lang="zh-CN" altLang="en-US" sz="2200" b="1" dirty="0" smtClean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宋体" pitchFamily="2" charset="-122"/>
              </a:rPr>
              <a:t>①地形           ②热量               ③水源             ④土壤</a:t>
            </a:r>
            <a:endParaRPr lang="zh-CN" altLang="en-US" sz="2200" b="1" dirty="0" smtClean="0"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lvl="0" indent="266700" eaLnBrk="0" fontAlgn="ctr" hangingPunct="0">
              <a:spcBef>
                <a:spcPct val="0"/>
              </a:spcBef>
              <a:spcAft>
                <a:spcPct val="0"/>
              </a:spcAft>
              <a:tabLst>
                <a:tab pos="1317625" algn="l"/>
                <a:tab pos="2636838" algn="l"/>
                <a:tab pos="3956050" algn="l"/>
              </a:tabLst>
            </a:pPr>
            <a:r>
              <a:rPr lang="en-US" altLang="zh-CN" sz="2200" b="1" dirty="0" smtClean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    A</a:t>
            </a:r>
            <a:r>
              <a:rPr lang="zh-CN" altLang="en-US" sz="2200" b="1" dirty="0" smtClean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．</a:t>
            </a:r>
            <a:r>
              <a:rPr lang="zh-CN" altLang="en-US" sz="2200" b="1" dirty="0" smtClean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宋体" pitchFamily="2" charset="-122"/>
              </a:rPr>
              <a:t>①②</a:t>
            </a:r>
            <a:r>
              <a:rPr lang="zh-CN" altLang="en-US" sz="2200" b="1" dirty="0" smtClean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	</a:t>
            </a:r>
            <a:r>
              <a:rPr lang="en-US" altLang="zh-CN" sz="2200" b="1" dirty="0" smtClean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B</a:t>
            </a:r>
            <a:r>
              <a:rPr lang="zh-CN" altLang="en-US" sz="2200" b="1" dirty="0" smtClean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．</a:t>
            </a:r>
            <a:r>
              <a:rPr lang="zh-CN" altLang="en-US" sz="2200" b="1" dirty="0" smtClean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宋体" pitchFamily="2" charset="-122"/>
              </a:rPr>
              <a:t>③④</a:t>
            </a:r>
            <a:r>
              <a:rPr lang="zh-CN" altLang="en-US" sz="2200" b="1" dirty="0" smtClean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	</a:t>
            </a:r>
            <a:r>
              <a:rPr lang="zh-CN" altLang="en-US" sz="2200" b="1" dirty="0" smtClean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    </a:t>
            </a:r>
            <a:r>
              <a:rPr lang="zh-CN" altLang="en-US" sz="2200" b="1" dirty="0" smtClean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</a:t>
            </a:r>
            <a:r>
              <a:rPr lang="en-US" altLang="zh-CN" sz="2200" b="1" dirty="0" smtClean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C</a:t>
            </a:r>
            <a:r>
              <a:rPr lang="zh-CN" altLang="en-US" sz="2200" b="1" dirty="0" smtClean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．①③</a:t>
            </a:r>
            <a:r>
              <a:rPr lang="zh-CN" altLang="en-US" sz="2200" b="1" dirty="0" smtClean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	</a:t>
            </a:r>
            <a:r>
              <a:rPr lang="zh-CN" altLang="en-US" sz="2200" b="1" dirty="0" smtClean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        </a:t>
            </a:r>
            <a:r>
              <a:rPr lang="en-US" altLang="zh-CN" sz="2200" b="1" dirty="0" smtClean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D</a:t>
            </a:r>
            <a:r>
              <a:rPr lang="zh-CN" altLang="en-US" sz="2200" b="1" dirty="0" smtClean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．</a:t>
            </a:r>
            <a:r>
              <a:rPr lang="zh-CN" altLang="en-US" sz="2200" b="1" dirty="0" smtClean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宋体" pitchFamily="2" charset="-122"/>
              </a:rPr>
              <a:t>②</a:t>
            </a:r>
            <a:r>
              <a:rPr lang="zh-CN" altLang="en-US" sz="2200" b="1" dirty="0" smtClean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宋体" pitchFamily="2" charset="-122"/>
              </a:rPr>
              <a:t>④</a:t>
            </a:r>
            <a:endParaRPr lang="zh-CN" altLang="en-US" sz="2200" b="1" dirty="0" smtClean="0">
              <a:latin typeface="Arial" pitchFamily="34" charset="0"/>
              <a:ea typeface="宋体" pitchFamily="2" charset="-122"/>
              <a:cs typeface="宋体" pitchFamily="2" charset="-122"/>
            </a:endParaRPr>
          </a:p>
        </p:txBody>
      </p:sp>
      <p:pic>
        <p:nvPicPr>
          <p:cNvPr id="6145" name="图片 100007" descr="figure"/>
          <p:cNvPicPr>
            <a:picLocks noChangeAspect="1" noChangeArrowheads="1"/>
          </p:cNvPicPr>
          <p:nvPr/>
        </p:nvPicPr>
        <p:blipFill>
          <a:blip r:embed="rId2" cstate="print">
            <a:lum bright="-32000" contrast="60000"/>
          </a:blip>
          <a:srcRect/>
          <a:stretch>
            <a:fillRect/>
          </a:stretch>
        </p:blipFill>
        <p:spPr bwMode="auto">
          <a:xfrm>
            <a:off x="1475656" y="3845945"/>
            <a:ext cx="6916656" cy="3012055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ChangeArrowheads="1"/>
          </p:cNvSpPr>
          <p:nvPr/>
        </p:nvSpPr>
        <p:spPr bwMode="auto">
          <a:xfrm>
            <a:off x="0" y="0"/>
            <a:ext cx="9144000" cy="4493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266700" algn="l" defTabSz="9144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sz="22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宋体" pitchFamily="2" charset="-122"/>
                <a:cs typeface="楷体" pitchFamily="49" charset="-122"/>
              </a:rPr>
              <a:t>白洋淀是中国海河平原上最大的湖泊，</a:t>
            </a:r>
            <a:r>
              <a:rPr kumimoji="0" lang="zh-CN" sz="22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Times New Roman" pitchFamily="18" charset="0"/>
                <a:ea typeface="宋体" pitchFamily="2" charset="-122"/>
                <a:cs typeface="楷体" pitchFamily="49" charset="-122"/>
              </a:rPr>
              <a:t>上游支流多发源于太行山脉，水质较好</a:t>
            </a:r>
            <a:r>
              <a:rPr kumimoji="0" lang="zh-CN" sz="22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宋体" pitchFamily="2" charset="-122"/>
                <a:cs typeface="楷体" pitchFamily="49" charset="-122"/>
              </a:rPr>
              <a:t>。上个世纪在白洋淀</a:t>
            </a:r>
            <a:r>
              <a:rPr lang="zh-CN" sz="2200" b="1" dirty="0" smtClean="0">
                <a:solidFill>
                  <a:srgbClr val="0000FF"/>
                </a:solidFill>
                <a:latin typeface="Times New Roman" pitchFamily="18" charset="0"/>
                <a:ea typeface="宋体" pitchFamily="2" charset="-122"/>
                <a:cs typeface="楷体" pitchFamily="49" charset="-122"/>
              </a:rPr>
              <a:t>上游的</a:t>
            </a:r>
            <a:r>
              <a:rPr lang="en-US" altLang="zh-CN" sz="2200" b="1" dirty="0" smtClean="0">
                <a:solidFill>
                  <a:srgbClr val="0000FF"/>
                </a:solidFill>
                <a:latin typeface="Times New Roman" pitchFamily="18" charset="0"/>
                <a:ea typeface="宋体" pitchFamily="2" charset="-122"/>
                <a:cs typeface="楷体" pitchFamily="49" charset="-122"/>
              </a:rPr>
              <a:t>9</a:t>
            </a:r>
            <a:r>
              <a:rPr lang="zh-CN" altLang="en-US" sz="2200" b="1" dirty="0" smtClean="0">
                <a:solidFill>
                  <a:srgbClr val="0000FF"/>
                </a:solidFill>
                <a:latin typeface="Times New Roman" pitchFamily="18" charset="0"/>
                <a:ea typeface="宋体" pitchFamily="2" charset="-122"/>
                <a:cs typeface="楷体" pitchFamily="49" charset="-122"/>
              </a:rPr>
              <a:t>条河流上兴建了百余座水库</a:t>
            </a:r>
            <a:r>
              <a:rPr kumimoji="0" lang="zh-CN" altLang="en-US" sz="22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宋体" pitchFamily="2" charset="-122"/>
                <a:cs typeface="楷体" pitchFamily="49" charset="-122"/>
              </a:rPr>
              <a:t>，结合材料和下图完成</a:t>
            </a:r>
            <a:r>
              <a:rPr kumimoji="0" lang="en-US" altLang="zh-CN" sz="22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宋体" pitchFamily="2" charset="-122"/>
                <a:cs typeface="楷体" pitchFamily="49" charset="-122"/>
              </a:rPr>
              <a:t>14-15</a:t>
            </a:r>
            <a:r>
              <a:rPr kumimoji="0" lang="zh-CN" altLang="en-US" sz="22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宋体" pitchFamily="2" charset="-122"/>
                <a:cs typeface="楷体" pitchFamily="49" charset="-122"/>
              </a:rPr>
              <a:t>题。</a:t>
            </a:r>
            <a:endParaRPr kumimoji="0" lang="zh-CN" altLang="en-US" sz="22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lvl="0" indent="266700" fontAlgn="ctr">
              <a:spcBef>
                <a:spcPct val="0"/>
              </a:spcBef>
              <a:spcAft>
                <a:spcPct val="0"/>
              </a:spcAft>
              <a:tabLst>
                <a:tab pos="1546225" algn="l"/>
                <a:tab pos="2962275" algn="l"/>
                <a:tab pos="4305300" algn="l"/>
              </a:tabLst>
            </a:pPr>
            <a:r>
              <a:rPr lang="en-US" altLang="zh-CN" sz="2200" b="1" dirty="0" smtClean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宋体" pitchFamily="2" charset="-122"/>
              </a:rPr>
              <a:t>14</a:t>
            </a:r>
            <a:r>
              <a:rPr lang="en-US" altLang="zh-CN" sz="2200" b="1" dirty="0" smtClean="0">
                <a:solidFill>
                  <a:srgbClr val="0000FF"/>
                </a:solidFill>
                <a:latin typeface="Times New Roman" pitchFamily="18" charset="0"/>
                <a:ea typeface="宋体" pitchFamily="2" charset="-122"/>
                <a:cs typeface="宋体" pitchFamily="2" charset="-122"/>
              </a:rPr>
              <a:t>. 2017</a:t>
            </a:r>
            <a:r>
              <a:rPr lang="zh-CN" altLang="en-US" sz="2200" b="1" dirty="0" smtClean="0">
                <a:solidFill>
                  <a:srgbClr val="0000FF"/>
                </a:solidFill>
                <a:latin typeface="Times New Roman" pitchFamily="18" charset="0"/>
                <a:ea typeface="宋体" pitchFamily="2" charset="-122"/>
                <a:cs typeface="宋体" pitchFamily="2" charset="-122"/>
              </a:rPr>
              <a:t>年</a:t>
            </a:r>
            <a:r>
              <a:rPr lang="en-US" altLang="zh-CN" sz="2200" b="1" dirty="0" smtClean="0">
                <a:solidFill>
                  <a:srgbClr val="0000FF"/>
                </a:solidFill>
                <a:latin typeface="Times New Roman" pitchFamily="18" charset="0"/>
                <a:ea typeface="宋体" pitchFamily="2" charset="-122"/>
                <a:cs typeface="宋体" pitchFamily="2" charset="-122"/>
              </a:rPr>
              <a:t>4</a:t>
            </a:r>
            <a:r>
              <a:rPr lang="zh-CN" altLang="en-US" sz="2200" b="1" dirty="0" smtClean="0">
                <a:solidFill>
                  <a:srgbClr val="0000FF"/>
                </a:solidFill>
                <a:latin typeface="Times New Roman" pitchFamily="18" charset="0"/>
                <a:ea typeface="宋体" pitchFamily="2" charset="-122"/>
                <a:cs typeface="宋体" pitchFamily="2" charset="-122"/>
              </a:rPr>
              <a:t>月初</a:t>
            </a:r>
            <a:r>
              <a:rPr lang="zh-CN" altLang="en-US" sz="2200" b="1" dirty="0" smtClean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宋体" pitchFamily="2" charset="-122"/>
              </a:rPr>
              <a:t>，上游</a:t>
            </a:r>
            <a:r>
              <a:rPr lang="zh-CN" altLang="en-US" sz="2200" b="1" dirty="0" smtClean="0">
                <a:solidFill>
                  <a:srgbClr val="0000FF"/>
                </a:solidFill>
                <a:latin typeface="Times New Roman" pitchFamily="18" charset="0"/>
                <a:ea typeface="宋体" pitchFamily="2" charset="-122"/>
                <a:cs typeface="宋体" pitchFamily="2" charset="-122"/>
              </a:rPr>
              <a:t>两大型水库同时开闸向白洋淀放水</a:t>
            </a:r>
            <a:r>
              <a:rPr lang="zh-CN" altLang="en-US" sz="2200" b="1" dirty="0" smtClean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宋体" pitchFamily="2" charset="-122"/>
              </a:rPr>
              <a:t>，计划为期两个月。其主要目的是</a:t>
            </a:r>
            <a:endParaRPr lang="zh-CN" altLang="en-US" sz="2200" b="1" dirty="0" smtClean="0"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lvl="0" indent="266700" eaLnBrk="0" fontAlgn="ctr" hangingPunct="0">
              <a:spcBef>
                <a:spcPct val="0"/>
              </a:spcBef>
              <a:spcAft>
                <a:spcPct val="0"/>
              </a:spcAft>
              <a:tabLst>
                <a:tab pos="1546225" algn="l"/>
                <a:tab pos="2962275" algn="l"/>
                <a:tab pos="4305300" algn="l"/>
              </a:tabLst>
            </a:pPr>
            <a:r>
              <a:rPr lang="en-US" altLang="zh-CN" sz="2200" b="1" dirty="0" smtClean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宋体" pitchFamily="2" charset="-122"/>
              </a:rPr>
              <a:t>   A</a:t>
            </a:r>
            <a:r>
              <a:rPr lang="en-US" altLang="zh-CN" sz="2200" b="1" dirty="0" smtClean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宋体" pitchFamily="2" charset="-122"/>
              </a:rPr>
              <a:t>. </a:t>
            </a:r>
            <a:r>
              <a:rPr lang="zh-CN" altLang="en-US" sz="2200" b="1" dirty="0" smtClean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宋体" pitchFamily="2" charset="-122"/>
              </a:rPr>
              <a:t>减轻上游水库的压力                   </a:t>
            </a:r>
            <a:r>
              <a:rPr lang="en-US" altLang="zh-CN" sz="2200" b="1" dirty="0" smtClean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宋体" pitchFamily="2" charset="-122"/>
              </a:rPr>
              <a:t>B. </a:t>
            </a:r>
            <a:r>
              <a:rPr lang="zh-CN" altLang="en-US" sz="2200" b="1" dirty="0" smtClean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宋体" pitchFamily="2" charset="-122"/>
              </a:rPr>
              <a:t>水库冲淤排沙</a:t>
            </a:r>
            <a:endParaRPr lang="zh-CN" altLang="en-US" sz="2200" b="1" dirty="0" smtClean="0"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lvl="0" indent="266700" eaLnBrk="0" fontAlgn="ctr" hangingPunct="0">
              <a:spcBef>
                <a:spcPct val="0"/>
              </a:spcBef>
              <a:spcAft>
                <a:spcPct val="0"/>
              </a:spcAft>
              <a:tabLst>
                <a:tab pos="1546225" algn="l"/>
                <a:tab pos="2962275" algn="l"/>
                <a:tab pos="4305300" algn="l"/>
              </a:tabLst>
            </a:pPr>
            <a:r>
              <a:rPr lang="en-US" altLang="zh-CN" sz="2200" b="1" dirty="0" smtClean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宋体" pitchFamily="2" charset="-122"/>
              </a:rPr>
              <a:t>   </a:t>
            </a:r>
            <a:r>
              <a:rPr lang="en-US" altLang="zh-CN" sz="2200" b="1" dirty="0" smtClean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  <a:cs typeface="宋体" pitchFamily="2" charset="-122"/>
              </a:rPr>
              <a:t>C</a:t>
            </a:r>
            <a:r>
              <a:rPr lang="en-US" altLang="zh-CN" sz="2200" b="1" dirty="0" smtClean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  <a:cs typeface="宋体" pitchFamily="2" charset="-122"/>
              </a:rPr>
              <a:t>. </a:t>
            </a:r>
            <a:r>
              <a:rPr lang="zh-CN" altLang="en-US" sz="2200" b="1" dirty="0" smtClean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  <a:cs typeface="宋体" pitchFamily="2" charset="-122"/>
              </a:rPr>
              <a:t>改善白洋淀的水质</a:t>
            </a:r>
            <a:r>
              <a:rPr lang="zh-CN" altLang="en-US" sz="2200" b="1" dirty="0" smtClean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宋体" pitchFamily="2" charset="-122"/>
              </a:rPr>
              <a:t>	</a:t>
            </a:r>
            <a:r>
              <a:rPr lang="zh-CN" altLang="en-US" sz="2200" b="1" dirty="0" smtClean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宋体" pitchFamily="2" charset="-122"/>
              </a:rPr>
              <a:t>     </a:t>
            </a:r>
            <a:r>
              <a:rPr lang="en-US" altLang="zh-CN" sz="2200" b="1" dirty="0" smtClean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宋体" pitchFamily="2" charset="-122"/>
              </a:rPr>
              <a:t>D</a:t>
            </a:r>
            <a:r>
              <a:rPr lang="en-US" altLang="zh-CN" sz="2200" b="1" dirty="0" smtClean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宋体" pitchFamily="2" charset="-122"/>
              </a:rPr>
              <a:t>. </a:t>
            </a:r>
            <a:r>
              <a:rPr lang="zh-CN" altLang="en-US" sz="2200" b="1" dirty="0" smtClean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宋体" pitchFamily="2" charset="-122"/>
              </a:rPr>
              <a:t>提高白洋淀的通航能力</a:t>
            </a:r>
            <a:endParaRPr lang="zh-CN" altLang="en-US" sz="2200" b="1" dirty="0" smtClean="0"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lvl="0" indent="266700" eaLnBrk="0" fontAlgn="ctr" hangingPunct="0">
              <a:spcBef>
                <a:spcPct val="0"/>
              </a:spcBef>
              <a:spcAft>
                <a:spcPct val="0"/>
              </a:spcAft>
              <a:tabLst>
                <a:tab pos="1546225" algn="l"/>
                <a:tab pos="2962275" algn="l"/>
                <a:tab pos="4305300" algn="l"/>
              </a:tabLst>
            </a:pPr>
            <a:r>
              <a:rPr lang="en-US" altLang="zh-CN" sz="2200" b="1" dirty="0" smtClean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宋体" pitchFamily="2" charset="-122"/>
              </a:rPr>
              <a:t>15. </a:t>
            </a:r>
            <a:r>
              <a:rPr lang="zh-CN" altLang="en-US" sz="2200" b="1" dirty="0" smtClean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宋体" pitchFamily="2" charset="-122"/>
              </a:rPr>
              <a:t>土壤盐碱化是白洋淀地区农业生产面临的主要问题之一。湖区春季土壤盐碱化严重的主要自然原因有</a:t>
            </a:r>
            <a:endParaRPr lang="zh-CN" altLang="en-US" sz="2200" b="1" dirty="0" smtClean="0"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lvl="0" indent="266700" eaLnBrk="0" fontAlgn="ctr" hangingPunct="0">
              <a:spcBef>
                <a:spcPct val="0"/>
              </a:spcBef>
              <a:spcAft>
                <a:spcPct val="0"/>
              </a:spcAft>
              <a:tabLst>
                <a:tab pos="1546225" algn="l"/>
                <a:tab pos="2962275" algn="l"/>
                <a:tab pos="4305300" algn="l"/>
              </a:tabLst>
            </a:pPr>
            <a:r>
              <a:rPr lang="zh-CN" altLang="en-US" sz="2200" b="1" dirty="0" smtClean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宋体" pitchFamily="2" charset="-122"/>
              </a:rPr>
              <a:t>①地势低洼，地下水位高②春季气温回升快，蒸发旺盛 </a:t>
            </a:r>
            <a:r>
              <a:rPr lang="zh-CN" altLang="en-US" sz="2200" b="1" dirty="0" smtClean="0">
                <a:solidFill>
                  <a:srgbClr val="000000"/>
                </a:solidFill>
                <a:latin typeface="Arial"/>
                <a:ea typeface="宋体" pitchFamily="2" charset="-122"/>
                <a:cs typeface="宋体" pitchFamily="2" charset="-122"/>
              </a:rPr>
              <a:t> </a:t>
            </a:r>
            <a:r>
              <a:rPr lang="zh-CN" altLang="en-US" sz="2200" b="1" dirty="0" smtClean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宋体" pitchFamily="2" charset="-122"/>
              </a:rPr>
              <a:t>③春季多大风天气，蒸发旺盛④春季不合理灌溉，使地下水位上升⑤海水倒灌，使盐度升高</a:t>
            </a:r>
            <a:endParaRPr lang="zh-CN" altLang="en-US" sz="2200" b="1" dirty="0" smtClean="0"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lvl="0" indent="266700" eaLnBrk="0" fontAlgn="ctr" hangingPunct="0">
              <a:spcBef>
                <a:spcPct val="0"/>
              </a:spcBef>
              <a:spcAft>
                <a:spcPct val="0"/>
              </a:spcAft>
              <a:tabLst>
                <a:tab pos="1546225" algn="l"/>
                <a:tab pos="2962275" algn="l"/>
                <a:tab pos="4305300" algn="l"/>
              </a:tabLst>
            </a:pPr>
            <a:r>
              <a:rPr lang="en-US" altLang="zh-CN" sz="2200" b="1" dirty="0" smtClean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宋体" pitchFamily="2" charset="-122"/>
              </a:rPr>
              <a:t>   A</a:t>
            </a:r>
            <a:r>
              <a:rPr lang="en-US" altLang="zh-CN" sz="2200" b="1" dirty="0" smtClean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宋体" pitchFamily="2" charset="-122"/>
              </a:rPr>
              <a:t>. ①②③	B. ②③④	</a:t>
            </a:r>
            <a:r>
              <a:rPr lang="en-US" altLang="zh-CN" sz="2200" b="1" dirty="0" smtClean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宋体" pitchFamily="2" charset="-122"/>
              </a:rPr>
              <a:t>     C</a:t>
            </a:r>
            <a:r>
              <a:rPr lang="en-US" altLang="zh-CN" sz="2200" b="1" dirty="0" smtClean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宋体" pitchFamily="2" charset="-122"/>
              </a:rPr>
              <a:t>. ②③⑤	</a:t>
            </a:r>
            <a:r>
              <a:rPr lang="en-US" altLang="zh-CN" sz="2200" b="1" dirty="0" smtClean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宋体" pitchFamily="2" charset="-122"/>
              </a:rPr>
              <a:t>  </a:t>
            </a:r>
            <a:r>
              <a:rPr lang="en-US" altLang="zh-CN" sz="2200" b="1" dirty="0" smtClean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  <a:cs typeface="宋体" pitchFamily="2" charset="-122"/>
              </a:rPr>
              <a:t>D. ①②③④</a:t>
            </a:r>
          </a:p>
        </p:txBody>
      </p:sp>
      <p:pic>
        <p:nvPicPr>
          <p:cNvPr id="5121" name="图片 50" descr="学科网(www.zxxk.com)--教育资源门户，提供试卷、教案、课件、论文、素材以及各类教学资源下载，还有大量而丰富的教学相关资讯！"/>
          <p:cNvPicPr>
            <a:picLocks noChangeAspect="1" noChangeArrowheads="1"/>
          </p:cNvPicPr>
          <p:nvPr/>
        </p:nvPicPr>
        <p:blipFill>
          <a:blip r:embed="rId2" cstate="print">
            <a:lum bright="-40000" contrast="78000"/>
          </a:blip>
          <a:srcRect/>
          <a:stretch>
            <a:fillRect/>
          </a:stretch>
        </p:blipFill>
        <p:spPr bwMode="auto">
          <a:xfrm>
            <a:off x="1691680" y="4472332"/>
            <a:ext cx="5759991" cy="2385668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7" name="Rectangle 1"/>
          <p:cNvSpPr>
            <a:spLocks noChangeArrowheads="1"/>
          </p:cNvSpPr>
          <p:nvPr/>
        </p:nvSpPr>
        <p:spPr bwMode="auto">
          <a:xfrm>
            <a:off x="0" y="0"/>
            <a:ext cx="9144000" cy="144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zh-CN" sz="2200" b="1" dirty="0" smtClean="0">
                <a:latin typeface="宋体" pitchFamily="2" charset="-122"/>
                <a:ea typeface="宋体" pitchFamily="2" charset="-122"/>
                <a:cs typeface="宋体" pitchFamily="2" charset="-122"/>
              </a:rPr>
              <a:t>13. </a:t>
            </a:r>
            <a:r>
              <a:rPr lang="zh-CN" altLang="en-US" sz="2200" b="1" dirty="0" smtClean="0">
                <a:latin typeface="宋体" pitchFamily="2" charset="-122"/>
                <a:ea typeface="宋体" pitchFamily="2" charset="-122"/>
                <a:cs typeface="宋体" pitchFamily="2" charset="-122"/>
              </a:rPr>
              <a:t>修建水库不仅可以拦截泥沙，还可以放水冲沙，以减少下游河床淤积。冲沙效果最佳的水库放水方式是</a:t>
            </a:r>
          </a:p>
          <a:p>
            <a:pPr marL="0" marR="0" lvl="0" indent="0" algn="l" defTabSz="914400" rtl="0" eaLnBrk="0" font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2200" b="1" dirty="0" smtClean="0">
                <a:latin typeface="宋体" pitchFamily="2" charset="-122"/>
                <a:ea typeface="宋体" pitchFamily="2" charset="-122"/>
                <a:cs typeface="宋体" pitchFamily="2" charset="-122"/>
              </a:rPr>
              <a:t>     </a:t>
            </a:r>
            <a:r>
              <a:rPr lang="zh-CN" altLang="zh-CN" sz="2200" b="1" dirty="0" smtClean="0">
                <a:latin typeface="宋体" pitchFamily="2" charset="-122"/>
                <a:ea typeface="宋体" pitchFamily="2" charset="-122"/>
                <a:cs typeface="宋体" pitchFamily="2" charset="-122"/>
              </a:rPr>
              <a:t>A. </a:t>
            </a:r>
            <a:r>
              <a:rPr lang="zh-CN" altLang="en-US" sz="2200" b="1" dirty="0" smtClean="0">
                <a:latin typeface="宋体" pitchFamily="2" charset="-122"/>
                <a:ea typeface="宋体" pitchFamily="2" charset="-122"/>
                <a:cs typeface="宋体" pitchFamily="2" charset="-122"/>
              </a:rPr>
              <a:t>洪水期持续放水    </a:t>
            </a:r>
            <a:r>
              <a:rPr lang="en-US" altLang="zh-CN" sz="2200" b="1" dirty="0" smtClean="0">
                <a:latin typeface="宋体" pitchFamily="2" charset="-122"/>
                <a:ea typeface="宋体" pitchFamily="2" charset="-122"/>
                <a:cs typeface="宋体" pitchFamily="2" charset="-122"/>
              </a:rPr>
              <a:t>            </a:t>
            </a:r>
            <a:r>
              <a:rPr lang="zh-CN" altLang="zh-CN" sz="2200" b="1" dirty="0" smtClean="0">
                <a:latin typeface="宋体" pitchFamily="2" charset="-122"/>
                <a:ea typeface="宋体" pitchFamily="2" charset="-122"/>
                <a:cs typeface="宋体" pitchFamily="2" charset="-122"/>
              </a:rPr>
              <a:t>B</a:t>
            </a:r>
            <a:r>
              <a:rPr lang="zh-CN" altLang="zh-CN" sz="2200" b="1" dirty="0" smtClean="0">
                <a:latin typeface="宋体" pitchFamily="2" charset="-122"/>
                <a:ea typeface="宋体" pitchFamily="2" charset="-122"/>
                <a:cs typeface="宋体" pitchFamily="2" charset="-122"/>
              </a:rPr>
              <a:t>. </a:t>
            </a:r>
            <a:r>
              <a:rPr lang="zh-CN" altLang="en-US" sz="2200" b="1" dirty="0" smtClean="0">
                <a:latin typeface="宋体" pitchFamily="2" charset="-122"/>
                <a:ea typeface="宋体" pitchFamily="2" charset="-122"/>
                <a:cs typeface="宋体" pitchFamily="2" charset="-122"/>
              </a:rPr>
              <a:t>枯水期持续放水   </a:t>
            </a:r>
            <a:endParaRPr lang="en-US" altLang="zh-CN" sz="2200" b="1" dirty="0" smtClean="0">
              <a:latin typeface="宋体" pitchFamily="2" charset="-122"/>
              <a:ea typeface="宋体" pitchFamily="2" charset="-122"/>
              <a:cs typeface="宋体" pitchFamily="2" charset="-122"/>
            </a:endParaRPr>
          </a:p>
          <a:p>
            <a:pPr marL="0" marR="0" lvl="0" indent="0" algn="l" defTabSz="914400" rtl="0" eaLnBrk="0" font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2200" b="1" dirty="0" smtClean="0">
                <a:latin typeface="宋体" pitchFamily="2" charset="-122"/>
                <a:ea typeface="宋体" pitchFamily="2" charset="-122"/>
                <a:cs typeface="宋体" pitchFamily="2" charset="-122"/>
              </a:rPr>
              <a:t>     </a:t>
            </a:r>
            <a:r>
              <a:rPr lang="zh-CN" altLang="zh-CN" sz="2200" b="1" dirty="0" smtClean="0">
                <a:latin typeface="宋体" pitchFamily="2" charset="-122"/>
                <a:ea typeface="宋体" pitchFamily="2" charset="-122"/>
                <a:cs typeface="宋体" pitchFamily="2" charset="-122"/>
              </a:rPr>
              <a:t>C</a:t>
            </a:r>
            <a:r>
              <a:rPr lang="zh-CN" altLang="zh-CN" sz="2200" b="1" dirty="0" smtClean="0">
                <a:latin typeface="宋体" pitchFamily="2" charset="-122"/>
                <a:ea typeface="宋体" pitchFamily="2" charset="-122"/>
                <a:cs typeface="宋体" pitchFamily="2" charset="-122"/>
              </a:rPr>
              <a:t>. </a:t>
            </a:r>
            <a:r>
              <a:rPr lang="zh-CN" altLang="en-US" sz="2200" b="1" dirty="0" smtClean="0">
                <a:latin typeface="宋体" pitchFamily="2" charset="-122"/>
                <a:ea typeface="宋体" pitchFamily="2" charset="-122"/>
                <a:cs typeface="宋体" pitchFamily="2" charset="-122"/>
              </a:rPr>
              <a:t>洪水期集中放水 </a:t>
            </a:r>
            <a:r>
              <a:rPr kumimoji="0" lang="zh-CN" sz="2200" b="1" i="0" u="none" strike="noStrike" cap="none" normalizeH="0" baseline="0" dirty="0" smtClean="0">
                <a:ln>
                  <a:noFill/>
                </a:ln>
                <a:solidFill>
                  <a:srgbClr val="323E32"/>
                </a:solidFill>
                <a:effectLst/>
                <a:latin typeface="Arial"/>
                <a:ea typeface="宋体" pitchFamily="2" charset="-122"/>
                <a:cs typeface="宋体" pitchFamily="2" charset="-122"/>
              </a:rPr>
              <a:t>   </a:t>
            </a:r>
            <a:r>
              <a:rPr kumimoji="0" lang="en-US" altLang="zh-CN" sz="2200" b="1" i="0" u="none" strike="noStrike" cap="none" normalizeH="0" baseline="0" dirty="0" smtClean="0">
                <a:ln>
                  <a:noFill/>
                </a:ln>
                <a:solidFill>
                  <a:srgbClr val="323E32"/>
                </a:solidFill>
                <a:effectLst/>
                <a:latin typeface="Arial"/>
                <a:ea typeface="宋体" pitchFamily="2" charset="-122"/>
                <a:cs typeface="宋体" pitchFamily="2" charset="-122"/>
              </a:rPr>
              <a:t>                        </a:t>
            </a:r>
            <a:r>
              <a:rPr kumimoji="0" lang="zh-CN" altLang="zh-CN" sz="22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宋体" pitchFamily="2" charset="-122"/>
                <a:ea typeface="宋体" pitchFamily="2" charset="-122"/>
                <a:cs typeface="宋体" pitchFamily="2" charset="-122"/>
              </a:rPr>
              <a:t>D.</a:t>
            </a:r>
            <a:r>
              <a:rPr kumimoji="0" lang="zh-CN" altLang="zh-CN" sz="22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"/>
                <a:ea typeface="微软雅黑" pitchFamily="34" charset="-122"/>
                <a:cs typeface="宋体" pitchFamily="2" charset="-122"/>
              </a:rPr>
              <a:t> </a:t>
            </a:r>
            <a:r>
              <a:rPr kumimoji="0" lang="zh-CN" sz="22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宋体" pitchFamily="2" charset="-122"/>
                <a:ea typeface="宋体" pitchFamily="2" charset="-122"/>
                <a:cs typeface="宋体" pitchFamily="2" charset="-122"/>
              </a:rPr>
              <a:t>枯水期集中放水</a:t>
            </a:r>
            <a:endParaRPr kumimoji="0" lang="zh-CN" sz="2200" b="1" i="0" u="none" strike="noStrike" cap="none" normalizeH="0" baseline="0" dirty="0" smtClean="0">
              <a:ln>
                <a:noFill/>
              </a:ln>
              <a:solidFill>
                <a:srgbClr val="FF0000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51520" y="1628800"/>
            <a:ext cx="7416824" cy="17235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200" b="1" dirty="0" smtClean="0">
                <a:solidFill>
                  <a:srgbClr val="FF0000"/>
                </a:solidFill>
                <a:latin typeface="宋体" pitchFamily="2" charset="-122"/>
                <a:ea typeface="宋体" pitchFamily="2" charset="-122"/>
                <a:cs typeface="宋体" pitchFamily="2" charset="-122"/>
              </a:rPr>
              <a:t>【</a:t>
            </a:r>
            <a:r>
              <a:rPr lang="zh-CN" altLang="en-US" sz="2200" b="1" dirty="0" smtClean="0">
                <a:solidFill>
                  <a:srgbClr val="FF0000"/>
                </a:solidFill>
                <a:latin typeface="宋体" pitchFamily="2" charset="-122"/>
                <a:ea typeface="宋体" pitchFamily="2" charset="-122"/>
                <a:cs typeface="宋体" pitchFamily="2" charset="-122"/>
              </a:rPr>
              <a:t>概念区别</a:t>
            </a:r>
            <a:r>
              <a:rPr lang="en-US" altLang="zh-CN" sz="2200" b="1" dirty="0" smtClean="0">
                <a:solidFill>
                  <a:srgbClr val="FF0000"/>
                </a:solidFill>
                <a:latin typeface="宋体" pitchFamily="2" charset="-122"/>
                <a:ea typeface="宋体" pitchFamily="2" charset="-122"/>
                <a:cs typeface="宋体" pitchFamily="2" charset="-122"/>
              </a:rPr>
              <a:t>】</a:t>
            </a:r>
          </a:p>
          <a:p>
            <a:r>
              <a:rPr lang="zh-CN" altLang="en-US" sz="2200" b="1" dirty="0" smtClean="0">
                <a:solidFill>
                  <a:srgbClr val="FF0000"/>
                </a:solidFill>
                <a:latin typeface="宋体" pitchFamily="2" charset="-122"/>
                <a:ea typeface="宋体" pitchFamily="2" charset="-122"/>
                <a:cs typeface="宋体" pitchFamily="2" charset="-122"/>
              </a:rPr>
              <a:t>海水倒灌，指的是海水经地表到达陆地；</a:t>
            </a:r>
            <a:endParaRPr lang="en-US" altLang="zh-CN" sz="2200" b="1" dirty="0" smtClean="0">
              <a:solidFill>
                <a:srgbClr val="FF0000"/>
              </a:solidFill>
              <a:latin typeface="宋体" pitchFamily="2" charset="-122"/>
              <a:ea typeface="宋体" pitchFamily="2" charset="-122"/>
              <a:cs typeface="宋体" pitchFamily="2" charset="-122"/>
            </a:endParaRPr>
          </a:p>
          <a:p>
            <a:endParaRPr lang="en-US" altLang="zh-CN" sz="2200" b="1" dirty="0" smtClean="0">
              <a:solidFill>
                <a:srgbClr val="FF0000"/>
              </a:solidFill>
              <a:latin typeface="宋体" pitchFamily="2" charset="-122"/>
              <a:ea typeface="宋体" pitchFamily="2" charset="-122"/>
              <a:cs typeface="宋体" pitchFamily="2" charset="-122"/>
            </a:endParaRPr>
          </a:p>
          <a:p>
            <a:r>
              <a:rPr lang="zh-CN" altLang="en-US" sz="2200" b="1" dirty="0" smtClean="0">
                <a:solidFill>
                  <a:srgbClr val="FF0000"/>
                </a:solidFill>
                <a:latin typeface="宋体" pitchFamily="2" charset="-122"/>
                <a:ea typeface="宋体" pitchFamily="2" charset="-122"/>
                <a:cs typeface="宋体" pitchFamily="2" charset="-122"/>
              </a:rPr>
              <a:t>海水入侵，指的是海水经地下到达陆地。</a:t>
            </a:r>
          </a:p>
          <a:p>
            <a:endParaRPr lang="zh-CN" altLang="en-US" dirty="0">
              <a:solidFill>
                <a:srgbClr val="FF0000"/>
              </a:solidFill>
            </a:endParaRPr>
          </a:p>
        </p:txBody>
      </p:sp>
      <p:pic>
        <p:nvPicPr>
          <p:cNvPr id="4099" name="Picture 3" descr="https://ss1.bdstatic.com/70cFvXSh_Q1YnxGkpoWK1HF6hhy/it/u=2108139011,863783720&amp;fm=26&amp;gp=0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381500" y="3286125"/>
            <a:ext cx="4762500" cy="3571875"/>
          </a:xfrm>
          <a:prstGeom prst="rect">
            <a:avLst/>
          </a:prstGeom>
          <a:noFill/>
        </p:spPr>
      </p:pic>
      <p:pic>
        <p:nvPicPr>
          <p:cNvPr id="4103" name="Picture 7" descr="https://timgsa.baidu.com/timg?image&amp;quality=80&amp;size=b9999_10000&amp;sec=1606705641374&amp;di=4c452bc866001669d3cad3a8276ee552&amp;imgtype=0&amp;src=http%3A%2F%2Fimg1.cache.netease.com%2Fcatchpic%2F4%2F41%2F41C357F145AA2358DA06BF83912E53FC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95536" y="3315328"/>
            <a:ext cx="3491880" cy="3542672"/>
          </a:xfrm>
          <a:prstGeom prst="rect">
            <a:avLst/>
          </a:prstGeom>
          <a:noFill/>
        </p:spPr>
      </p:pic>
      <p:sp>
        <p:nvSpPr>
          <p:cNvPr id="8" name="椭圆 7"/>
          <p:cNvSpPr/>
          <p:nvPr/>
        </p:nvSpPr>
        <p:spPr>
          <a:xfrm>
            <a:off x="2771800" y="4437112"/>
            <a:ext cx="1152128" cy="2016224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图片 8" descr="2.7 课/区域地理提升版/课时作业word版/Q268.TIF"/>
          <p:cNvPicPr>
            <a:picLocks noChangeAspect="1" noChangeArrowheads="1"/>
          </p:cNvPicPr>
          <p:nvPr/>
        </p:nvPicPr>
        <p:blipFill>
          <a:blip r:embed="rId2" r:link="rId3" cstate="print"/>
          <a:srcRect/>
          <a:stretch>
            <a:fillRect/>
          </a:stretch>
        </p:blipFill>
        <p:spPr bwMode="auto">
          <a:xfrm>
            <a:off x="0" y="3196065"/>
            <a:ext cx="4211960" cy="3661935"/>
          </a:xfrm>
          <a:prstGeom prst="rect">
            <a:avLst/>
          </a:prstGeom>
          <a:noFill/>
        </p:spPr>
      </p:pic>
      <p:sp>
        <p:nvSpPr>
          <p:cNvPr id="3075" name="Rectangle 3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076" name="Rectangle 4"/>
          <p:cNvSpPr>
            <a:spLocks noChangeArrowheads="1"/>
          </p:cNvSpPr>
          <p:nvPr/>
        </p:nvSpPr>
        <p:spPr bwMode="auto">
          <a:xfrm>
            <a:off x="0" y="0"/>
            <a:ext cx="9144000" cy="2462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2667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628900" algn="l"/>
              </a:tabLst>
            </a:pPr>
            <a:r>
              <a:rPr lang="zh-CN" sz="2200" b="1" dirty="0" smtClean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楷体" pitchFamily="49" charset="-122"/>
              </a:rPr>
              <a:t>海冰含盐量接近淡水，适当处理后可作为淡水资源。下图示意渤海及附近区域年平均气温≤－</a:t>
            </a:r>
            <a:r>
              <a:rPr lang="en-US" altLang="zh-CN" sz="2200" b="1" dirty="0" smtClean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楷体" pitchFamily="49" charset="-122"/>
              </a:rPr>
              <a:t>4 ℃</a:t>
            </a:r>
            <a:r>
              <a:rPr lang="zh-CN" altLang="en-US" sz="2200" b="1" dirty="0" smtClean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楷体" pitchFamily="49" charset="-122"/>
              </a:rPr>
              <a:t>日数的分布。据此完成</a:t>
            </a:r>
            <a:r>
              <a:rPr lang="en-US" altLang="zh-CN" sz="2200" b="1" dirty="0" smtClean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楷体" pitchFamily="49" charset="-122"/>
              </a:rPr>
              <a:t>16-18</a:t>
            </a:r>
            <a:r>
              <a:rPr lang="zh-CN" altLang="en-US" sz="2200" b="1" dirty="0" smtClean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楷体" pitchFamily="49" charset="-122"/>
              </a:rPr>
              <a:t>题。</a:t>
            </a:r>
          </a:p>
          <a:p>
            <a:pPr marL="0" marR="0" lvl="0" indent="266700" algn="l" defTabSz="914400" rtl="0" eaLnBrk="0" font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628900" algn="l"/>
              </a:tabLst>
            </a:pPr>
            <a:r>
              <a:rPr lang="en-US" altLang="zh-CN" sz="2200" b="1" dirty="0" smtClean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楷体" pitchFamily="49" charset="-122"/>
              </a:rPr>
              <a:t>16</a:t>
            </a:r>
            <a:r>
              <a:rPr lang="zh-CN" altLang="en-US" sz="2200" b="1" dirty="0" smtClean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楷体" pitchFamily="49" charset="-122"/>
              </a:rPr>
              <a:t>．图示甲、乙、丙、丁四海域中，海冰厚度最大的是</a:t>
            </a:r>
            <a:r>
              <a:rPr lang="en-US" altLang="zh-CN" sz="2200" b="1" dirty="0" smtClean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楷体" pitchFamily="49" charset="-122"/>
              </a:rPr>
              <a:t>(</a:t>
            </a:r>
            <a:r>
              <a:rPr lang="zh-CN" altLang="en-US" sz="2200" b="1" dirty="0" smtClean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楷体" pitchFamily="49" charset="-122"/>
              </a:rPr>
              <a:t>　　</a:t>
            </a:r>
            <a:r>
              <a:rPr lang="en-US" altLang="zh-CN" sz="2200" b="1" dirty="0" smtClean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楷体" pitchFamily="49" charset="-122"/>
              </a:rPr>
              <a:t>)</a:t>
            </a:r>
          </a:p>
          <a:p>
            <a:pPr marL="0" marR="0" lvl="0" indent="266700" algn="l" defTabSz="914400" rtl="0" eaLnBrk="0" font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628900" algn="l"/>
              </a:tabLst>
            </a:pPr>
            <a:r>
              <a:rPr lang="en-US" altLang="zh-CN" sz="2200" b="1" dirty="0" smtClean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楷体" pitchFamily="49" charset="-122"/>
              </a:rPr>
              <a:t>     A</a:t>
            </a:r>
            <a:r>
              <a:rPr lang="zh-CN" altLang="en-US" sz="2200" b="1" dirty="0" smtClean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楷体" pitchFamily="49" charset="-122"/>
              </a:rPr>
              <a:t>．甲 	    </a:t>
            </a:r>
            <a:r>
              <a:rPr lang="en-US" altLang="zh-CN" sz="2200" b="1" dirty="0" smtClean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  <a:cs typeface="楷体" pitchFamily="49" charset="-122"/>
              </a:rPr>
              <a:t>B</a:t>
            </a:r>
            <a:r>
              <a:rPr lang="zh-CN" altLang="en-US" sz="2200" b="1" dirty="0" smtClean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  <a:cs typeface="楷体" pitchFamily="49" charset="-122"/>
              </a:rPr>
              <a:t>．乙 </a:t>
            </a:r>
            <a:r>
              <a:rPr lang="zh-CN" altLang="en-US" sz="2200" b="1" dirty="0" smtClean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楷体" pitchFamily="49" charset="-122"/>
              </a:rPr>
              <a:t>      </a:t>
            </a:r>
            <a:r>
              <a:rPr lang="zh-CN" altLang="en-US" sz="2200" b="1" dirty="0" smtClean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楷体" pitchFamily="49" charset="-122"/>
              </a:rPr>
              <a:t>    </a:t>
            </a:r>
            <a:r>
              <a:rPr lang="en-US" altLang="zh-CN" sz="2200" b="1" dirty="0" smtClean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楷体" pitchFamily="49" charset="-122"/>
              </a:rPr>
              <a:t>C</a:t>
            </a:r>
            <a:r>
              <a:rPr lang="zh-CN" altLang="en-US" sz="2200" b="1" dirty="0" smtClean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楷体" pitchFamily="49" charset="-122"/>
              </a:rPr>
              <a:t>．丙 	</a:t>
            </a:r>
            <a:r>
              <a:rPr lang="zh-CN" altLang="en-US" sz="2200" b="1" dirty="0" smtClean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楷体" pitchFamily="49" charset="-122"/>
              </a:rPr>
              <a:t>      </a:t>
            </a:r>
            <a:r>
              <a:rPr lang="en-US" altLang="zh-CN" sz="2200" b="1" dirty="0" smtClean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楷体" pitchFamily="49" charset="-122"/>
              </a:rPr>
              <a:t>D</a:t>
            </a:r>
            <a:r>
              <a:rPr lang="zh-CN" altLang="en-US" sz="2200" b="1" dirty="0" smtClean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楷体" pitchFamily="49" charset="-122"/>
              </a:rPr>
              <a:t>．丁</a:t>
            </a:r>
          </a:p>
          <a:p>
            <a:pPr marL="0" marR="0" lvl="0" indent="266700" algn="l" defTabSz="914400" rtl="0" eaLnBrk="0" font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628900" algn="l"/>
              </a:tabLst>
            </a:pPr>
            <a:r>
              <a:rPr lang="en-US" altLang="zh-CN" sz="2200" b="1" dirty="0" smtClean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楷体" pitchFamily="49" charset="-122"/>
              </a:rPr>
              <a:t>18</a:t>
            </a:r>
            <a:r>
              <a:rPr lang="zh-CN" altLang="en-US" sz="2200" b="1" dirty="0" smtClean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楷体" pitchFamily="49" charset="-122"/>
              </a:rPr>
              <a:t>．推测目前没有大规模开采渤海海冰的原因是</a:t>
            </a:r>
          </a:p>
          <a:p>
            <a:pPr lvl="0" indent="266700" fontAlgn="ctr">
              <a:spcBef>
                <a:spcPct val="0"/>
              </a:spcBef>
              <a:spcAft>
                <a:spcPct val="0"/>
              </a:spcAft>
            </a:pPr>
            <a:r>
              <a:rPr lang="en-US" altLang="zh-CN" sz="2200" b="1" dirty="0" smtClean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楷体" pitchFamily="49" charset="-122"/>
              </a:rPr>
              <a:t>    A</a:t>
            </a:r>
            <a:r>
              <a:rPr lang="zh-CN" altLang="en-US" sz="2200" b="1" dirty="0" smtClean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楷体" pitchFamily="49" charset="-122"/>
              </a:rPr>
              <a:t>．资源量不足 	</a:t>
            </a:r>
            <a:r>
              <a:rPr lang="zh-CN" altLang="en-US" sz="2200" b="1" dirty="0" smtClean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楷体" pitchFamily="49" charset="-122"/>
              </a:rPr>
              <a:t>                        </a:t>
            </a:r>
            <a:r>
              <a:rPr lang="en-US" altLang="zh-CN" sz="2200" b="1" dirty="0" smtClean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楷体" pitchFamily="49" charset="-122"/>
              </a:rPr>
              <a:t>B</a:t>
            </a:r>
            <a:r>
              <a:rPr lang="zh-CN" altLang="en-US" sz="2200" b="1" dirty="0" smtClean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楷体" pitchFamily="49" charset="-122"/>
              </a:rPr>
              <a:t>．破坏环境</a:t>
            </a:r>
          </a:p>
          <a:p>
            <a:pPr lvl="0" indent="2667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200" b="1" dirty="0" smtClean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楷体" pitchFamily="49" charset="-122"/>
              </a:rPr>
              <a:t>    C</a:t>
            </a:r>
            <a:r>
              <a:rPr lang="zh-CN" altLang="en-US" sz="2200" b="1" dirty="0" smtClean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楷体" pitchFamily="49" charset="-122"/>
              </a:rPr>
              <a:t>．成本过高 </a:t>
            </a:r>
            <a:r>
              <a:rPr lang="zh-CN" altLang="en-US" sz="2200" b="1" dirty="0" smtClean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楷体" pitchFamily="49" charset="-122"/>
              </a:rPr>
              <a:t>                               </a:t>
            </a:r>
            <a:r>
              <a:rPr lang="en-US" altLang="zh-CN" sz="2200" b="1" dirty="0" smtClean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楷体" pitchFamily="49" charset="-122"/>
              </a:rPr>
              <a:t>D</a:t>
            </a:r>
            <a:r>
              <a:rPr lang="zh-CN" altLang="en-US" sz="2200" b="1" dirty="0" smtClean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楷体" pitchFamily="49" charset="-122"/>
              </a:rPr>
              <a:t>．市场需求不足 </a:t>
            </a:r>
          </a:p>
        </p:txBody>
      </p:sp>
      <p:sp>
        <p:nvSpPr>
          <p:cNvPr id="3078" name="Rectangle 6"/>
          <p:cNvSpPr>
            <a:spLocks noChangeArrowheads="1"/>
          </p:cNvSpPr>
          <p:nvPr/>
        </p:nvSpPr>
        <p:spPr bwMode="auto">
          <a:xfrm>
            <a:off x="4139952" y="2708920"/>
            <a:ext cx="5004048" cy="35394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628900" algn="l"/>
              </a:tabLst>
            </a:pPr>
            <a:r>
              <a:rPr kumimoji="0" lang="en-US" altLang="zh-CN" sz="16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16.</a:t>
            </a:r>
            <a:r>
              <a:rPr kumimoji="0" lang="zh-CN" altLang="en-US" sz="16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结合所学知识可知，年平均气温≤－</a:t>
            </a:r>
            <a:r>
              <a:rPr kumimoji="0" lang="en-US" altLang="zh-CN" sz="16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4℃</a:t>
            </a:r>
            <a:r>
              <a:rPr kumimoji="0" lang="zh-CN" altLang="en-US" sz="16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日数越多，海冰厚度越大，图中甲、乙两海域年平均气温≤－</a:t>
            </a:r>
            <a:r>
              <a:rPr kumimoji="0" lang="en-US" altLang="zh-CN" sz="16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4℃</a:t>
            </a:r>
            <a:r>
              <a:rPr kumimoji="0" lang="zh-CN" altLang="en-US" sz="16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日数都在</a:t>
            </a:r>
            <a:r>
              <a:rPr kumimoji="0" lang="en-US" altLang="zh-CN" sz="16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20</a:t>
            </a:r>
            <a:r>
              <a:rPr kumimoji="0" lang="zh-CN" altLang="en-US" sz="16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到</a:t>
            </a:r>
            <a:r>
              <a:rPr kumimoji="0" lang="en-US" altLang="zh-CN" sz="16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40</a:t>
            </a:r>
            <a:r>
              <a:rPr kumimoji="0" lang="zh-CN" altLang="en-US" sz="16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之间，但乙海域位于近海，受海洋的影响小，受陆地的影响大</a:t>
            </a:r>
            <a:r>
              <a:rPr kumimoji="0" lang="en-US" altLang="zh-CN" sz="16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(</a:t>
            </a:r>
            <a:r>
              <a:rPr kumimoji="0" lang="zh-CN" altLang="en-US" sz="16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且附近可能有河流注入，海水盐度小</a:t>
            </a:r>
            <a:r>
              <a:rPr kumimoji="0" lang="en-US" altLang="zh-CN" sz="16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)</a:t>
            </a:r>
            <a:r>
              <a:rPr kumimoji="0" lang="zh-CN" altLang="en-US" sz="16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；甲海域距离陆地远，受海洋影响大，所以乙海域海冰厚度最大。故选</a:t>
            </a:r>
            <a:r>
              <a:rPr kumimoji="0" lang="en-US" altLang="zh-CN" sz="16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B</a:t>
            </a:r>
            <a:endParaRPr kumimoji="0" lang="en-US" altLang="zh-CN" sz="1600" b="1" i="0" u="none" strike="noStrike" cap="none" normalizeH="0" baseline="0" dirty="0" smtClean="0">
              <a:ln>
                <a:noFill/>
              </a:ln>
              <a:solidFill>
                <a:srgbClr val="FF0000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628900" algn="l"/>
              </a:tabLst>
            </a:pPr>
            <a:r>
              <a:rPr kumimoji="0" lang="en-US" altLang="zh-CN" sz="16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17.</a:t>
            </a:r>
            <a:r>
              <a:rPr kumimoji="0" lang="zh-CN" altLang="en-US" sz="16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单位面积海冰资源越丰富，说明海冰厚度越大，结冰时间越长。葫芦岛附近海域年平均气温≤－</a:t>
            </a:r>
            <a:r>
              <a:rPr kumimoji="0" lang="en-US" altLang="zh-CN" sz="16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4 ℃</a:t>
            </a:r>
            <a:r>
              <a:rPr kumimoji="0" lang="zh-CN" altLang="en-US" sz="16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日数大于</a:t>
            </a:r>
            <a:r>
              <a:rPr kumimoji="0" lang="en-US" altLang="zh-CN" sz="16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60</a:t>
            </a:r>
            <a:r>
              <a:rPr kumimoji="0" lang="zh-CN" altLang="en-US" sz="16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，因此，是四城市附近海域中单位面积海冰资源最丰富的。故选</a:t>
            </a:r>
            <a:r>
              <a:rPr kumimoji="0" lang="en-US" altLang="zh-CN" sz="16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A</a:t>
            </a:r>
            <a:endParaRPr kumimoji="0" lang="en-US" altLang="zh-CN" sz="1600" b="1" i="0" u="none" strike="noStrike" cap="none" normalizeH="0" baseline="0" dirty="0" smtClean="0">
              <a:ln>
                <a:noFill/>
              </a:ln>
              <a:solidFill>
                <a:srgbClr val="FF0000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628900" algn="l"/>
              </a:tabLst>
            </a:pPr>
            <a:r>
              <a:rPr kumimoji="0" lang="en-US" altLang="zh-CN" sz="16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18.</a:t>
            </a:r>
            <a:r>
              <a:rPr kumimoji="0" lang="zh-CN" altLang="en-US" sz="16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我国北方地区淡水资源短缺，淡水市场需求量大；开发海冰对环境基本上没有破坏；目前没有大规模开发海冰资源，主要是因为技术有限，开采利用成本太高。故选</a:t>
            </a:r>
            <a:r>
              <a:rPr kumimoji="0" lang="en-US" altLang="zh-CN" sz="16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C</a:t>
            </a:r>
            <a:endParaRPr kumimoji="0" lang="en-US" altLang="zh-CN" sz="1600" b="1" i="0" u="none" strike="noStrike" cap="none" normalizeH="0" baseline="0" dirty="0" smtClean="0">
              <a:ln>
                <a:noFill/>
              </a:ln>
              <a:solidFill>
                <a:srgbClr val="FF0000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4427984" y="1700808"/>
            <a:ext cx="4326726" cy="432048"/>
            <a:chOff x="4427984" y="1700808"/>
            <a:chExt cx="4326726" cy="432048"/>
          </a:xfrm>
        </p:grpSpPr>
        <p:sp>
          <p:nvSpPr>
            <p:cNvPr id="8" name="椭圆 7"/>
            <p:cNvSpPr/>
            <p:nvPr/>
          </p:nvSpPr>
          <p:spPr>
            <a:xfrm>
              <a:off x="4427984" y="1700808"/>
              <a:ext cx="1872208" cy="432048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6300192" y="1700808"/>
              <a:ext cx="2454518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200" b="1" dirty="0" smtClean="0">
                  <a:solidFill>
                    <a:srgbClr val="FF0000"/>
                  </a:solidFill>
                  <a:latin typeface="Times New Roman" pitchFamily="18" charset="0"/>
                  <a:ea typeface="宋体" pitchFamily="2" charset="-122"/>
                  <a:cs typeface="楷体" pitchFamily="49" charset="-122"/>
                </a:rPr>
                <a:t>海冰：海洋灾害！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9" name="Rectangle 1"/>
          <p:cNvSpPr>
            <a:spLocks noChangeArrowheads="1"/>
          </p:cNvSpPr>
          <p:nvPr/>
        </p:nvSpPr>
        <p:spPr bwMode="auto">
          <a:xfrm>
            <a:off x="0" y="0"/>
            <a:ext cx="8964488" cy="21236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2667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sz="2200" b="1" dirty="0" smtClean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楷体" pitchFamily="49" charset="-122"/>
              </a:rPr>
              <a:t>下图为</a:t>
            </a:r>
            <a:r>
              <a:rPr lang="zh-CN" altLang="en-US" sz="2200" b="1" dirty="0" smtClean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楷体" pitchFamily="49" charset="-122"/>
              </a:rPr>
              <a:t>“我国某城市不同年份各年龄段人口数量占比图”。读图回答</a:t>
            </a:r>
            <a:r>
              <a:rPr lang="en-US" altLang="zh-CN" sz="2200" b="1" dirty="0" smtClean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楷体" pitchFamily="49" charset="-122"/>
              </a:rPr>
              <a:t>19-20</a:t>
            </a:r>
            <a:r>
              <a:rPr lang="zh-CN" altLang="en-US" sz="2200" b="1" dirty="0" smtClean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楷体" pitchFamily="49" charset="-122"/>
              </a:rPr>
              <a:t>题。</a:t>
            </a:r>
          </a:p>
          <a:p>
            <a:pPr marL="0" marR="0" lvl="0" indent="266700" algn="l" defTabSz="914400" rtl="0" eaLnBrk="0" font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2200" b="1" dirty="0" smtClean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楷体" pitchFamily="49" charset="-122"/>
              </a:rPr>
              <a:t>19.</a:t>
            </a:r>
            <a:r>
              <a:rPr lang="zh-CN" altLang="en-US" sz="2200" b="1" dirty="0" smtClean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楷体" pitchFamily="49" charset="-122"/>
              </a:rPr>
              <a:t>与</a:t>
            </a:r>
            <a:r>
              <a:rPr lang="en-US" altLang="zh-CN" sz="2200" b="1" dirty="0" smtClean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楷体" pitchFamily="49" charset="-122"/>
              </a:rPr>
              <a:t>2000</a:t>
            </a:r>
            <a:r>
              <a:rPr lang="zh-CN" altLang="en-US" sz="2200" b="1" dirty="0" smtClean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楷体" pitchFamily="49" charset="-122"/>
              </a:rPr>
              <a:t>年相比，</a:t>
            </a:r>
            <a:r>
              <a:rPr lang="en-US" altLang="zh-CN" sz="2200" b="1" dirty="0" smtClean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楷体" pitchFamily="49" charset="-122"/>
              </a:rPr>
              <a:t>2016</a:t>
            </a:r>
            <a:r>
              <a:rPr lang="zh-CN" altLang="en-US" sz="2200" b="1" dirty="0" smtClean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楷体" pitchFamily="49" charset="-122"/>
              </a:rPr>
              <a:t>年该城市</a:t>
            </a:r>
          </a:p>
          <a:p>
            <a:pPr marL="0" marR="0" lvl="0" indent="266700" algn="l" defTabSz="914400" rtl="0" eaLnBrk="0" font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2200" b="1" dirty="0" smtClean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楷体" pitchFamily="49" charset="-122"/>
              </a:rPr>
              <a:t>   A</a:t>
            </a:r>
            <a:r>
              <a:rPr lang="en-US" altLang="zh-CN" sz="2200" b="1" dirty="0" smtClean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楷体" pitchFamily="49" charset="-122"/>
              </a:rPr>
              <a:t>.</a:t>
            </a:r>
            <a:r>
              <a:rPr lang="zh-CN" altLang="en-US" sz="2200" b="1" dirty="0" smtClean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楷体" pitchFamily="49" charset="-122"/>
              </a:rPr>
              <a:t>人口总数</a:t>
            </a:r>
            <a:r>
              <a:rPr lang="zh-CN" altLang="en-US" sz="2200" b="1" dirty="0" smtClean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楷体" pitchFamily="49" charset="-122"/>
              </a:rPr>
              <a:t>减少    </a:t>
            </a:r>
            <a:r>
              <a:rPr lang="en-US" altLang="zh-CN" sz="2200" b="1" dirty="0" smtClean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楷体" pitchFamily="49" charset="-122"/>
              </a:rPr>
              <a:t>B</a:t>
            </a:r>
            <a:r>
              <a:rPr lang="en-US" altLang="zh-CN" sz="2200" b="1" dirty="0" smtClean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楷体" pitchFamily="49" charset="-122"/>
              </a:rPr>
              <a:t>.</a:t>
            </a:r>
            <a:r>
              <a:rPr lang="zh-CN" altLang="en-US" sz="2200" b="1" dirty="0" smtClean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楷体" pitchFamily="49" charset="-122"/>
              </a:rPr>
              <a:t>老龄化</a:t>
            </a:r>
            <a:r>
              <a:rPr lang="zh-CN" altLang="en-US" sz="2200" b="1" dirty="0" smtClean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楷体" pitchFamily="49" charset="-122"/>
              </a:rPr>
              <a:t>突出    </a:t>
            </a:r>
            <a:r>
              <a:rPr lang="en-US" altLang="zh-CN" sz="2200" b="1" dirty="0" smtClean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楷体" pitchFamily="49" charset="-122"/>
              </a:rPr>
              <a:t>C</a:t>
            </a:r>
            <a:r>
              <a:rPr lang="en-US" altLang="zh-CN" sz="2200" b="1" dirty="0" smtClean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楷体" pitchFamily="49" charset="-122"/>
              </a:rPr>
              <a:t>.</a:t>
            </a:r>
            <a:r>
              <a:rPr lang="zh-CN" altLang="en-US" sz="2200" b="1" dirty="0" smtClean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楷体" pitchFamily="49" charset="-122"/>
              </a:rPr>
              <a:t>平均年龄</a:t>
            </a:r>
            <a:r>
              <a:rPr lang="zh-CN" altLang="en-US" sz="2200" b="1" dirty="0" smtClean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楷体" pitchFamily="49" charset="-122"/>
              </a:rPr>
              <a:t>减小    </a:t>
            </a:r>
            <a:r>
              <a:rPr lang="en-US" altLang="zh-CN" sz="2200" b="1" dirty="0" smtClean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  <a:cs typeface="楷体" pitchFamily="49" charset="-122"/>
              </a:rPr>
              <a:t>D.</a:t>
            </a:r>
            <a:r>
              <a:rPr lang="zh-CN" altLang="en-US" sz="2200" b="1" dirty="0" smtClean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  <a:cs typeface="楷体" pitchFamily="49" charset="-122"/>
              </a:rPr>
              <a:t>劳动力增多</a:t>
            </a:r>
          </a:p>
          <a:p>
            <a:pPr marL="0" marR="0" lvl="0" indent="266700" algn="l" defTabSz="914400" rtl="0" eaLnBrk="0" font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2200" b="1" dirty="0" smtClean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楷体" pitchFamily="49" charset="-122"/>
              </a:rPr>
              <a:t>20.</a:t>
            </a:r>
            <a:r>
              <a:rPr lang="zh-CN" altLang="en-US" sz="2200" b="1" dirty="0" smtClean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楷体" pitchFamily="49" charset="-122"/>
              </a:rPr>
              <a:t>影响该城市人口年龄结构变化的主要因素是</a:t>
            </a:r>
          </a:p>
          <a:p>
            <a:pPr marL="0" marR="0" lvl="0" indent="266700" algn="l" defTabSz="914400" rtl="0" eaLnBrk="0" font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2200" b="1" dirty="0" smtClean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楷体" pitchFamily="49" charset="-122"/>
              </a:rPr>
              <a:t>   A</a:t>
            </a:r>
            <a:r>
              <a:rPr lang="en-US" altLang="zh-CN" sz="2200" b="1" dirty="0" smtClean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楷体" pitchFamily="49" charset="-122"/>
              </a:rPr>
              <a:t>.</a:t>
            </a:r>
            <a:r>
              <a:rPr lang="zh-CN" altLang="en-US" sz="2200" b="1" dirty="0" smtClean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楷体" pitchFamily="49" charset="-122"/>
              </a:rPr>
              <a:t>自然增长 </a:t>
            </a:r>
            <a:r>
              <a:rPr lang="zh-CN" altLang="en-US" sz="2200" b="1" dirty="0" smtClean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楷体" pitchFamily="49" charset="-122"/>
              </a:rPr>
              <a:t>           </a:t>
            </a:r>
            <a:r>
              <a:rPr lang="en-US" altLang="zh-CN" sz="2200" b="1" dirty="0" smtClean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楷体" pitchFamily="49" charset="-122"/>
              </a:rPr>
              <a:t>B</a:t>
            </a:r>
            <a:r>
              <a:rPr lang="en-US" altLang="zh-CN" sz="2200" b="1" dirty="0" smtClean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楷体" pitchFamily="49" charset="-122"/>
              </a:rPr>
              <a:t>.</a:t>
            </a:r>
            <a:r>
              <a:rPr lang="zh-CN" altLang="en-US" sz="2200" b="1" dirty="0" smtClean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楷体" pitchFamily="49" charset="-122"/>
              </a:rPr>
              <a:t>医疗</a:t>
            </a:r>
            <a:r>
              <a:rPr lang="zh-CN" altLang="en-US" sz="2200" b="1" dirty="0" smtClean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楷体" pitchFamily="49" charset="-122"/>
              </a:rPr>
              <a:t>水平         </a:t>
            </a:r>
            <a:r>
              <a:rPr lang="en-US" altLang="zh-CN" sz="2200" b="1" dirty="0" smtClean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  <a:cs typeface="楷体" pitchFamily="49" charset="-122"/>
              </a:rPr>
              <a:t>C.</a:t>
            </a:r>
            <a:r>
              <a:rPr lang="zh-CN" altLang="en-US" sz="2200" b="1" dirty="0" smtClean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  <a:cs typeface="楷体" pitchFamily="49" charset="-122"/>
              </a:rPr>
              <a:t>机械增长 </a:t>
            </a:r>
            <a:r>
              <a:rPr lang="zh-CN" altLang="en-US" sz="2200" b="1" dirty="0" smtClean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楷体" pitchFamily="49" charset="-122"/>
              </a:rPr>
              <a:t>	  </a:t>
            </a:r>
            <a:r>
              <a:rPr lang="zh-CN" altLang="en-US" sz="2200" b="1" dirty="0" smtClean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楷体" pitchFamily="49" charset="-122"/>
              </a:rPr>
              <a:t>     </a:t>
            </a:r>
            <a:r>
              <a:rPr lang="en-US" altLang="zh-CN" sz="2200" b="1" dirty="0" smtClean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楷体" pitchFamily="49" charset="-122"/>
              </a:rPr>
              <a:t>D</a:t>
            </a:r>
            <a:r>
              <a:rPr lang="en-US" altLang="zh-CN" sz="2200" b="1" dirty="0" smtClean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楷体" pitchFamily="49" charset="-122"/>
              </a:rPr>
              <a:t>.</a:t>
            </a:r>
            <a:r>
              <a:rPr lang="zh-CN" altLang="en-US" sz="2200" b="1" dirty="0" smtClean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楷体" pitchFamily="49" charset="-122"/>
              </a:rPr>
              <a:t>生育观念</a:t>
            </a:r>
          </a:p>
        </p:txBody>
      </p:sp>
      <p:pic>
        <p:nvPicPr>
          <p:cNvPr id="3" name="图片 2" descr="说明: 19D40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7504" y="2852936"/>
            <a:ext cx="5832648" cy="38164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5940152" y="2801834"/>
            <a:ext cx="3203848" cy="32932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628900" algn="l"/>
              </a:tabLst>
            </a:pPr>
            <a:r>
              <a:rPr lang="en-US" altLang="zh-CN" sz="1600" b="1" dirty="0" smtClean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19.</a:t>
            </a:r>
            <a:r>
              <a:rPr lang="zh-CN" altLang="en-US" sz="1600" b="1" dirty="0" smtClean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图中显示的是人口占比变化，无法根据图示信息比较人口总数，</a:t>
            </a:r>
            <a:r>
              <a:rPr lang="en-US" altLang="zh-CN" sz="1600" b="1" dirty="0" smtClean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A</a:t>
            </a:r>
            <a:r>
              <a:rPr lang="zh-CN" altLang="en-US" sz="1600" b="1" dirty="0" smtClean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错误；</a:t>
            </a:r>
            <a:r>
              <a:rPr lang="zh-CN" altLang="en-US" sz="1600" b="1" u="sng" dirty="0" smtClean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由图可知</a:t>
            </a:r>
            <a:r>
              <a:rPr lang="en-US" altLang="zh-CN" sz="1600" b="1" u="sng" dirty="0" smtClean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2016</a:t>
            </a:r>
            <a:r>
              <a:rPr lang="zh-CN" altLang="en-US" sz="1600" b="1" u="sng" dirty="0" smtClean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年该城市</a:t>
            </a:r>
            <a:r>
              <a:rPr lang="en-US" altLang="zh-CN" sz="1600" b="1" u="sng" dirty="0" smtClean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60</a:t>
            </a:r>
            <a:r>
              <a:rPr lang="zh-CN" altLang="en-US" sz="1600" b="1" u="sng" dirty="0" smtClean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岁及以上人口占比不足</a:t>
            </a:r>
            <a:r>
              <a:rPr lang="en-US" altLang="zh-CN" sz="1600" b="1" u="sng" dirty="0" smtClean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5%</a:t>
            </a:r>
            <a:r>
              <a:rPr lang="zh-CN" altLang="en-US" sz="1600" b="1" u="sng" dirty="0" smtClean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，不存在老龄化问题，</a:t>
            </a:r>
            <a:r>
              <a:rPr lang="en-US" altLang="zh-CN" sz="1600" b="1" u="sng" dirty="0" smtClean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B</a:t>
            </a:r>
            <a:r>
              <a:rPr lang="zh-CN" altLang="en-US" sz="1600" b="1" u="sng" dirty="0" smtClean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错误；</a:t>
            </a:r>
            <a:r>
              <a:rPr lang="en-US" altLang="zh-CN" sz="1600" b="1" dirty="0" smtClean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2000</a:t>
            </a:r>
            <a:r>
              <a:rPr lang="zh-CN" altLang="en-US" sz="1600" b="1" dirty="0" smtClean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年</a:t>
            </a:r>
            <a:r>
              <a:rPr lang="en-US" altLang="zh-CN" sz="1600" b="1" dirty="0" smtClean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16</a:t>
            </a:r>
            <a:r>
              <a:rPr lang="zh-CN" altLang="en-US" sz="1600" b="1" dirty="0" smtClean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～</a:t>
            </a:r>
            <a:r>
              <a:rPr lang="en-US" altLang="zh-CN" sz="1600" b="1" dirty="0" smtClean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40</a:t>
            </a:r>
            <a:r>
              <a:rPr lang="zh-CN" altLang="en-US" sz="1600" b="1" dirty="0" smtClean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岁人口占比最高，约占</a:t>
            </a:r>
            <a:r>
              <a:rPr lang="en-US" altLang="zh-CN" sz="1600" b="1" dirty="0" smtClean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80%</a:t>
            </a:r>
            <a:r>
              <a:rPr lang="zh-CN" altLang="en-US" sz="1600" b="1" dirty="0" smtClean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，</a:t>
            </a:r>
            <a:r>
              <a:rPr lang="en-US" altLang="zh-CN" sz="1600" b="1" dirty="0" smtClean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2016</a:t>
            </a:r>
            <a:r>
              <a:rPr lang="zh-CN" altLang="en-US" sz="1600" b="1" dirty="0" smtClean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年</a:t>
            </a:r>
            <a:r>
              <a:rPr lang="en-US" altLang="zh-CN" sz="1600" b="1" dirty="0" smtClean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21</a:t>
            </a:r>
            <a:r>
              <a:rPr lang="zh-CN" altLang="en-US" sz="1600" b="1" dirty="0" smtClean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～</a:t>
            </a:r>
            <a:r>
              <a:rPr lang="en-US" altLang="zh-CN" sz="1600" b="1" dirty="0" smtClean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50</a:t>
            </a:r>
            <a:r>
              <a:rPr lang="zh-CN" altLang="en-US" sz="1600" b="1" dirty="0" smtClean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岁人口占比最高，说明人口平均年龄增加了，</a:t>
            </a:r>
            <a:r>
              <a:rPr lang="en-US" altLang="zh-CN" sz="1600" b="1" dirty="0" smtClean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C</a:t>
            </a:r>
            <a:r>
              <a:rPr lang="zh-CN" altLang="en-US" sz="1600" b="1" dirty="0" smtClean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错误；</a:t>
            </a:r>
            <a:r>
              <a:rPr lang="en-US" altLang="zh-CN" sz="1600" b="1" dirty="0" smtClean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2000</a:t>
            </a:r>
            <a:r>
              <a:rPr lang="zh-CN" altLang="en-US" sz="1600" b="1" dirty="0" smtClean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年该城市</a:t>
            </a:r>
            <a:r>
              <a:rPr lang="en-US" altLang="zh-CN" sz="1600" b="1" dirty="0" smtClean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25</a:t>
            </a:r>
            <a:r>
              <a:rPr lang="zh-CN" altLang="en-US" sz="1600" b="1" dirty="0" smtClean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岁及以下人口占比较大，该年龄段多数人口还没有参加工作，</a:t>
            </a:r>
            <a:r>
              <a:rPr lang="en-US" altLang="zh-CN" sz="1600" b="1" dirty="0" smtClean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2016</a:t>
            </a:r>
            <a:r>
              <a:rPr lang="zh-CN" altLang="en-US" sz="1600" b="1" dirty="0" smtClean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年</a:t>
            </a:r>
            <a:r>
              <a:rPr lang="en-US" altLang="zh-CN" sz="1600" b="1" dirty="0" smtClean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25</a:t>
            </a:r>
            <a:r>
              <a:rPr lang="zh-CN" altLang="en-US" sz="1600" b="1" dirty="0" smtClean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岁以上人口占比较大，该年龄段多数人口已经工作，故选</a:t>
            </a:r>
            <a:r>
              <a:rPr lang="en-US" altLang="zh-CN" sz="1600" b="1" dirty="0" smtClean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D</a:t>
            </a:r>
            <a:r>
              <a:rPr kumimoji="0" lang="zh-CN" altLang="en-US" sz="10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。</a:t>
            </a:r>
            <a:endParaRPr kumimoji="0" lang="zh-CN" alt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</p:txBody>
      </p:sp>
      <p:sp>
        <p:nvSpPr>
          <p:cNvPr id="5" name="椭圆 4"/>
          <p:cNvSpPr/>
          <p:nvPr/>
        </p:nvSpPr>
        <p:spPr>
          <a:xfrm>
            <a:off x="4499992" y="5013176"/>
            <a:ext cx="1224136" cy="936104"/>
          </a:xfrm>
          <a:prstGeom prst="ellipse">
            <a:avLst/>
          </a:prstGeom>
          <a:noFill/>
          <a:ln w="7620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0" y="2060848"/>
            <a:ext cx="9144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 smtClean="0">
                <a:solidFill>
                  <a:srgbClr val="0000FF"/>
                </a:solidFill>
              </a:rPr>
              <a:t>【</a:t>
            </a:r>
            <a:r>
              <a:rPr lang="zh-CN" altLang="en-US" b="1" dirty="0" smtClean="0">
                <a:solidFill>
                  <a:srgbClr val="0000FF"/>
                </a:solidFill>
              </a:rPr>
              <a:t>人口老龄化</a:t>
            </a:r>
            <a:r>
              <a:rPr lang="en-US" altLang="zh-CN" b="1" dirty="0" smtClean="0">
                <a:solidFill>
                  <a:srgbClr val="0000FF"/>
                </a:solidFill>
              </a:rPr>
              <a:t>】</a:t>
            </a:r>
            <a:r>
              <a:rPr lang="zh-CN" altLang="en-US" b="1" dirty="0" smtClean="0">
                <a:solidFill>
                  <a:srgbClr val="0000FF"/>
                </a:solidFill>
              </a:rPr>
              <a:t>当</a:t>
            </a:r>
            <a:r>
              <a:rPr lang="zh-CN" altLang="en-US" b="1" dirty="0" smtClean="0">
                <a:solidFill>
                  <a:srgbClr val="0000FF"/>
                </a:solidFill>
              </a:rPr>
              <a:t>一个国家或地区</a:t>
            </a:r>
            <a:r>
              <a:rPr lang="en-US" altLang="zh-CN" b="1" dirty="0" smtClean="0">
                <a:solidFill>
                  <a:srgbClr val="0000FF"/>
                </a:solidFill>
              </a:rPr>
              <a:t>60</a:t>
            </a:r>
            <a:r>
              <a:rPr lang="zh-CN" altLang="en-US" b="1" dirty="0" smtClean="0">
                <a:solidFill>
                  <a:srgbClr val="0000FF"/>
                </a:solidFill>
              </a:rPr>
              <a:t>岁以上老年人口占人口总数的</a:t>
            </a:r>
            <a:r>
              <a:rPr lang="en-US" altLang="zh-CN" b="1" dirty="0" smtClean="0">
                <a:solidFill>
                  <a:srgbClr val="0000FF"/>
                </a:solidFill>
              </a:rPr>
              <a:t>10%</a:t>
            </a:r>
            <a:r>
              <a:rPr lang="zh-CN" altLang="en-US" b="1" dirty="0" smtClean="0">
                <a:solidFill>
                  <a:srgbClr val="0000FF"/>
                </a:solidFill>
              </a:rPr>
              <a:t>，或</a:t>
            </a:r>
            <a:r>
              <a:rPr lang="en-US" altLang="zh-CN" b="1" dirty="0" smtClean="0">
                <a:solidFill>
                  <a:srgbClr val="0000FF"/>
                </a:solidFill>
              </a:rPr>
              <a:t>65</a:t>
            </a:r>
            <a:r>
              <a:rPr lang="zh-CN" altLang="en-US" b="1" dirty="0" smtClean="0">
                <a:solidFill>
                  <a:srgbClr val="0000FF"/>
                </a:solidFill>
              </a:rPr>
              <a:t>岁以上老年人口占人口总数的</a:t>
            </a:r>
            <a:r>
              <a:rPr lang="en-US" altLang="zh-CN" b="1" dirty="0" smtClean="0">
                <a:solidFill>
                  <a:srgbClr val="0000FF"/>
                </a:solidFill>
              </a:rPr>
              <a:t>7%</a:t>
            </a:r>
            <a:endParaRPr lang="zh-CN" altLang="en-US" b="1" dirty="0">
              <a:solidFill>
                <a:srgbClr val="0000FF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pic>
        <p:nvPicPr>
          <p:cNvPr id="25601" name="图片 3" descr="http://thumb.1010pic.com/pic6/res/GZDL/web/STSource/2018051307091035375522/SYS201805130709108915342277_ST/SYS201805130709108915342277_ST.001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3284984"/>
            <a:ext cx="3884373" cy="1900039"/>
          </a:xfrm>
          <a:prstGeom prst="rect">
            <a:avLst/>
          </a:prstGeom>
          <a:noFill/>
        </p:spPr>
      </p:pic>
      <p:sp>
        <p:nvSpPr>
          <p:cNvPr id="25603" name="Rectangle 3"/>
          <p:cNvSpPr>
            <a:spLocks noChangeArrowheads="1"/>
          </p:cNvSpPr>
          <p:nvPr/>
        </p:nvSpPr>
        <p:spPr bwMode="auto">
          <a:xfrm>
            <a:off x="0" y="116632"/>
            <a:ext cx="9144000" cy="31393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266700" algn="l" defTabSz="9144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2200" b="1" dirty="0" smtClean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楷体" pitchFamily="49" charset="-122"/>
              </a:rPr>
              <a:t>柑橘，性喜温暖湿润，</a:t>
            </a:r>
            <a:r>
              <a:rPr lang="zh-CN" altLang="en-US" sz="2200" b="1" dirty="0" smtClean="0">
                <a:solidFill>
                  <a:srgbClr val="0000FF"/>
                </a:solidFill>
                <a:latin typeface="Times New Roman" pitchFamily="18" charset="0"/>
                <a:ea typeface="宋体" pitchFamily="2" charset="-122"/>
                <a:cs typeface="楷体" pitchFamily="49" charset="-122"/>
              </a:rPr>
              <a:t>一般春季开花，</a:t>
            </a:r>
            <a:r>
              <a:rPr lang="en-US" altLang="zh-CN" sz="2200" b="1" dirty="0" smtClean="0">
                <a:solidFill>
                  <a:srgbClr val="0000FF"/>
                </a:solidFill>
                <a:latin typeface="Times New Roman" pitchFamily="18" charset="0"/>
                <a:ea typeface="宋体" pitchFamily="2" charset="-122"/>
                <a:cs typeface="楷体" pitchFamily="49" charset="-122"/>
              </a:rPr>
              <a:t>10-12</a:t>
            </a:r>
            <a:r>
              <a:rPr lang="zh-CN" altLang="en-US" sz="2200" b="1" dirty="0" smtClean="0">
                <a:solidFill>
                  <a:srgbClr val="0000FF"/>
                </a:solidFill>
                <a:latin typeface="Times New Roman" pitchFamily="18" charset="0"/>
                <a:ea typeface="宋体" pitchFamily="2" charset="-122"/>
                <a:cs typeface="楷体" pitchFamily="49" charset="-122"/>
              </a:rPr>
              <a:t>月果熟</a:t>
            </a:r>
            <a:r>
              <a:rPr lang="zh-CN" altLang="en-US" sz="2200" b="1" dirty="0" smtClean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楷体" pitchFamily="49" charset="-122"/>
              </a:rPr>
              <a:t>。“花果同树”是指果农用“</a:t>
            </a:r>
            <a:r>
              <a:rPr lang="zh-CN" altLang="en-US" sz="2200" b="1" dirty="0" smtClean="0">
                <a:solidFill>
                  <a:srgbClr val="0000FF"/>
                </a:solidFill>
                <a:latin typeface="Times New Roman" pitchFamily="18" charset="0"/>
                <a:ea typeface="宋体" pitchFamily="2" charset="-122"/>
                <a:cs typeface="楷体" pitchFamily="49" charset="-122"/>
              </a:rPr>
              <a:t>留树保鲜</a:t>
            </a:r>
            <a:r>
              <a:rPr lang="zh-CN" altLang="en-US" sz="2200" b="1" dirty="0" smtClean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楷体" pitchFamily="49" charset="-122"/>
              </a:rPr>
              <a:t>”技术（又称“挂树贮藏技术”），使鲜花和果实同时出现在果树上的</a:t>
            </a:r>
            <a:r>
              <a:rPr lang="zh-CN" altLang="en-US" sz="2200" b="1" dirty="0" smtClean="0">
                <a:solidFill>
                  <a:srgbClr val="0000FF"/>
                </a:solidFill>
                <a:latin typeface="Times New Roman" pitchFamily="18" charset="0"/>
                <a:ea typeface="宋体" pitchFamily="2" charset="-122"/>
                <a:cs typeface="楷体" pitchFamily="49" charset="-122"/>
              </a:rPr>
              <a:t>一种奇观，以供人们观赏</a:t>
            </a:r>
            <a:r>
              <a:rPr lang="zh-CN" altLang="en-US" sz="2200" b="1" dirty="0" smtClean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楷体" pitchFamily="49" charset="-122"/>
              </a:rPr>
              <a:t>。主要选择</a:t>
            </a:r>
            <a:r>
              <a:rPr lang="zh-CN" altLang="en-US" sz="2200" b="1" dirty="0" smtClean="0">
                <a:solidFill>
                  <a:srgbClr val="0000FF"/>
                </a:solidFill>
                <a:latin typeface="Times New Roman" pitchFamily="18" charset="0"/>
                <a:ea typeface="宋体" pitchFamily="2" charset="-122"/>
                <a:cs typeface="楷体" pitchFamily="49" charset="-122"/>
              </a:rPr>
              <a:t>晚熟柑橘品种实施该技术</a:t>
            </a:r>
            <a:r>
              <a:rPr lang="zh-CN" altLang="en-US" sz="2200" b="1" dirty="0" smtClean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楷体" pitchFamily="49" charset="-122"/>
              </a:rPr>
              <a:t>。下图是某旅游爱好者拍摄的我国某地的“花果同树”景观。读图完成</a:t>
            </a:r>
            <a:r>
              <a:rPr lang="en-US" altLang="zh-CN" sz="2200" b="1" dirty="0" smtClean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楷体" pitchFamily="49" charset="-122"/>
              </a:rPr>
              <a:t>23-25</a:t>
            </a:r>
            <a:r>
              <a:rPr lang="zh-CN" altLang="en-US" sz="2200" b="1" dirty="0" smtClean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楷体" pitchFamily="49" charset="-122"/>
              </a:rPr>
              <a:t>题。</a:t>
            </a:r>
          </a:p>
          <a:p>
            <a:pPr marL="0" marR="0" lvl="0" indent="2667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2200" b="1" dirty="0" smtClean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楷体" pitchFamily="49" charset="-122"/>
              </a:rPr>
              <a:t>23. </a:t>
            </a:r>
            <a:r>
              <a:rPr lang="zh-CN" altLang="en-US" sz="2200" b="1" dirty="0" smtClean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楷体" pitchFamily="49" charset="-122"/>
              </a:rPr>
              <a:t>游客欣赏“花果同树”景观的季节可能是</a:t>
            </a:r>
          </a:p>
          <a:p>
            <a:pPr marL="0" marR="0" lvl="0" indent="2667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2200" b="1" dirty="0" smtClean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楷体" pitchFamily="49" charset="-122"/>
              </a:rPr>
              <a:t>A</a:t>
            </a:r>
            <a:r>
              <a:rPr lang="zh-CN" altLang="en-US" sz="2200" b="1" dirty="0" smtClean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楷体" pitchFamily="49" charset="-122"/>
              </a:rPr>
              <a:t>．春季            </a:t>
            </a:r>
            <a:r>
              <a:rPr lang="zh-CN" altLang="en-US" sz="2200" b="1" dirty="0" smtClean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楷体" pitchFamily="49" charset="-122"/>
              </a:rPr>
              <a:t>    </a:t>
            </a:r>
            <a:r>
              <a:rPr lang="en-US" altLang="zh-CN" sz="2200" b="1" dirty="0" smtClean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楷体" pitchFamily="49" charset="-122"/>
              </a:rPr>
              <a:t>B</a:t>
            </a:r>
            <a:r>
              <a:rPr lang="en-US" altLang="zh-CN" sz="2200" b="1" dirty="0" smtClean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楷体" pitchFamily="49" charset="-122"/>
              </a:rPr>
              <a:t>.</a:t>
            </a:r>
            <a:r>
              <a:rPr lang="zh-CN" altLang="en-US" sz="2200" b="1" dirty="0" smtClean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楷体" pitchFamily="49" charset="-122"/>
              </a:rPr>
              <a:t>夏季             </a:t>
            </a:r>
            <a:r>
              <a:rPr lang="zh-CN" altLang="en-US" sz="2200" b="1" dirty="0" smtClean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楷体" pitchFamily="49" charset="-122"/>
              </a:rPr>
              <a:t>    </a:t>
            </a:r>
            <a:r>
              <a:rPr lang="en-US" altLang="zh-CN" sz="2200" b="1" dirty="0" smtClean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楷体" pitchFamily="49" charset="-122"/>
              </a:rPr>
              <a:t>C</a:t>
            </a:r>
            <a:r>
              <a:rPr lang="en-US" altLang="zh-CN" sz="2200" b="1" dirty="0" smtClean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楷体" pitchFamily="49" charset="-122"/>
              </a:rPr>
              <a:t>. </a:t>
            </a:r>
            <a:r>
              <a:rPr lang="zh-CN" altLang="en-US" sz="2200" b="1" dirty="0" smtClean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楷体" pitchFamily="49" charset="-122"/>
              </a:rPr>
              <a:t>秋季            </a:t>
            </a:r>
            <a:r>
              <a:rPr lang="zh-CN" altLang="en-US" sz="2200" b="1" dirty="0" smtClean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楷体" pitchFamily="49" charset="-122"/>
              </a:rPr>
              <a:t>          </a:t>
            </a:r>
            <a:r>
              <a:rPr lang="en-US" altLang="zh-CN" sz="2200" b="1" dirty="0" smtClean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楷体" pitchFamily="49" charset="-122"/>
              </a:rPr>
              <a:t>D</a:t>
            </a:r>
            <a:r>
              <a:rPr lang="en-US" altLang="zh-CN" sz="2200" b="1" dirty="0" smtClean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楷体" pitchFamily="49" charset="-122"/>
              </a:rPr>
              <a:t>.</a:t>
            </a:r>
            <a:r>
              <a:rPr lang="zh-CN" altLang="en-US" sz="2200" b="1" dirty="0" smtClean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楷体" pitchFamily="49" charset="-122"/>
              </a:rPr>
              <a:t>冬季</a:t>
            </a:r>
          </a:p>
          <a:p>
            <a:pPr marL="0" marR="0" lvl="0" indent="2667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2200" b="1" dirty="0" smtClean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楷体" pitchFamily="49" charset="-122"/>
              </a:rPr>
              <a:t>24. </a:t>
            </a:r>
            <a:r>
              <a:rPr lang="zh-CN" altLang="en-US" sz="2200" b="1" dirty="0" smtClean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楷体" pitchFamily="49" charset="-122"/>
              </a:rPr>
              <a:t>下列地区最有利于果农实施“留树保鲜”技术的是</a:t>
            </a:r>
          </a:p>
          <a:p>
            <a:pPr marL="0" marR="0" lvl="0" indent="2667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2200" b="1" dirty="0" smtClean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楷体" pitchFamily="49" charset="-122"/>
              </a:rPr>
              <a:t>A</a:t>
            </a:r>
            <a:r>
              <a:rPr lang="zh-CN" altLang="en-US" sz="2200" b="1" dirty="0" smtClean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楷体" pitchFamily="49" charset="-122"/>
              </a:rPr>
              <a:t>．东北平原        </a:t>
            </a:r>
            <a:r>
              <a:rPr lang="en-US" altLang="zh-CN" sz="2200" b="1" dirty="0" smtClean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楷体" pitchFamily="49" charset="-122"/>
              </a:rPr>
              <a:t>B. </a:t>
            </a:r>
            <a:r>
              <a:rPr lang="zh-CN" altLang="en-US" sz="2200" b="1" dirty="0" smtClean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楷体" pitchFamily="49" charset="-122"/>
              </a:rPr>
              <a:t>华北平原        </a:t>
            </a:r>
            <a:r>
              <a:rPr lang="en-US" altLang="zh-CN" sz="2200" b="1" dirty="0" smtClean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楷体" pitchFamily="49" charset="-122"/>
              </a:rPr>
              <a:t>C. </a:t>
            </a:r>
            <a:r>
              <a:rPr lang="zh-CN" altLang="en-US" sz="2200" b="1" dirty="0" smtClean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楷体" pitchFamily="49" charset="-122"/>
              </a:rPr>
              <a:t>长江中下游平原  </a:t>
            </a:r>
            <a:r>
              <a:rPr lang="en-US" altLang="zh-CN" sz="2200" b="1" dirty="0" smtClean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楷体" pitchFamily="49" charset="-122"/>
              </a:rPr>
              <a:t>D. </a:t>
            </a:r>
            <a:r>
              <a:rPr lang="zh-CN" altLang="en-US" sz="2200" b="1" dirty="0" smtClean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楷体" pitchFamily="49" charset="-122"/>
              </a:rPr>
              <a:t>成都平原</a:t>
            </a:r>
          </a:p>
        </p:txBody>
      </p:sp>
      <p:sp>
        <p:nvSpPr>
          <p:cNvPr id="25604" name="Rectangle 4"/>
          <p:cNvSpPr>
            <a:spLocks noChangeArrowheads="1"/>
          </p:cNvSpPr>
          <p:nvPr/>
        </p:nvSpPr>
        <p:spPr bwMode="auto">
          <a:xfrm>
            <a:off x="3923928" y="3284984"/>
            <a:ext cx="5220072" cy="3046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628900" algn="l"/>
              </a:tabLst>
            </a:pPr>
            <a:r>
              <a:rPr lang="en-US" altLang="zh-CN" sz="1600" b="1" dirty="0" smtClean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23. </a:t>
            </a:r>
            <a:r>
              <a:rPr lang="zh-CN" altLang="en-US" sz="1600" b="1" dirty="0" smtClean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读图可知，图中景观为柑橘，每年</a:t>
            </a:r>
            <a:r>
              <a:rPr lang="en-US" altLang="zh-CN" sz="1600" b="1" dirty="0" smtClean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12</a:t>
            </a:r>
            <a:r>
              <a:rPr lang="zh-CN" altLang="en-US" sz="1600" b="1" dirty="0" smtClean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月份脐橙成熟时，果农通过脐橙留树保鲜技术，把部分果实通过“留树保鲜”技术保留在树上，等到第二年春季脐橙花开后再采摘，所以花果同树的的观赏季节在春季，故</a:t>
            </a:r>
            <a:r>
              <a:rPr lang="en-US" altLang="zh-CN" sz="1600" b="1" dirty="0" smtClean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A</a:t>
            </a:r>
            <a:r>
              <a:rPr lang="zh-CN" altLang="en-US" sz="1600" b="1" dirty="0" smtClean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正确。江淮地区正迎来梅雨应为每年</a:t>
            </a:r>
            <a:r>
              <a:rPr lang="en-US" altLang="zh-CN" sz="1600" b="1" dirty="0" smtClean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5</a:t>
            </a:r>
            <a:r>
              <a:rPr lang="zh-CN" altLang="en-US" sz="1600" b="1" dirty="0" smtClean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月末，</a:t>
            </a:r>
            <a:r>
              <a:rPr lang="en-US" altLang="zh-CN" sz="1600" b="1" dirty="0" smtClean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6</a:t>
            </a:r>
            <a:r>
              <a:rPr lang="zh-CN" altLang="en-US" sz="1600" b="1" dirty="0" smtClean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月初；山东丘陵地区收获苹果的季节为秋季；华北平原银装素裹为冬季。故</a:t>
            </a:r>
            <a:r>
              <a:rPr lang="en-US" altLang="zh-CN" sz="1600" b="1" dirty="0" smtClean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B</a:t>
            </a:r>
            <a:r>
              <a:rPr lang="zh-CN" altLang="en-US" sz="1600" b="1" dirty="0" smtClean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、</a:t>
            </a:r>
            <a:r>
              <a:rPr lang="en-US" altLang="zh-CN" sz="1600" b="1" dirty="0" smtClean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C</a:t>
            </a:r>
            <a:r>
              <a:rPr lang="zh-CN" altLang="en-US" sz="1600" b="1" dirty="0" smtClean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、</a:t>
            </a:r>
            <a:r>
              <a:rPr lang="en-US" altLang="zh-CN" sz="1600" b="1" dirty="0" smtClean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D</a:t>
            </a:r>
            <a:r>
              <a:rPr lang="zh-CN" altLang="en-US" sz="1600" b="1" dirty="0" smtClean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错误。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628900" algn="l"/>
              </a:tabLst>
            </a:pPr>
            <a:r>
              <a:rPr lang="en-US" altLang="zh-CN" sz="1600" b="1" dirty="0" smtClean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24. </a:t>
            </a:r>
            <a:r>
              <a:rPr lang="zh-CN" altLang="en-US" sz="1600" b="1" dirty="0" smtClean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黄果柑为晚熟的柑橘品种。柑橘为亚热带水果，晚熟品种需注意当地冻害的发生。成都平原北侧有秦岭、大巴山阻挡，冬季气温相对高，不受寒潮的影响，故</a:t>
            </a:r>
            <a:r>
              <a:rPr lang="en-US" altLang="zh-CN" sz="1600" b="1" dirty="0" smtClean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D</a:t>
            </a:r>
            <a:r>
              <a:rPr lang="zh-CN" altLang="en-US" sz="1600" b="1" dirty="0" smtClean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正确。郑州和沈阳为温带地区；长江中下游地区容易受寒潮影响，发生低温冻害。故</a:t>
            </a:r>
            <a:r>
              <a:rPr lang="en-US" altLang="zh-CN" sz="1600" b="1" dirty="0" smtClean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A</a:t>
            </a:r>
            <a:r>
              <a:rPr lang="zh-CN" altLang="en-US" sz="1600" b="1" dirty="0" smtClean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、</a:t>
            </a:r>
            <a:r>
              <a:rPr lang="en-US" altLang="zh-CN" sz="1600" b="1" dirty="0" smtClean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B</a:t>
            </a:r>
            <a:r>
              <a:rPr lang="zh-CN" altLang="en-US" sz="1600" b="1" dirty="0" smtClean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、</a:t>
            </a:r>
            <a:r>
              <a:rPr lang="en-US" altLang="zh-CN" sz="1600" b="1" dirty="0" smtClean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C</a:t>
            </a:r>
            <a:r>
              <a:rPr lang="zh-CN" altLang="en-US" sz="1600" b="1" dirty="0" smtClean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错误。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1251</Words>
  <Application>Microsoft Office PowerPoint</Application>
  <PresentationFormat>全屏显示(4:3)</PresentationFormat>
  <Paragraphs>82</Paragraphs>
  <Slides>8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9" baseType="lpstr">
      <vt:lpstr>Office 主题</vt:lpstr>
      <vt:lpstr>幻灯片 1</vt:lpstr>
      <vt:lpstr>幻灯片 2</vt:lpstr>
      <vt:lpstr>幻灯片 3</vt:lpstr>
      <vt:lpstr>幻灯片 4</vt:lpstr>
      <vt:lpstr>幻灯片 5</vt:lpstr>
      <vt:lpstr>幻灯片 6</vt:lpstr>
      <vt:lpstr>幻灯片 7</vt:lpstr>
      <vt:lpstr>幻灯片 8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Administrator</dc:creator>
  <cp:lastModifiedBy>Administrator</cp:lastModifiedBy>
  <cp:revision>12</cp:revision>
  <dcterms:created xsi:type="dcterms:W3CDTF">2020-11-29T23:54:48Z</dcterms:created>
  <dcterms:modified xsi:type="dcterms:W3CDTF">2020-11-30T00:39:26Z</dcterms:modified>
</cp:coreProperties>
</file>