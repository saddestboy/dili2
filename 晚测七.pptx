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sldIdLst>
    <p:sldId id="265" r:id="rId2"/>
    <p:sldId id="264" r:id="rId3"/>
    <p:sldId id="257" r:id="rId4"/>
    <p:sldId id="263" r:id="rId5"/>
    <p:sldId id="256" r:id="rId6"/>
    <p:sldId id="266" r:id="rId7"/>
    <p:sldId id="267" r:id="rId8"/>
    <p:sldId id="268" r:id="rId9"/>
    <p:sldId id="258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11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2020-11-13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3553" name="图片 1661162196" descr="figu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3789040"/>
            <a:ext cx="4736023" cy="3068960"/>
          </a:xfrm>
          <a:prstGeom prst="rect">
            <a:avLst/>
          </a:prstGeom>
          <a:noFill/>
        </p:spPr>
      </p:pic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0" y="0"/>
            <a:ext cx="91440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     </a:t>
            </a:r>
            <a:r>
              <a:rPr kumimoji="0" 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读下图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,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回答下面三题。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8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图中③所示山区是我国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第二大林区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,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但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树种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却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比东北林区丰富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,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其主要原因是③所示山区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A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年降水量大、气温高                  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光照和热量条件好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C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纬度低、地势起伏大                  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地壤肥沃、水源充足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" y="16288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       【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解析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8】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设问强调“树种丰富”，即种类多！东北林区是我国面积最大的林区。但是西南地区种类更丰富。就是因为纬度低，同时地势起伏大，气候的垂直差异大。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19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图片 700658743" descr="figure"/>
          <p:cNvPicPr>
            <a:picLocks noChangeAspect="1" noChangeArrowheads="1"/>
          </p:cNvPicPr>
          <p:nvPr/>
        </p:nvPicPr>
        <p:blipFill>
          <a:blip r:embed="rId2" cstate="print">
            <a:lum bright="-18000" contrast="42000"/>
          </a:blip>
          <a:srcRect/>
          <a:stretch>
            <a:fillRect/>
          </a:stretch>
        </p:blipFill>
        <p:spPr bwMode="auto">
          <a:xfrm>
            <a:off x="0" y="2060848"/>
            <a:ext cx="3995936" cy="3655430"/>
          </a:xfrm>
          <a:prstGeom prst="rect">
            <a:avLst/>
          </a:prstGeom>
          <a:noFill/>
        </p:spPr>
      </p:pic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0" y="404664"/>
            <a:ext cx="896448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66700" fontAlgn="ctr">
              <a:spcBef>
                <a:spcPct val="0"/>
              </a:spcBef>
              <a:spcAft>
                <a:spcPct val="0"/>
              </a:spcAft>
              <a:tabLst>
                <a:tab pos="1317625" algn="l"/>
                <a:tab pos="2636838" algn="l"/>
                <a:tab pos="3956050" algn="l"/>
              </a:tabLst>
            </a:pPr>
            <a:r>
              <a:rPr lang="en-US" altLang="zh-CN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    </a:t>
            </a:r>
            <a:r>
              <a:rPr lang="zh-CN" altLang="zh-CN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读我国某地年降水量等值线分布示意图</a:t>
            </a:r>
            <a:r>
              <a:rPr lang="en-US" altLang="zh-CN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(</a:t>
            </a:r>
            <a:r>
              <a:rPr lang="zh-CN" altLang="en-US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下图</a:t>
            </a:r>
            <a:r>
              <a:rPr lang="en-US" altLang="zh-CN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)</a:t>
            </a:r>
            <a:r>
              <a:rPr lang="zh-CN" altLang="en-US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，完成下面各题。</a:t>
            </a:r>
          </a:p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lang="en-US" altLang="zh-CN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9</a:t>
            </a:r>
            <a:r>
              <a:rPr lang="zh-CN" altLang="en-US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．图示区域内年降水量的最大差值是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b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itchFamily="18" charset="0"/>
              </a:rPr>
              <a:t>     A</a:t>
            </a:r>
            <a:r>
              <a:rPr kumimoji="0" lang="zh-CN" altLang="en-US" b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itchFamily="18" charset="0"/>
              </a:rPr>
              <a:t>．</a:t>
            </a:r>
            <a:r>
              <a:rPr kumimoji="0" lang="en-US" altLang="zh-CN" b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宋体" pitchFamily="2" charset="-122"/>
              </a:rPr>
              <a:t>960mm             </a:t>
            </a:r>
            <a:r>
              <a:rPr kumimoji="0" lang="en-US" altLang="zh-CN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B</a:t>
            </a:r>
            <a:r>
              <a:rPr kumimoji="0" lang="zh-CN" altLang="en-US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．</a:t>
            </a:r>
            <a:r>
              <a:rPr kumimoji="0" lang="en-US" altLang="zh-CN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宋体" pitchFamily="2" charset="-122"/>
              </a:rPr>
              <a:t>600mm</a:t>
            </a:r>
            <a:r>
              <a:rPr kumimoji="0" lang="en-US" altLang="zh-CN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	       C</a:t>
            </a:r>
            <a:r>
              <a:rPr kumimoji="0" lang="zh-CN" altLang="en-US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．</a:t>
            </a:r>
            <a:r>
              <a:rPr kumimoji="0" lang="en-US" altLang="zh-CN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宋体" pitchFamily="2" charset="-122"/>
              </a:rPr>
              <a:t>1000mm        </a:t>
            </a:r>
            <a:r>
              <a:rPr kumimoji="0" lang="en-US" altLang="zh-CN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D</a:t>
            </a:r>
            <a:r>
              <a:rPr kumimoji="0" lang="zh-CN" altLang="en-US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．</a:t>
            </a:r>
            <a:r>
              <a:rPr kumimoji="0" lang="en-US" altLang="zh-CN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宋体" pitchFamily="2" charset="-122"/>
              </a:rPr>
              <a:t>1200mm</a:t>
            </a:r>
          </a:p>
        </p:txBody>
      </p:sp>
      <p:sp>
        <p:nvSpPr>
          <p:cNvPr id="7" name="矩形 6"/>
          <p:cNvSpPr/>
          <p:nvPr/>
        </p:nvSpPr>
        <p:spPr>
          <a:xfrm>
            <a:off x="4067944" y="1628800"/>
            <a:ext cx="50760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【</a:t>
            </a:r>
            <a:r>
              <a:rPr lang="zh-CN" altLang="en-US" b="1" dirty="0" smtClean="0">
                <a:solidFill>
                  <a:srgbClr val="FF0000"/>
                </a:solidFill>
              </a:rPr>
              <a:t>解析</a:t>
            </a:r>
            <a:r>
              <a:rPr lang="en-US" altLang="zh-CN" b="1" dirty="0" smtClean="0">
                <a:solidFill>
                  <a:srgbClr val="FF0000"/>
                </a:solidFill>
              </a:rPr>
              <a:t>9】</a:t>
            </a: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1200&lt;min&lt;1400;2000&lt;max&lt;2200.</a:t>
            </a:r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所以最大差值在</a:t>
            </a:r>
            <a:r>
              <a:rPr lang="en-US" altLang="zh-CN" b="1" dirty="0" smtClean="0">
                <a:solidFill>
                  <a:srgbClr val="FF0000"/>
                </a:solidFill>
              </a:rPr>
              <a:t>600-1000</a:t>
            </a:r>
            <a:r>
              <a:rPr lang="zh-CN" altLang="en-US" b="1" dirty="0" smtClean="0">
                <a:solidFill>
                  <a:srgbClr val="FF0000"/>
                </a:solidFill>
              </a:rPr>
              <a:t>之间。</a:t>
            </a:r>
            <a:endParaRPr lang="zh-CN" altLang="zh-CN" b="1" dirty="0" smtClean="0">
              <a:solidFill>
                <a:srgbClr val="FF0000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 rot="1957117">
            <a:off x="2534186" y="3777696"/>
            <a:ext cx="526784" cy="1944216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 rot="3191665">
            <a:off x="2151067" y="2130022"/>
            <a:ext cx="276913" cy="9264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 rot="3191665">
            <a:off x="2936019" y="3155151"/>
            <a:ext cx="561106" cy="3314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95536" y="0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</a:rPr>
              <a:t>X2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19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ChangeArrowheads="1"/>
          </p:cNvSpPr>
          <p:nvPr/>
        </p:nvSpPr>
        <p:spPr bwMode="auto">
          <a:xfrm>
            <a:off x="0" y="0"/>
            <a:ext cx="91440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zh-CN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2019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年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6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月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25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日至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29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日，拉萨连续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5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日平均气温超过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22℃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，首次达到了中国气候季节划分的夏季标准，这是当地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1955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年有气象观测记录以来首次入夏。往年夏季较为凉爽的拉萨，今年电风扇、家用空调供不应求。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12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内蒙古高原上的呼伦贝尔夏季空调和电风扇使用率也较低，与拉萨相比，呼伦贝尔该特点形成的主要原因是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A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海拔较高，大气保温作用弱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云量较少，大气保温作用弱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C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纬度较高 ，太阳高度角小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            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海洋影响小，夜晚降温快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13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这次拉萨顺利入夏的原因最可能是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A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西南季风势力强，带来大量暖空气，增温明显  </a:t>
            </a:r>
            <a:endParaRPr kumimoji="0" lang="en-US" altLang="zh-CN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lang="en-US" altLang="zh-CN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拉萨地处河谷地带，不易散热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C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太阳活动强烈          </a:t>
            </a:r>
            <a:endParaRPr kumimoji="0" lang="en-US" altLang="zh-CN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lang="en-US" altLang="zh-CN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受高气压影响，形成强烈的气流下沉增温和辐射增温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14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此次高温事件产生的影响，下列说法正确的是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A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农作物及牧草长势较去年偏好       </a:t>
            </a:r>
            <a:r>
              <a:rPr lang="en-US" altLang="zh-CN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以后每年春末商家采购大量空调电扇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C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高温事件后不久，对流增强，雨季到来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冰川融化，林线上升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4221088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【</a:t>
            </a:r>
            <a:r>
              <a:rPr lang="zh-CN" altLang="en-US" b="1" dirty="0" smtClean="0">
                <a:solidFill>
                  <a:srgbClr val="FF0000"/>
                </a:solidFill>
              </a:rPr>
              <a:t>解析</a:t>
            </a:r>
            <a:r>
              <a:rPr lang="en-US" altLang="zh-CN" b="1" dirty="0" smtClean="0">
                <a:solidFill>
                  <a:srgbClr val="FF0000"/>
                </a:solidFill>
              </a:rPr>
              <a:t>12】</a:t>
            </a:r>
            <a:r>
              <a:rPr lang="zh-CN" altLang="zh-CN" b="1" dirty="0" smtClean="0">
                <a:solidFill>
                  <a:srgbClr val="FF0000"/>
                </a:solidFill>
              </a:rPr>
              <a:t>内蒙古高原上的呼伦贝尔与拉萨相比，呼伦贝尔纬度高，太阳高度角小，获得的太阳辐射量少，夏季气温较低，故</a:t>
            </a:r>
            <a:r>
              <a:rPr lang="en-US" altLang="zh-CN" b="1" dirty="0" smtClean="0">
                <a:solidFill>
                  <a:srgbClr val="FF0000"/>
                </a:solidFill>
              </a:rPr>
              <a:t>C</a:t>
            </a:r>
            <a:r>
              <a:rPr lang="zh-CN" altLang="zh-CN" b="1" dirty="0" smtClean="0">
                <a:solidFill>
                  <a:srgbClr val="FF0000"/>
                </a:solidFill>
              </a:rPr>
              <a:t>正确。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869160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【</a:t>
            </a:r>
            <a:r>
              <a:rPr lang="zh-CN" altLang="en-US" b="1" dirty="0" smtClean="0">
                <a:solidFill>
                  <a:srgbClr val="FF0000"/>
                </a:solidFill>
              </a:rPr>
              <a:t>解析</a:t>
            </a:r>
            <a:r>
              <a:rPr lang="en-US" altLang="zh-CN" b="1" dirty="0" smtClean="0">
                <a:solidFill>
                  <a:srgbClr val="FF0000"/>
                </a:solidFill>
              </a:rPr>
              <a:t>13】</a:t>
            </a:r>
            <a:r>
              <a:rPr lang="zh-CN" altLang="en-US" b="1" dirty="0" smtClean="0">
                <a:solidFill>
                  <a:srgbClr val="FF0000"/>
                </a:solidFill>
              </a:rPr>
              <a:t>用排除法做。</a:t>
            </a:r>
            <a:r>
              <a:rPr lang="zh-CN" altLang="zh-CN" b="1" dirty="0" smtClean="0">
                <a:solidFill>
                  <a:srgbClr val="FF0000"/>
                </a:solidFill>
              </a:rPr>
              <a:t>拉萨往年夏季较为凉爽，从气候学上划分属于无夏区，突然入夏，说明气候异常，气温突然升高，是受副热带高气压的异常影响，形成强烈的气流下沉使增温和辐射增温，故</a:t>
            </a:r>
            <a:r>
              <a:rPr lang="en-US" altLang="zh-CN" b="1" dirty="0" smtClean="0">
                <a:solidFill>
                  <a:srgbClr val="FF0000"/>
                </a:solidFill>
              </a:rPr>
              <a:t>D</a:t>
            </a:r>
            <a:r>
              <a:rPr lang="zh-CN" altLang="zh-CN" b="1" dirty="0" smtClean="0">
                <a:solidFill>
                  <a:srgbClr val="FF0000"/>
                </a:solidFill>
              </a:rPr>
              <a:t>正确。</a:t>
            </a:r>
            <a:r>
              <a:rPr lang="en-US" altLang="zh-CN" b="1" dirty="0" smtClean="0">
                <a:solidFill>
                  <a:srgbClr val="FF0000"/>
                </a:solidFill>
              </a:rPr>
              <a:t> </a:t>
            </a:r>
            <a:br>
              <a:rPr lang="en-US" altLang="zh-CN" b="1" dirty="0" smtClean="0">
                <a:solidFill>
                  <a:srgbClr val="FF0000"/>
                </a:solidFill>
              </a:rPr>
            </a:br>
            <a:r>
              <a:rPr lang="zh-CN" altLang="zh-CN" b="1" dirty="0" smtClean="0">
                <a:solidFill>
                  <a:srgbClr val="FF0000"/>
                </a:solidFill>
              </a:rPr>
              <a:t>西南季风</a:t>
            </a:r>
            <a:r>
              <a:rPr lang="zh-CN" altLang="en-US" b="1" dirty="0" smtClean="0">
                <a:solidFill>
                  <a:srgbClr val="FF0000"/>
                </a:solidFill>
              </a:rPr>
              <a:t>受喜马拉雅山脉阻挡，</a:t>
            </a:r>
            <a:r>
              <a:rPr lang="zh-CN" altLang="zh-CN" b="1" dirty="0" smtClean="0">
                <a:solidFill>
                  <a:srgbClr val="FF0000"/>
                </a:solidFill>
              </a:rPr>
              <a:t>对拉萨气温几乎没有影响，故</a:t>
            </a:r>
            <a:r>
              <a:rPr lang="en-US" altLang="zh-CN" b="1" dirty="0" smtClean="0">
                <a:solidFill>
                  <a:srgbClr val="FF0000"/>
                </a:solidFill>
              </a:rPr>
              <a:t>A</a:t>
            </a:r>
            <a:r>
              <a:rPr lang="zh-CN" altLang="zh-CN" b="1" dirty="0" smtClean="0">
                <a:solidFill>
                  <a:srgbClr val="FF0000"/>
                </a:solidFill>
              </a:rPr>
              <a:t>错。</a:t>
            </a:r>
            <a:r>
              <a:rPr lang="en-US" altLang="zh-CN" b="1" dirty="0" smtClean="0">
                <a:solidFill>
                  <a:srgbClr val="FF0000"/>
                </a:solidFill>
              </a:rPr>
              <a:t> </a:t>
            </a:r>
            <a:br>
              <a:rPr lang="en-US" altLang="zh-CN" b="1" dirty="0" smtClean="0">
                <a:solidFill>
                  <a:srgbClr val="FF0000"/>
                </a:solidFill>
              </a:rPr>
            </a:br>
            <a:r>
              <a:rPr lang="zh-CN" altLang="zh-CN" b="1" dirty="0" smtClean="0">
                <a:solidFill>
                  <a:srgbClr val="FF0000"/>
                </a:solidFill>
              </a:rPr>
              <a:t>拉萨地处河谷地带，不易散热，</a:t>
            </a:r>
            <a:r>
              <a:rPr lang="zh-CN" altLang="en-US" b="1" dirty="0" smtClean="0">
                <a:solidFill>
                  <a:srgbClr val="FF0000"/>
                </a:solidFill>
              </a:rPr>
              <a:t>但</a:t>
            </a:r>
            <a:r>
              <a:rPr lang="zh-CN" altLang="zh-CN" b="1" dirty="0" smtClean="0">
                <a:solidFill>
                  <a:srgbClr val="FF0000"/>
                </a:solidFill>
              </a:rPr>
              <a:t>不会导致气温异常，故</a:t>
            </a:r>
            <a:r>
              <a:rPr lang="en-US" altLang="zh-CN" b="1" dirty="0" smtClean="0">
                <a:solidFill>
                  <a:srgbClr val="FF0000"/>
                </a:solidFill>
              </a:rPr>
              <a:t>B</a:t>
            </a:r>
            <a:r>
              <a:rPr lang="zh-CN" altLang="zh-CN" b="1" dirty="0" smtClean="0">
                <a:solidFill>
                  <a:srgbClr val="FF0000"/>
                </a:solidFill>
              </a:rPr>
              <a:t>错。</a:t>
            </a:r>
            <a:r>
              <a:rPr lang="en-US" altLang="zh-CN" b="1" dirty="0" smtClean="0">
                <a:solidFill>
                  <a:srgbClr val="FF0000"/>
                </a:solidFill>
              </a:rPr>
              <a:t> </a:t>
            </a:r>
            <a:br>
              <a:rPr lang="en-US" altLang="zh-CN" b="1" dirty="0" smtClean="0">
                <a:solidFill>
                  <a:srgbClr val="FF0000"/>
                </a:solidFill>
              </a:rPr>
            </a:br>
            <a:r>
              <a:rPr lang="zh-CN" altLang="zh-CN" b="1" dirty="0" smtClean="0">
                <a:solidFill>
                  <a:srgbClr val="FF0000"/>
                </a:solidFill>
              </a:rPr>
              <a:t>太阳活动对气温异常影响较小，</a:t>
            </a:r>
            <a:r>
              <a:rPr lang="zh-CN" altLang="en-US" b="1" dirty="0" smtClean="0">
                <a:solidFill>
                  <a:srgbClr val="FF0000"/>
                </a:solidFill>
              </a:rPr>
              <a:t>对气温影响大的是太阳辐射！</a:t>
            </a:r>
            <a:r>
              <a:rPr lang="zh-CN" altLang="zh-CN" b="1" dirty="0" smtClean="0">
                <a:solidFill>
                  <a:srgbClr val="FF0000"/>
                </a:solidFill>
              </a:rPr>
              <a:t>故</a:t>
            </a:r>
            <a:r>
              <a:rPr lang="en-US" altLang="zh-CN" b="1" dirty="0" smtClean="0">
                <a:solidFill>
                  <a:srgbClr val="FF0000"/>
                </a:solidFill>
              </a:rPr>
              <a:t>C</a:t>
            </a:r>
            <a:r>
              <a:rPr lang="zh-CN" altLang="zh-CN" b="1" dirty="0" smtClean="0">
                <a:solidFill>
                  <a:srgbClr val="FF0000"/>
                </a:solidFill>
              </a:rPr>
              <a:t>错。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</a:rPr>
              <a:t>X2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19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ChangeArrowheads="1"/>
          </p:cNvSpPr>
          <p:nvPr/>
        </p:nvSpPr>
        <p:spPr bwMode="auto">
          <a:xfrm>
            <a:off x="0" y="0"/>
            <a:ext cx="91440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zh-CN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2019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年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6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月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25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日至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29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日，拉萨连续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5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日平均气温超过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22℃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，首次达到了中国气候季节划分的夏季标准，这是当地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1955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年有气象观测记录以来首次入夏。往年夏季较为凉爽的拉萨，今年电风扇、家用空调供不应求。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12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内蒙古高原上的呼伦贝尔夏季空调和电风扇使用率也较低，与拉萨相比，呼伦贝尔该特点形成的主要原因是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A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海拔较高，大气保温作用弱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云量较少，大气保温作用弱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C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纬度较高 ，太阳高度角小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            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海洋影响小，夜晚降温快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13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这次拉萨顺利入夏的原因最可能是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A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西南季风势力强，带来大量暖空气，增温明显  </a:t>
            </a:r>
            <a:endParaRPr kumimoji="0" lang="en-US" altLang="zh-CN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lang="en-US" altLang="zh-CN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拉萨地处河谷地带，不易散热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C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太阳活动强烈          </a:t>
            </a:r>
            <a:endParaRPr kumimoji="0" lang="en-US" altLang="zh-CN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lang="en-US" altLang="zh-CN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受高气压影响，形成强烈的气流下沉增温和辐射增温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14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此次高温事件产生的影响，下列说法正确的是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A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农作物及牧草长势较去年偏好       </a:t>
            </a:r>
            <a:r>
              <a:rPr lang="en-US" altLang="zh-CN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以后每年春末商家采购大量空调电扇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C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高温事件后不久，对流增强，雨季到来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冰川融化，林线上升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4221088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【</a:t>
            </a:r>
            <a:r>
              <a:rPr lang="zh-CN" altLang="en-US" b="1" dirty="0" smtClean="0">
                <a:solidFill>
                  <a:srgbClr val="FF0000"/>
                </a:solidFill>
              </a:rPr>
              <a:t>解析</a:t>
            </a:r>
            <a:r>
              <a:rPr lang="en-US" altLang="zh-CN" b="1" dirty="0" smtClean="0">
                <a:solidFill>
                  <a:srgbClr val="FF0000"/>
                </a:solidFill>
              </a:rPr>
              <a:t>14】</a:t>
            </a:r>
            <a:r>
              <a:rPr lang="zh-CN" altLang="en-US" b="1" dirty="0" smtClean="0">
                <a:solidFill>
                  <a:srgbClr val="FF0000"/>
                </a:solidFill>
              </a:rPr>
              <a:t>注意时间尺度！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zh-CN" altLang="zh-CN" b="1" dirty="0" smtClean="0">
                <a:solidFill>
                  <a:srgbClr val="FF0000"/>
                </a:solidFill>
              </a:rPr>
              <a:t>短暂的气温升高，属于气温异常，对农作物及牧草长势会有不利的影响，故</a:t>
            </a:r>
            <a:r>
              <a:rPr lang="en-US" altLang="zh-CN" b="1" dirty="0" smtClean="0">
                <a:solidFill>
                  <a:srgbClr val="FF0000"/>
                </a:solidFill>
              </a:rPr>
              <a:t>A</a:t>
            </a:r>
            <a:r>
              <a:rPr lang="zh-CN" altLang="zh-CN" b="1" dirty="0" smtClean="0">
                <a:solidFill>
                  <a:srgbClr val="FF0000"/>
                </a:solidFill>
              </a:rPr>
              <a:t>错；</a:t>
            </a:r>
            <a:r>
              <a:rPr lang="en-US" altLang="zh-CN" b="1" dirty="0" smtClean="0">
                <a:solidFill>
                  <a:srgbClr val="FF0000"/>
                </a:solidFill>
              </a:rPr>
              <a:t> </a:t>
            </a:r>
            <a:br>
              <a:rPr lang="en-US" altLang="zh-CN" b="1" dirty="0" smtClean="0">
                <a:solidFill>
                  <a:srgbClr val="FF0000"/>
                </a:solidFill>
              </a:rPr>
            </a:br>
            <a:r>
              <a:rPr lang="zh-CN" altLang="zh-CN" b="1" dirty="0" smtClean="0">
                <a:solidFill>
                  <a:srgbClr val="FF0000"/>
                </a:solidFill>
              </a:rPr>
              <a:t>不会每年都出现这种异常，故</a:t>
            </a:r>
            <a:r>
              <a:rPr lang="en-US" altLang="zh-CN" b="1" dirty="0" smtClean="0">
                <a:solidFill>
                  <a:srgbClr val="FF0000"/>
                </a:solidFill>
              </a:rPr>
              <a:t>B</a:t>
            </a:r>
            <a:r>
              <a:rPr lang="zh-CN" altLang="zh-CN" b="1" dirty="0" smtClean="0">
                <a:solidFill>
                  <a:srgbClr val="FF0000"/>
                </a:solidFill>
              </a:rPr>
              <a:t>错。</a:t>
            </a:r>
            <a:r>
              <a:rPr lang="en-US" altLang="zh-CN" b="1" dirty="0" smtClean="0">
                <a:solidFill>
                  <a:srgbClr val="FF0000"/>
                </a:solidFill>
              </a:rPr>
              <a:t> </a:t>
            </a:r>
            <a:br>
              <a:rPr lang="en-US" altLang="zh-CN" b="1" dirty="0" smtClean="0">
                <a:solidFill>
                  <a:srgbClr val="FF0000"/>
                </a:solidFill>
              </a:rPr>
            </a:br>
            <a:r>
              <a:rPr lang="zh-CN" altLang="zh-CN" b="1" dirty="0" smtClean="0">
                <a:solidFill>
                  <a:srgbClr val="FF0000"/>
                </a:solidFill>
              </a:rPr>
              <a:t>高温会使对流增强，上升流多降水，雨季到来，故</a:t>
            </a:r>
            <a:r>
              <a:rPr lang="en-US" altLang="zh-CN" b="1" dirty="0" smtClean="0">
                <a:solidFill>
                  <a:srgbClr val="FF0000"/>
                </a:solidFill>
              </a:rPr>
              <a:t>C</a:t>
            </a:r>
            <a:r>
              <a:rPr lang="zh-CN" altLang="zh-CN" b="1" dirty="0" smtClean="0">
                <a:solidFill>
                  <a:srgbClr val="FF0000"/>
                </a:solidFill>
              </a:rPr>
              <a:t>正确。</a:t>
            </a:r>
            <a:r>
              <a:rPr lang="en-US" altLang="zh-CN" b="1" dirty="0" smtClean="0">
                <a:solidFill>
                  <a:srgbClr val="FF0000"/>
                </a:solidFill>
              </a:rPr>
              <a:t> </a:t>
            </a:r>
            <a:br>
              <a:rPr lang="en-US" altLang="zh-CN" b="1" dirty="0" smtClean="0">
                <a:solidFill>
                  <a:srgbClr val="FF0000"/>
                </a:solidFill>
              </a:rPr>
            </a:br>
            <a:r>
              <a:rPr lang="zh-CN" altLang="zh-CN" b="1" dirty="0" smtClean="0">
                <a:solidFill>
                  <a:srgbClr val="FF0000"/>
                </a:solidFill>
              </a:rPr>
              <a:t>短暂气温升高，不会使林线上升，故</a:t>
            </a:r>
            <a:r>
              <a:rPr lang="en-US" altLang="zh-CN" b="1" dirty="0" smtClean="0">
                <a:solidFill>
                  <a:srgbClr val="FF0000"/>
                </a:solidFill>
              </a:rPr>
              <a:t>D</a:t>
            </a:r>
            <a:r>
              <a:rPr lang="zh-CN" altLang="zh-CN" b="1" dirty="0" smtClean="0">
                <a:solidFill>
                  <a:srgbClr val="FF0000"/>
                </a:solidFill>
              </a:rPr>
              <a:t>错。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193" name="图片 1310092521" descr="figure"/>
          <p:cNvPicPr>
            <a:picLocks noChangeAspect="1" noChangeArrowheads="1"/>
          </p:cNvPicPr>
          <p:nvPr/>
        </p:nvPicPr>
        <p:blipFill>
          <a:blip r:embed="rId2" cstate="print">
            <a:lum bright="-24000" contrast="54000"/>
          </a:blip>
          <a:srcRect l="1711" r="2934"/>
          <a:stretch>
            <a:fillRect/>
          </a:stretch>
        </p:blipFill>
        <p:spPr bwMode="auto">
          <a:xfrm>
            <a:off x="0" y="4351719"/>
            <a:ext cx="3635896" cy="2506281"/>
          </a:xfrm>
          <a:prstGeom prst="rect">
            <a:avLst/>
          </a:prstGeom>
          <a:noFill/>
        </p:spPr>
      </p:pic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0" y="0"/>
            <a:ext cx="91440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山东半岛某入海河流的流域内在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1952-2009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年期间修建了大量水库，实施大面积坡耕地改梯田和拦河闸坝修建，大规模林地、园地建设等，但该河流输入海洋的泥沙受其影响不大。下图示意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1952-2009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年间该河入海年径流量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(108m3),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输沙量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(104t)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累积折线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(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图中数据为河口水文站监测资料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)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。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15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下列人类活动可能对该河年输沙量造成影响较大的是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A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坡地改梯田      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种植苹果树    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种植夏玉米           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上游修水库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16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图中某项人类活动对该河流输沙量影响极小，其原因可能是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A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腾库容为了防灾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涵养水源为主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水库拦截粗沙为主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建设的规模较小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17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该河在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1952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一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2009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年间，年入海泥沙量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A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先增大后减小  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持续增大        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先减小后增大      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持续减小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" y="2852936"/>
            <a:ext cx="9144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【</a:t>
            </a:r>
            <a:r>
              <a:rPr lang="zh-CN" altLang="en-US" b="1" dirty="0" smtClean="0">
                <a:solidFill>
                  <a:srgbClr val="FF0000"/>
                </a:solidFill>
              </a:rPr>
              <a:t>解析</a:t>
            </a:r>
            <a:r>
              <a:rPr lang="en-US" altLang="zh-CN" b="1" dirty="0" smtClean="0">
                <a:solidFill>
                  <a:srgbClr val="FF0000"/>
                </a:solidFill>
              </a:rPr>
              <a:t>15】</a:t>
            </a:r>
            <a:r>
              <a:rPr lang="zh-CN" altLang="en-US" b="1" dirty="0" smtClean="0">
                <a:solidFill>
                  <a:srgbClr val="FF0000"/>
                </a:solidFill>
              </a:rPr>
              <a:t>注意坐标含义</a:t>
            </a:r>
            <a:r>
              <a:rPr lang="en-US" altLang="zh-CN" b="1" dirty="0" smtClean="0">
                <a:solidFill>
                  <a:srgbClr val="FF0000"/>
                </a:solidFill>
              </a:rPr>
              <a:t>——</a:t>
            </a:r>
            <a:r>
              <a:rPr lang="zh-CN" altLang="en-US" b="1" dirty="0" smtClean="0">
                <a:solidFill>
                  <a:srgbClr val="FF0000"/>
                </a:solidFill>
              </a:rPr>
              <a:t>“累计”输沙量、径流量。所以要看人类活动带来的变化，就要看“斜率”的变化。水库修建、斜率完全没有变化；而变化最大的就是坡地改梯田。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【</a:t>
            </a:r>
            <a:r>
              <a:rPr lang="zh-CN" altLang="en-US" b="1" dirty="0" smtClean="0">
                <a:solidFill>
                  <a:srgbClr val="FF0000"/>
                </a:solidFill>
              </a:rPr>
              <a:t>解析</a:t>
            </a:r>
            <a:r>
              <a:rPr lang="en-US" altLang="zh-CN" b="1" dirty="0" smtClean="0">
                <a:solidFill>
                  <a:srgbClr val="FF0000"/>
                </a:solidFill>
              </a:rPr>
              <a:t>16】</a:t>
            </a:r>
            <a:r>
              <a:rPr lang="zh-CN" altLang="en-US" b="1" dirty="0" smtClean="0">
                <a:solidFill>
                  <a:srgbClr val="FF0000"/>
                </a:solidFill>
              </a:rPr>
              <a:t>图中水库修建，“斜率”完全没有变化，对河流输沙量影响最小。</a:t>
            </a:r>
            <a:r>
              <a:rPr lang="en-US" altLang="zh-CN" b="1" dirty="0" smtClean="0">
                <a:solidFill>
                  <a:srgbClr val="FF0000"/>
                </a:solidFill>
              </a:rPr>
              <a:t>4</a:t>
            </a:r>
            <a:r>
              <a:rPr lang="zh-CN" altLang="en-US" b="1" dirty="0" smtClean="0">
                <a:solidFill>
                  <a:srgbClr val="FF0000"/>
                </a:solidFill>
              </a:rPr>
              <a:t>个选项中最可能就是水库以拦截粗沙为主。而该流域可能以表层细沙的流失为主。流失的细沙会悬浮在水中，水库难以拦截。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63888" y="4365104"/>
            <a:ext cx="5580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【</a:t>
            </a:r>
            <a:r>
              <a:rPr lang="zh-CN" altLang="en-US" b="1" dirty="0" smtClean="0">
                <a:solidFill>
                  <a:srgbClr val="FF0000"/>
                </a:solidFill>
              </a:rPr>
              <a:t>解析</a:t>
            </a:r>
            <a:r>
              <a:rPr lang="en-US" altLang="zh-CN" b="1" dirty="0" smtClean="0">
                <a:solidFill>
                  <a:srgbClr val="FF0000"/>
                </a:solidFill>
              </a:rPr>
              <a:t>17】</a:t>
            </a:r>
            <a:r>
              <a:rPr lang="zh-CN" altLang="en-US" b="1" dirty="0" smtClean="0">
                <a:solidFill>
                  <a:srgbClr val="FF0000"/>
                </a:solidFill>
              </a:rPr>
              <a:t>读图题。可以看出斜率越来越小。所以虽然输沙累计总量在上升，但是“每年”输沙量在减少。</a:t>
            </a:r>
            <a:endParaRPr lang="en-US" altLang="zh-CN" b="1" dirty="0" smtClean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1628800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</a:rPr>
              <a:t>X2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112474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19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19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0" y="0"/>
            <a:ext cx="9144000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干旱地区土壤的湿度</a:t>
            </a:r>
            <a:r>
              <a:rPr kumimoji="0" lang="zh-CN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一般由表层向深层逐渐增加</a:t>
            </a:r>
            <a:r>
              <a:rPr kumimoji="0" 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，但</a:t>
            </a:r>
            <a:r>
              <a:rPr kumimoji="0" lang="zh-CN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在特定条件下</a:t>
            </a:r>
            <a:r>
              <a:rPr kumimoji="0" 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可能在浅层土壤出现</a:t>
            </a:r>
            <a:r>
              <a:rPr kumimoji="0" lang="zh-CN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逆湿现象</a:t>
            </a:r>
            <a:r>
              <a:rPr kumimoji="0" 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。某年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8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月，我国西北一处无人为干扰的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戈壁天气晴好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。下图示意该月连续两日当地不同深度的土壤湿度变化。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18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该地区土壤逆湿现象发生的主要时段是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1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～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6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时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6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～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12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时                        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C.2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～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18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时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18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～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24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时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19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导致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10cm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深度土壤湿度变化的水分来源于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凝结水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河流水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                          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生物水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地下水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20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80cm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深度的土壤湿度在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48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小时内变化的最可能原因是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蒸发减弱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气温日较差变小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下渗累积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蒸腾减弱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5" name="图片 4" descr="figure"/>
          <p:cNvPicPr/>
          <p:nvPr/>
        </p:nvPicPr>
        <p:blipFill>
          <a:blip r:embed="rId2" cstate="print">
            <a:lum bright="-24000" contrast="54000"/>
          </a:blip>
          <a:stretch>
            <a:fillRect/>
          </a:stretch>
        </p:blipFill>
        <p:spPr>
          <a:xfrm>
            <a:off x="0" y="3068960"/>
            <a:ext cx="4716016" cy="3789040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2411760" y="5157192"/>
            <a:ext cx="576064" cy="360040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67544" y="5085184"/>
            <a:ext cx="648072" cy="360040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283968" y="2636912"/>
            <a:ext cx="486003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Microsoft Yahei"/>
              </a:rPr>
              <a:t>【</a:t>
            </a:r>
            <a:r>
              <a:rPr lang="zh-CN" altLang="en-US" b="1" dirty="0" smtClean="0">
                <a:solidFill>
                  <a:srgbClr val="FF0000"/>
                </a:solidFill>
                <a:latin typeface="Microsoft Yahei"/>
              </a:rPr>
              <a:t>解析</a:t>
            </a:r>
            <a:r>
              <a:rPr lang="en-US" altLang="zh-CN" b="1" dirty="0" smtClean="0">
                <a:solidFill>
                  <a:srgbClr val="FF0000"/>
                </a:solidFill>
                <a:latin typeface="Microsoft Yahei"/>
              </a:rPr>
              <a:t>18】</a:t>
            </a:r>
            <a:r>
              <a:rPr lang="zh-CN" altLang="en-US" b="1" dirty="0" smtClean="0">
                <a:solidFill>
                  <a:srgbClr val="FF0000"/>
                </a:solidFill>
                <a:latin typeface="Microsoft Yahei"/>
              </a:rPr>
              <a:t>据题意可知逆湿现象是浅层土壤上湿下干。本题主要考查图文信息的获取和分析能力。从材料中可看出地下深度</a:t>
            </a:r>
            <a:r>
              <a:rPr lang="en-US" altLang="zh-CN" b="1" dirty="0" smtClean="0">
                <a:solidFill>
                  <a:srgbClr val="FF0000"/>
                </a:solidFill>
                <a:latin typeface="Microsoft Yahei"/>
              </a:rPr>
              <a:t>10cm</a:t>
            </a:r>
            <a:r>
              <a:rPr lang="zh-CN" altLang="en-US" b="1" dirty="0" smtClean="0">
                <a:solidFill>
                  <a:srgbClr val="FF0000"/>
                </a:solidFill>
                <a:latin typeface="Microsoft Yahei"/>
              </a:rPr>
              <a:t>的土壤湿度在</a:t>
            </a:r>
            <a:r>
              <a:rPr lang="en-US" altLang="zh-CN" b="1" dirty="0" smtClean="0">
                <a:solidFill>
                  <a:srgbClr val="FF0000"/>
                </a:solidFill>
                <a:latin typeface="Microsoft Yahei"/>
              </a:rPr>
              <a:t>1-6</a:t>
            </a:r>
            <a:r>
              <a:rPr lang="zh-CN" altLang="en-US" b="1" dirty="0" smtClean="0">
                <a:solidFill>
                  <a:srgbClr val="FF0000"/>
                </a:solidFill>
                <a:latin typeface="Microsoft Yahei"/>
              </a:rPr>
              <a:t>时的比地下深度</a:t>
            </a:r>
            <a:r>
              <a:rPr lang="en-US" altLang="zh-CN" b="1" dirty="0" smtClean="0">
                <a:solidFill>
                  <a:srgbClr val="FF0000"/>
                </a:solidFill>
                <a:latin typeface="Microsoft Yahei"/>
              </a:rPr>
              <a:t>20cm</a:t>
            </a:r>
            <a:r>
              <a:rPr lang="zh-CN" altLang="en-US" b="1" dirty="0" smtClean="0">
                <a:solidFill>
                  <a:srgbClr val="FF0000"/>
                </a:solidFill>
                <a:latin typeface="Microsoft Yahei"/>
              </a:rPr>
              <a:t>的土壤湿度大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355977" y="4005064"/>
            <a:ext cx="478802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Microsoft Yahei"/>
              </a:rPr>
              <a:t>【</a:t>
            </a:r>
            <a:r>
              <a:rPr lang="zh-CN" altLang="en-US" b="1" dirty="0" smtClean="0">
                <a:solidFill>
                  <a:srgbClr val="FF0000"/>
                </a:solidFill>
                <a:latin typeface="Microsoft Yahei"/>
              </a:rPr>
              <a:t>解析</a:t>
            </a:r>
            <a:r>
              <a:rPr lang="en-US" altLang="zh-CN" b="1" dirty="0" smtClean="0">
                <a:solidFill>
                  <a:srgbClr val="FF0000"/>
                </a:solidFill>
                <a:latin typeface="Microsoft Yahei"/>
              </a:rPr>
              <a:t>19】</a:t>
            </a:r>
            <a:r>
              <a:rPr lang="zh-CN" altLang="en-US" b="1" dirty="0" smtClean="0">
                <a:solidFill>
                  <a:srgbClr val="FF0000"/>
                </a:solidFill>
                <a:latin typeface="Microsoft Yahei"/>
              </a:rPr>
              <a:t>地下深度</a:t>
            </a:r>
            <a:r>
              <a:rPr lang="en-US" altLang="zh-CN" b="1" dirty="0" smtClean="0">
                <a:solidFill>
                  <a:srgbClr val="FF0000"/>
                </a:solidFill>
                <a:latin typeface="Microsoft Yahei"/>
              </a:rPr>
              <a:t>10cm</a:t>
            </a:r>
            <a:r>
              <a:rPr lang="zh-CN" altLang="en-US" b="1" dirty="0" smtClean="0">
                <a:solidFill>
                  <a:srgbClr val="FF0000"/>
                </a:solidFill>
                <a:latin typeface="Microsoft Yahei"/>
              </a:rPr>
              <a:t>的土壤湿度在</a:t>
            </a:r>
            <a:r>
              <a:rPr lang="en-US" altLang="zh-CN" b="1" dirty="0" smtClean="0">
                <a:solidFill>
                  <a:srgbClr val="FF0000"/>
                </a:solidFill>
                <a:latin typeface="Microsoft Yahei"/>
              </a:rPr>
              <a:t>1-6</a:t>
            </a:r>
            <a:r>
              <a:rPr lang="zh-CN" altLang="en-US" b="1" dirty="0" smtClean="0">
                <a:solidFill>
                  <a:srgbClr val="FF0000"/>
                </a:solidFill>
                <a:latin typeface="Microsoft Yahei"/>
              </a:rPr>
              <a:t>时的比地下深度</a:t>
            </a:r>
            <a:r>
              <a:rPr lang="en-US" altLang="zh-CN" b="1" dirty="0" smtClean="0">
                <a:solidFill>
                  <a:srgbClr val="FF0000"/>
                </a:solidFill>
                <a:latin typeface="Microsoft Yahei"/>
              </a:rPr>
              <a:t>20cm</a:t>
            </a:r>
            <a:r>
              <a:rPr lang="zh-CN" altLang="en-US" b="1" dirty="0" smtClean="0">
                <a:solidFill>
                  <a:srgbClr val="FF0000"/>
                </a:solidFill>
                <a:latin typeface="Microsoft Yahei"/>
              </a:rPr>
              <a:t>的土壤湿度大，其余时间段地下深度</a:t>
            </a:r>
            <a:r>
              <a:rPr lang="en-US" altLang="zh-CN" b="1" dirty="0" smtClean="0">
                <a:solidFill>
                  <a:srgbClr val="FF0000"/>
                </a:solidFill>
                <a:latin typeface="Microsoft Yahei"/>
              </a:rPr>
              <a:t>10cm</a:t>
            </a:r>
            <a:r>
              <a:rPr lang="zh-CN" altLang="en-US" b="1" dirty="0" smtClean="0">
                <a:solidFill>
                  <a:srgbClr val="FF0000"/>
                </a:solidFill>
                <a:latin typeface="Microsoft Yahei"/>
              </a:rPr>
              <a:t>的土壤湿度比以下的湿度要小。由于一天中气温最低是在日出前后，从</a:t>
            </a:r>
            <a:r>
              <a:rPr lang="en-US" altLang="zh-CN" b="1" dirty="0" smtClean="0">
                <a:solidFill>
                  <a:srgbClr val="FF0000"/>
                </a:solidFill>
                <a:latin typeface="Microsoft Yahei"/>
              </a:rPr>
              <a:t>1-6</a:t>
            </a:r>
            <a:r>
              <a:rPr lang="zh-CN" altLang="en-US" b="1" dirty="0" smtClean="0">
                <a:solidFill>
                  <a:srgbClr val="FF0000"/>
                </a:solidFill>
                <a:latin typeface="Microsoft Yahei"/>
              </a:rPr>
              <a:t>时气温不断降低，空气中的水汽遇冷凝结，浅层土壤湿度加大。往后随着气温回升，浅层土壤水分的蒸发加大，故会比深层土壤的湿度降低，据此分析可知选</a:t>
            </a:r>
            <a:r>
              <a:rPr lang="en-US" altLang="zh-CN" b="1" dirty="0" smtClean="0">
                <a:solidFill>
                  <a:srgbClr val="FF0000"/>
                </a:solidFill>
                <a:latin typeface="Microsoft Yahei"/>
              </a:rPr>
              <a:t>C</a:t>
            </a:r>
            <a:r>
              <a:rPr lang="zh-CN" altLang="en-US" b="1" dirty="0" smtClean="0">
                <a:solidFill>
                  <a:srgbClr val="FF0000"/>
                </a:solidFill>
                <a:latin typeface="Microsoft Yahei"/>
              </a:rPr>
              <a:t>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1412776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</a:rPr>
              <a:t>X2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Rectangle 3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049" name="Group 1"/>
          <p:cNvGrpSpPr>
            <a:grpSpLocks/>
          </p:cNvGrpSpPr>
          <p:nvPr/>
        </p:nvGrpSpPr>
        <p:grpSpPr bwMode="auto">
          <a:xfrm>
            <a:off x="755576" y="3356992"/>
            <a:ext cx="6624736" cy="2996952"/>
            <a:chOff x="7824" y="57898"/>
            <a:chExt cx="8294" cy="4054"/>
          </a:xfrm>
        </p:grpSpPr>
        <p:pic>
          <p:nvPicPr>
            <p:cNvPr id="2" name="Picture 3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824" y="57898"/>
              <a:ext cx="8294" cy="4054"/>
            </a:xfrm>
            <a:prstGeom prst="rect">
              <a:avLst/>
            </a:prstGeom>
            <a:noFill/>
          </p:spPr>
        </p:pic>
        <p:grpSp>
          <p:nvGrpSpPr>
            <p:cNvPr id="29" name="Group 2"/>
            <p:cNvGrpSpPr>
              <a:grpSpLocks/>
            </p:cNvGrpSpPr>
            <p:nvPr/>
          </p:nvGrpSpPr>
          <p:grpSpPr bwMode="auto">
            <a:xfrm>
              <a:off x="7839" y="58263"/>
              <a:ext cx="8016" cy="3213"/>
              <a:chOff x="7689" y="58743"/>
              <a:chExt cx="8016" cy="3213"/>
            </a:xfrm>
          </p:grpSpPr>
          <p:sp>
            <p:nvSpPr>
              <p:cNvPr id="2077" name="Text Box 29"/>
              <p:cNvSpPr txBox="1">
                <a:spLocks noChangeArrowheads="1"/>
              </p:cNvSpPr>
              <p:nvPr/>
            </p:nvSpPr>
            <p:spPr bwMode="auto">
              <a:xfrm>
                <a:off x="13075" y="58803"/>
                <a:ext cx="681" cy="416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sz="1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降雨</a:t>
                </a:r>
                <a:endParaRPr kumimoji="0" lang="zh-CN" sz="1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76" name="Text Box 28"/>
              <p:cNvSpPr txBox="1">
                <a:spLocks noChangeArrowheads="1"/>
              </p:cNvSpPr>
              <p:nvPr/>
            </p:nvSpPr>
            <p:spPr bwMode="auto">
              <a:xfrm>
                <a:off x="14530" y="58743"/>
                <a:ext cx="681" cy="416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sz="1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灌溉</a:t>
                </a:r>
                <a:endParaRPr kumimoji="0" lang="zh-CN" sz="1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75" name="Text Box 27"/>
              <p:cNvSpPr txBox="1">
                <a:spLocks noChangeArrowheads="1"/>
              </p:cNvSpPr>
              <p:nvPr/>
            </p:nvSpPr>
            <p:spPr bwMode="auto">
              <a:xfrm>
                <a:off x="10285" y="58773"/>
                <a:ext cx="681" cy="416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sz="1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降雨</a:t>
                </a:r>
                <a:endParaRPr kumimoji="0" lang="zh-CN" sz="1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74" name="Text Box 26"/>
              <p:cNvSpPr txBox="1">
                <a:spLocks noChangeArrowheads="1"/>
              </p:cNvSpPr>
              <p:nvPr/>
            </p:nvSpPr>
            <p:spPr bwMode="auto">
              <a:xfrm>
                <a:off x="7795" y="58773"/>
                <a:ext cx="763" cy="435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sz="14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灌溉</a:t>
                </a:r>
                <a:endParaRPr kumimoji="0" lang="zh-CN" sz="1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73" name="Text Box 25"/>
              <p:cNvSpPr txBox="1">
                <a:spLocks noChangeArrowheads="1"/>
              </p:cNvSpPr>
              <p:nvPr/>
            </p:nvSpPr>
            <p:spPr bwMode="auto">
              <a:xfrm>
                <a:off x="8499" y="59373"/>
                <a:ext cx="1355" cy="70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sz="1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明渠</a:t>
                </a:r>
                <a:endParaRPr kumimoji="0" lang="zh-CN" sz="1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sz="1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（枯水期）</a:t>
                </a:r>
                <a:endParaRPr kumimoji="0" lang="zh-CN" sz="1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72" name="Text Box 24"/>
              <p:cNvSpPr txBox="1">
                <a:spLocks noChangeArrowheads="1"/>
              </p:cNvSpPr>
              <p:nvPr/>
            </p:nvSpPr>
            <p:spPr bwMode="auto">
              <a:xfrm>
                <a:off x="10074" y="59328"/>
                <a:ext cx="1355" cy="70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sz="1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明渠</a:t>
                </a:r>
                <a:endParaRPr kumimoji="0" lang="zh-CN" sz="1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sz="1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（丰水期）</a:t>
                </a:r>
                <a:endParaRPr kumimoji="0" lang="zh-CN" sz="1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71" name="Text Box 23"/>
              <p:cNvSpPr txBox="1">
                <a:spLocks noChangeArrowheads="1"/>
              </p:cNvSpPr>
              <p:nvPr/>
            </p:nvSpPr>
            <p:spPr bwMode="auto">
              <a:xfrm>
                <a:off x="12354" y="60093"/>
                <a:ext cx="681" cy="416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sz="1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暗管</a:t>
                </a:r>
                <a:endParaRPr kumimoji="0" lang="zh-CN" sz="1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70" name="Text Box 22"/>
              <p:cNvSpPr txBox="1">
                <a:spLocks noChangeArrowheads="1"/>
              </p:cNvSpPr>
              <p:nvPr/>
            </p:nvSpPr>
            <p:spPr bwMode="auto">
              <a:xfrm>
                <a:off x="7689" y="59628"/>
                <a:ext cx="456" cy="70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sz="1400" b="1" i="0" u="none" strike="noStrike" cap="none" normalizeH="0" baseline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土</a:t>
                </a:r>
                <a:endParaRPr kumimoji="0" lang="zh-CN" sz="1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sz="1400" b="1" i="0" u="none" strike="noStrike" cap="none" normalizeH="0" baseline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壤</a:t>
                </a:r>
                <a:endParaRPr kumimoji="0" lang="zh-CN" sz="1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grpSp>
            <p:nvGrpSpPr>
              <p:cNvPr id="28" name="Group 3"/>
              <p:cNvGrpSpPr>
                <a:grpSpLocks/>
              </p:cNvGrpSpPr>
              <p:nvPr/>
            </p:nvGrpSpPr>
            <p:grpSpPr bwMode="auto">
              <a:xfrm>
                <a:off x="7965" y="59736"/>
                <a:ext cx="7740" cy="2220"/>
                <a:chOff x="7965" y="59736"/>
                <a:chExt cx="7740" cy="2220"/>
              </a:xfrm>
            </p:grpSpPr>
            <p:sp>
              <p:nvSpPr>
                <p:cNvPr id="10" name="AutoShape 21"/>
                <p:cNvSpPr>
                  <a:spLocks noChangeShapeType="1"/>
                </p:cNvSpPr>
                <p:nvPr/>
              </p:nvSpPr>
              <p:spPr bwMode="auto">
                <a:xfrm flipV="1">
                  <a:off x="8115" y="60156"/>
                  <a:ext cx="0" cy="1755"/>
                </a:xfrm>
                <a:prstGeom prst="straightConnector1">
                  <a:avLst/>
                </a:prstGeom>
                <a:noFill/>
                <a:ln w="28575">
                  <a:solidFill>
                    <a:srgbClr val="FFFFFF"/>
                  </a:solidFill>
                  <a:miter lim="800000"/>
                  <a:headEnd/>
                  <a:tailEnd type="arrow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 b="1"/>
                </a:p>
              </p:txBody>
            </p:sp>
            <p:sp>
              <p:nvSpPr>
                <p:cNvPr id="11" name="AutoShape 20"/>
                <p:cNvSpPr>
                  <a:spLocks noChangeShapeType="1"/>
                </p:cNvSpPr>
                <p:nvPr/>
              </p:nvSpPr>
              <p:spPr bwMode="auto">
                <a:xfrm flipV="1">
                  <a:off x="8775" y="60171"/>
                  <a:ext cx="0" cy="1755"/>
                </a:xfrm>
                <a:prstGeom prst="straightConnector1">
                  <a:avLst/>
                </a:prstGeom>
                <a:noFill/>
                <a:ln w="28575">
                  <a:solidFill>
                    <a:srgbClr val="FFFFFF"/>
                  </a:solidFill>
                  <a:miter lim="800000"/>
                  <a:headEnd/>
                  <a:tailEnd type="arrow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 b="1"/>
                </a:p>
              </p:txBody>
            </p:sp>
            <p:sp>
              <p:nvSpPr>
                <p:cNvPr id="12" name="AutoShape 19"/>
                <p:cNvSpPr>
                  <a:spLocks noChangeShapeType="1"/>
                </p:cNvSpPr>
                <p:nvPr/>
              </p:nvSpPr>
              <p:spPr bwMode="auto">
                <a:xfrm flipV="1">
                  <a:off x="9555" y="60171"/>
                  <a:ext cx="0" cy="1755"/>
                </a:xfrm>
                <a:prstGeom prst="straightConnector1">
                  <a:avLst/>
                </a:prstGeom>
                <a:noFill/>
                <a:ln w="28575">
                  <a:solidFill>
                    <a:srgbClr val="FFFFFF"/>
                  </a:solidFill>
                  <a:miter lim="800000"/>
                  <a:headEnd/>
                  <a:tailEnd type="arrow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 b="1"/>
                </a:p>
              </p:txBody>
            </p:sp>
            <p:sp>
              <p:nvSpPr>
                <p:cNvPr id="13" name="AutoShape 18"/>
                <p:cNvSpPr>
                  <a:spLocks noChangeShapeType="1"/>
                </p:cNvSpPr>
                <p:nvPr/>
              </p:nvSpPr>
              <p:spPr bwMode="auto">
                <a:xfrm flipV="1">
                  <a:off x="10320" y="59916"/>
                  <a:ext cx="0" cy="2040"/>
                </a:xfrm>
                <a:prstGeom prst="straightConnector1">
                  <a:avLst/>
                </a:prstGeom>
                <a:noFill/>
                <a:ln w="28575">
                  <a:solidFill>
                    <a:srgbClr val="FFFFFF"/>
                  </a:solidFill>
                  <a:miter lim="800000"/>
                  <a:headEnd/>
                  <a:tailEnd type="arrow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 b="1"/>
                </a:p>
              </p:txBody>
            </p:sp>
            <p:sp>
              <p:nvSpPr>
                <p:cNvPr id="14" name="AutoShape 17"/>
                <p:cNvSpPr>
                  <a:spLocks noChangeShapeType="1"/>
                </p:cNvSpPr>
                <p:nvPr/>
              </p:nvSpPr>
              <p:spPr bwMode="auto">
                <a:xfrm flipV="1">
                  <a:off x="11145" y="59976"/>
                  <a:ext cx="0" cy="1950"/>
                </a:xfrm>
                <a:prstGeom prst="straightConnector1">
                  <a:avLst/>
                </a:prstGeom>
                <a:noFill/>
                <a:ln w="28575">
                  <a:solidFill>
                    <a:srgbClr val="FFFFFF"/>
                  </a:solidFill>
                  <a:miter lim="800000"/>
                  <a:headEnd/>
                  <a:tailEnd type="arrow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 b="1"/>
                </a:p>
              </p:txBody>
            </p:sp>
            <p:sp>
              <p:nvSpPr>
                <p:cNvPr id="15" name="AutoShape 16"/>
                <p:cNvSpPr>
                  <a:spLocks noChangeShapeType="1"/>
                </p:cNvSpPr>
                <p:nvPr/>
              </p:nvSpPr>
              <p:spPr bwMode="auto">
                <a:xfrm flipV="1">
                  <a:off x="13170" y="60696"/>
                  <a:ext cx="0" cy="1230"/>
                </a:xfrm>
                <a:prstGeom prst="straightConnector1">
                  <a:avLst/>
                </a:prstGeom>
                <a:noFill/>
                <a:ln w="28575">
                  <a:solidFill>
                    <a:srgbClr val="FFFFFF"/>
                  </a:solidFill>
                  <a:miter lim="800000"/>
                  <a:headEnd/>
                  <a:tailEnd type="arrow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 b="1"/>
                </a:p>
              </p:txBody>
            </p:sp>
            <p:sp>
              <p:nvSpPr>
                <p:cNvPr id="16" name="AutoShape 15"/>
                <p:cNvSpPr>
                  <a:spLocks noChangeShapeType="1"/>
                </p:cNvSpPr>
                <p:nvPr/>
              </p:nvSpPr>
              <p:spPr bwMode="auto">
                <a:xfrm flipV="1">
                  <a:off x="13710" y="60681"/>
                  <a:ext cx="0" cy="1230"/>
                </a:xfrm>
                <a:prstGeom prst="straightConnector1">
                  <a:avLst/>
                </a:prstGeom>
                <a:noFill/>
                <a:ln w="28575">
                  <a:solidFill>
                    <a:srgbClr val="FFFFFF"/>
                  </a:solidFill>
                  <a:miter lim="800000"/>
                  <a:headEnd/>
                  <a:tailEnd type="arrow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 b="1"/>
                </a:p>
              </p:txBody>
            </p:sp>
            <p:sp>
              <p:nvSpPr>
                <p:cNvPr id="17" name="AutoShape 14"/>
                <p:cNvSpPr>
                  <a:spLocks noChangeShapeType="1"/>
                </p:cNvSpPr>
                <p:nvPr/>
              </p:nvSpPr>
              <p:spPr bwMode="auto">
                <a:xfrm flipV="1">
                  <a:off x="14460" y="60651"/>
                  <a:ext cx="0" cy="1230"/>
                </a:xfrm>
                <a:prstGeom prst="straightConnector1">
                  <a:avLst/>
                </a:prstGeom>
                <a:noFill/>
                <a:ln w="28575">
                  <a:solidFill>
                    <a:srgbClr val="FFFFFF"/>
                  </a:solidFill>
                  <a:miter lim="800000"/>
                  <a:headEnd/>
                  <a:tailEnd type="arrow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 b="1"/>
                </a:p>
              </p:txBody>
            </p:sp>
            <p:sp>
              <p:nvSpPr>
                <p:cNvPr id="18" name="AutoShape 13"/>
                <p:cNvSpPr>
                  <a:spLocks noChangeShapeType="1"/>
                </p:cNvSpPr>
                <p:nvPr/>
              </p:nvSpPr>
              <p:spPr bwMode="auto">
                <a:xfrm flipV="1">
                  <a:off x="15075" y="60666"/>
                  <a:ext cx="0" cy="1230"/>
                </a:xfrm>
                <a:prstGeom prst="straightConnector1">
                  <a:avLst/>
                </a:prstGeom>
                <a:noFill/>
                <a:ln w="28575">
                  <a:solidFill>
                    <a:srgbClr val="FFFFFF"/>
                  </a:solidFill>
                  <a:miter lim="800000"/>
                  <a:headEnd/>
                  <a:tailEnd type="arrow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 b="1"/>
                </a:p>
              </p:txBody>
            </p:sp>
            <p:sp>
              <p:nvSpPr>
                <p:cNvPr id="19" name="AutoShape 12"/>
                <p:cNvSpPr>
                  <a:spLocks noChangeShapeType="1"/>
                </p:cNvSpPr>
                <p:nvPr/>
              </p:nvSpPr>
              <p:spPr bwMode="auto">
                <a:xfrm flipV="1">
                  <a:off x="15705" y="60651"/>
                  <a:ext cx="0" cy="1230"/>
                </a:xfrm>
                <a:prstGeom prst="straightConnector1">
                  <a:avLst/>
                </a:prstGeom>
                <a:noFill/>
                <a:ln w="28575">
                  <a:solidFill>
                    <a:srgbClr val="FFFFFF"/>
                  </a:solidFill>
                  <a:miter lim="800000"/>
                  <a:headEnd/>
                  <a:tailEnd type="arrow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 b="1"/>
                </a:p>
              </p:txBody>
            </p:sp>
            <p:sp>
              <p:nvSpPr>
                <p:cNvPr id="20" name="AutoShape 11"/>
                <p:cNvSpPr>
                  <a:spLocks noChangeShapeType="1"/>
                </p:cNvSpPr>
                <p:nvPr/>
              </p:nvSpPr>
              <p:spPr bwMode="auto">
                <a:xfrm>
                  <a:off x="13320" y="59736"/>
                  <a:ext cx="0" cy="705"/>
                </a:xfrm>
                <a:prstGeom prst="straightConnector1">
                  <a:avLst/>
                </a:prstGeom>
                <a:noFill/>
                <a:ln w="28575">
                  <a:solidFill>
                    <a:srgbClr val="FFFFFF"/>
                  </a:solidFill>
                  <a:miter lim="800000"/>
                  <a:headEnd/>
                  <a:tailEnd type="arrow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 b="1"/>
                </a:p>
              </p:txBody>
            </p:sp>
            <p:sp>
              <p:nvSpPr>
                <p:cNvPr id="21" name="AutoShape 10"/>
                <p:cNvSpPr>
                  <a:spLocks noChangeShapeType="1"/>
                </p:cNvSpPr>
                <p:nvPr/>
              </p:nvSpPr>
              <p:spPr bwMode="auto">
                <a:xfrm>
                  <a:off x="13875" y="59751"/>
                  <a:ext cx="0" cy="705"/>
                </a:xfrm>
                <a:prstGeom prst="straightConnector1">
                  <a:avLst/>
                </a:prstGeom>
                <a:noFill/>
                <a:ln w="28575">
                  <a:solidFill>
                    <a:srgbClr val="FFFFFF"/>
                  </a:solidFill>
                  <a:miter lim="800000"/>
                  <a:headEnd/>
                  <a:tailEnd type="arrow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 b="1"/>
                </a:p>
              </p:txBody>
            </p:sp>
            <p:sp>
              <p:nvSpPr>
                <p:cNvPr id="22" name="AutoShape 9"/>
                <p:cNvSpPr>
                  <a:spLocks noChangeShapeType="1"/>
                </p:cNvSpPr>
                <p:nvPr/>
              </p:nvSpPr>
              <p:spPr bwMode="auto">
                <a:xfrm>
                  <a:off x="14610" y="59766"/>
                  <a:ext cx="0" cy="705"/>
                </a:xfrm>
                <a:prstGeom prst="straightConnector1">
                  <a:avLst/>
                </a:prstGeom>
                <a:noFill/>
                <a:ln w="28575">
                  <a:solidFill>
                    <a:srgbClr val="FFFFFF"/>
                  </a:solidFill>
                  <a:miter lim="800000"/>
                  <a:headEnd/>
                  <a:tailEnd type="arrow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 b="1"/>
                </a:p>
              </p:txBody>
            </p:sp>
            <p:sp>
              <p:nvSpPr>
                <p:cNvPr id="23" name="AutoShape 8"/>
                <p:cNvSpPr>
                  <a:spLocks noChangeShapeType="1"/>
                </p:cNvSpPr>
                <p:nvPr/>
              </p:nvSpPr>
              <p:spPr bwMode="auto">
                <a:xfrm>
                  <a:off x="15495" y="59736"/>
                  <a:ext cx="0" cy="705"/>
                </a:xfrm>
                <a:prstGeom prst="straightConnector1">
                  <a:avLst/>
                </a:prstGeom>
                <a:noFill/>
                <a:ln w="28575">
                  <a:solidFill>
                    <a:srgbClr val="FFFFFF"/>
                  </a:solidFill>
                  <a:miter lim="800000"/>
                  <a:headEnd/>
                  <a:tailEnd type="arrow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 b="1"/>
                </a:p>
              </p:txBody>
            </p:sp>
            <p:sp>
              <p:nvSpPr>
                <p:cNvPr id="24" name="AutoShape 7"/>
                <p:cNvSpPr>
                  <a:spLocks noChangeArrowheads="1"/>
                </p:cNvSpPr>
                <p:nvPr/>
              </p:nvSpPr>
              <p:spPr bwMode="auto">
                <a:xfrm>
                  <a:off x="7965" y="59961"/>
                  <a:ext cx="3315" cy="255"/>
                </a:xfrm>
                <a:custGeom>
                  <a:avLst/>
                  <a:gdLst>
                    <a:gd name="T0" fmla="*/ 0 w 2105025"/>
                    <a:gd name="T1" fmla="*/ 104775 h 161925"/>
                    <a:gd name="T2" fmla="*/ 161925 w 2105025"/>
                    <a:gd name="T3" fmla="*/ 104775 h 161925"/>
                    <a:gd name="T4" fmla="*/ 228600 w 2105025"/>
                    <a:gd name="T5" fmla="*/ 95250 h 161925"/>
                    <a:gd name="T6" fmla="*/ 419100 w 2105025"/>
                    <a:gd name="T7" fmla="*/ 114300 h 161925"/>
                    <a:gd name="T8" fmla="*/ 523875 w 2105025"/>
                    <a:gd name="T9" fmla="*/ 142875 h 161925"/>
                    <a:gd name="T10" fmla="*/ 704850 w 2105025"/>
                    <a:gd name="T11" fmla="*/ 152400 h 161925"/>
                    <a:gd name="T12" fmla="*/ 866775 w 2105025"/>
                    <a:gd name="T13" fmla="*/ 161925 h 161925"/>
                    <a:gd name="T14" fmla="*/ 971550 w 2105025"/>
                    <a:gd name="T15" fmla="*/ 142875 h 161925"/>
                    <a:gd name="T16" fmla="*/ 1085850 w 2105025"/>
                    <a:gd name="T17" fmla="*/ 95250 h 161925"/>
                    <a:gd name="T18" fmla="*/ 1181100 w 2105025"/>
                    <a:gd name="T19" fmla="*/ 47625 h 161925"/>
                    <a:gd name="T20" fmla="*/ 1304925 w 2105025"/>
                    <a:gd name="T21" fmla="*/ 38100 h 161925"/>
                    <a:gd name="T22" fmla="*/ 1352550 w 2105025"/>
                    <a:gd name="T23" fmla="*/ 19050 h 161925"/>
                    <a:gd name="T24" fmla="*/ 1495425 w 2105025"/>
                    <a:gd name="T25" fmla="*/ 9525 h 161925"/>
                    <a:gd name="T26" fmla="*/ 1962150 w 2105025"/>
                    <a:gd name="T27" fmla="*/ 0 h 161925"/>
                    <a:gd name="T28" fmla="*/ 2105025 w 2105025"/>
                    <a:gd name="T29" fmla="*/ 0 h 1619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105025" h="161925">
                      <a:moveTo>
                        <a:pt x="0" y="104775"/>
                      </a:moveTo>
                      <a:lnTo>
                        <a:pt x="161925" y="104775"/>
                      </a:lnTo>
                      <a:lnTo>
                        <a:pt x="228600" y="95250"/>
                      </a:lnTo>
                      <a:lnTo>
                        <a:pt x="419100" y="114300"/>
                      </a:lnTo>
                      <a:lnTo>
                        <a:pt x="523875" y="142875"/>
                      </a:lnTo>
                      <a:lnTo>
                        <a:pt x="704850" y="152400"/>
                      </a:lnTo>
                      <a:lnTo>
                        <a:pt x="866775" y="161925"/>
                      </a:lnTo>
                      <a:lnTo>
                        <a:pt x="971550" y="142875"/>
                      </a:lnTo>
                      <a:lnTo>
                        <a:pt x="1085850" y="95250"/>
                      </a:lnTo>
                      <a:lnTo>
                        <a:pt x="1181100" y="47625"/>
                      </a:lnTo>
                      <a:lnTo>
                        <a:pt x="1304925" y="38100"/>
                      </a:lnTo>
                      <a:lnTo>
                        <a:pt x="1352550" y="19050"/>
                      </a:lnTo>
                      <a:lnTo>
                        <a:pt x="1495425" y="9525"/>
                      </a:lnTo>
                      <a:lnTo>
                        <a:pt x="1962150" y="0"/>
                      </a:lnTo>
                      <a:lnTo>
                        <a:pt x="2105025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  <a:prstDash val="dash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 b="1"/>
                </a:p>
              </p:txBody>
            </p:sp>
            <p:sp>
              <p:nvSpPr>
                <p:cNvPr id="25" name="AutoShape 6"/>
                <p:cNvSpPr>
                  <a:spLocks noChangeArrowheads="1"/>
                </p:cNvSpPr>
                <p:nvPr/>
              </p:nvSpPr>
              <p:spPr bwMode="auto">
                <a:xfrm>
                  <a:off x="8895" y="60216"/>
                  <a:ext cx="525" cy="225"/>
                </a:xfrm>
                <a:custGeom>
                  <a:avLst/>
                  <a:gdLst>
                    <a:gd name="T0" fmla="*/ 0 w 333375"/>
                    <a:gd name="T1" fmla="*/ 0 h 142875"/>
                    <a:gd name="T2" fmla="*/ 47625 w 333375"/>
                    <a:gd name="T3" fmla="*/ 142875 h 142875"/>
                    <a:gd name="T4" fmla="*/ 314325 w 333375"/>
                    <a:gd name="T5" fmla="*/ 142875 h 142875"/>
                    <a:gd name="T6" fmla="*/ 333375 w 333375"/>
                    <a:gd name="T7" fmla="*/ 0 h 142875"/>
                    <a:gd name="T8" fmla="*/ 0 w 333375"/>
                    <a:gd name="T9" fmla="*/ 0 h 1428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33375" h="142875">
                      <a:moveTo>
                        <a:pt x="0" y="0"/>
                      </a:moveTo>
                      <a:lnTo>
                        <a:pt x="47625" y="142875"/>
                      </a:lnTo>
                      <a:lnTo>
                        <a:pt x="314325" y="142875"/>
                      </a:lnTo>
                      <a:lnTo>
                        <a:pt x="33337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6A6A6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 b="1"/>
                </a:p>
              </p:txBody>
            </p:sp>
            <p:sp>
              <p:nvSpPr>
                <p:cNvPr id="26" name="AutoShape 5"/>
                <p:cNvSpPr>
                  <a:spLocks noChangeArrowheads="1"/>
                </p:cNvSpPr>
                <p:nvPr/>
              </p:nvSpPr>
              <p:spPr bwMode="auto">
                <a:xfrm>
                  <a:off x="10425" y="59931"/>
                  <a:ext cx="585" cy="525"/>
                </a:xfrm>
                <a:custGeom>
                  <a:avLst/>
                  <a:gdLst>
                    <a:gd name="T0" fmla="*/ 0 w 333375"/>
                    <a:gd name="T1" fmla="*/ 0 h 142875"/>
                    <a:gd name="T2" fmla="*/ 47625 w 333375"/>
                    <a:gd name="T3" fmla="*/ 142875 h 142875"/>
                    <a:gd name="T4" fmla="*/ 314325 w 333375"/>
                    <a:gd name="T5" fmla="*/ 142875 h 142875"/>
                    <a:gd name="T6" fmla="*/ 333375 w 333375"/>
                    <a:gd name="T7" fmla="*/ 0 h 142875"/>
                    <a:gd name="T8" fmla="*/ 0 w 333375"/>
                    <a:gd name="T9" fmla="*/ 0 h 1428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33375" h="142875">
                      <a:moveTo>
                        <a:pt x="0" y="0"/>
                      </a:moveTo>
                      <a:lnTo>
                        <a:pt x="47625" y="142875"/>
                      </a:lnTo>
                      <a:lnTo>
                        <a:pt x="314325" y="142875"/>
                      </a:lnTo>
                      <a:lnTo>
                        <a:pt x="33337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6A6A6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 b="1"/>
                </a:p>
              </p:txBody>
            </p:sp>
            <p:sp>
              <p:nvSpPr>
                <p:cNvPr id="27" name="AutoShape 4"/>
                <p:cNvSpPr>
                  <a:spLocks noChangeArrowheads="1"/>
                </p:cNvSpPr>
                <p:nvPr/>
              </p:nvSpPr>
              <p:spPr bwMode="auto">
                <a:xfrm>
                  <a:off x="11925" y="60741"/>
                  <a:ext cx="750" cy="435"/>
                </a:xfrm>
                <a:custGeom>
                  <a:avLst/>
                  <a:gdLst>
                    <a:gd name="T0" fmla="*/ 0 w 476250"/>
                    <a:gd name="T1" fmla="*/ 0 h 276225"/>
                    <a:gd name="T2" fmla="*/ 476250 w 476250"/>
                    <a:gd name="T3" fmla="*/ 0 h 276225"/>
                    <a:gd name="T4" fmla="*/ 314325 w 476250"/>
                    <a:gd name="T5" fmla="*/ 276225 h 276225"/>
                    <a:gd name="T6" fmla="*/ 0 w 476250"/>
                    <a:gd name="T7" fmla="*/ 266700 h 276225"/>
                    <a:gd name="T8" fmla="*/ 0 w 476250"/>
                    <a:gd name="T9" fmla="*/ 0 h 2762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6250" h="276225">
                      <a:moveTo>
                        <a:pt x="0" y="0"/>
                      </a:moveTo>
                      <a:lnTo>
                        <a:pt x="476250" y="0"/>
                      </a:lnTo>
                      <a:lnTo>
                        <a:pt x="314325" y="276225"/>
                      </a:lnTo>
                      <a:lnTo>
                        <a:pt x="0" y="2667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6A6A6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400" b="1"/>
                </a:p>
              </p:txBody>
            </p:sp>
          </p:grpSp>
        </p:grpSp>
      </p:grpSp>
      <p:sp>
        <p:nvSpPr>
          <p:cNvPr id="2088" name="Rectangle 40"/>
          <p:cNvSpPr>
            <a:spLocks noChangeArrowheads="1"/>
          </p:cNvSpPr>
          <p:nvPr/>
        </p:nvSpPr>
        <p:spPr bwMode="auto">
          <a:xfrm>
            <a:off x="0" y="0"/>
            <a:ext cx="9144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下图为我国某地区为解决该地区某种环境问题所设计的</a:t>
            </a:r>
            <a:r>
              <a:rPr kumimoji="0" lang="zh-CN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排灌系统变化示意图</a:t>
            </a:r>
            <a:r>
              <a:rPr kumimoji="0" 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，据此完成下列各题。</a:t>
            </a:r>
            <a:endParaRPr kumimoji="0" 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21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该环境问题最可能是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土地荒漠化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土地盐碱化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环境污染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地下水漏斗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0" y="1340768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【</a:t>
            </a:r>
            <a:r>
              <a:rPr lang="zh-CN" altLang="en-US" b="1" dirty="0" smtClean="0">
                <a:solidFill>
                  <a:srgbClr val="FF0000"/>
                </a:solidFill>
              </a:rPr>
              <a:t>解析</a:t>
            </a:r>
            <a:r>
              <a:rPr lang="en-US" altLang="zh-CN" b="1" dirty="0" smtClean="0">
                <a:solidFill>
                  <a:srgbClr val="FF0000"/>
                </a:solidFill>
              </a:rPr>
              <a:t>21】</a:t>
            </a:r>
            <a:r>
              <a:rPr lang="zh-CN" altLang="en-US" b="1" dirty="0" smtClean="0">
                <a:solidFill>
                  <a:srgbClr val="FF0000"/>
                </a:solidFill>
              </a:rPr>
              <a:t>获取左图信息，该地环境问题主要是由于引水灌溉只灌不排导致地下水位抬高，进而使地下水中的盐分更容易在土壤表层累积，导致的土壤盐碱化问题，</a:t>
            </a:r>
            <a:r>
              <a:rPr lang="en-US" altLang="zh-CN" b="1" dirty="0" smtClean="0">
                <a:solidFill>
                  <a:srgbClr val="FF0000"/>
                </a:solidFill>
              </a:rPr>
              <a:t>B</a:t>
            </a:r>
            <a:r>
              <a:rPr lang="zh-CN" altLang="en-US" b="1" dirty="0" smtClean="0">
                <a:solidFill>
                  <a:srgbClr val="FF0000"/>
                </a:solidFill>
              </a:rPr>
              <a:t>正确；土地荒漠化是由于过度开垦、过度放牧、过度樵采、不合理用水（过多取水）等原因造成的，</a:t>
            </a:r>
            <a:r>
              <a:rPr lang="en-US" altLang="zh-CN" b="1" dirty="0" smtClean="0">
                <a:solidFill>
                  <a:srgbClr val="FF0000"/>
                </a:solidFill>
              </a:rPr>
              <a:t>A</a:t>
            </a:r>
            <a:r>
              <a:rPr lang="zh-CN" altLang="en-US" b="1" dirty="0" smtClean="0">
                <a:solidFill>
                  <a:srgbClr val="FF0000"/>
                </a:solidFill>
              </a:rPr>
              <a:t>错；引水灌溉并不会造成土地污染、水污染等问题，</a:t>
            </a:r>
            <a:r>
              <a:rPr lang="en-US" altLang="zh-CN" b="1" dirty="0" smtClean="0">
                <a:solidFill>
                  <a:srgbClr val="FF0000"/>
                </a:solidFill>
              </a:rPr>
              <a:t>C</a:t>
            </a:r>
            <a:r>
              <a:rPr lang="zh-CN" altLang="en-US" b="1" dirty="0" smtClean="0">
                <a:solidFill>
                  <a:srgbClr val="FF0000"/>
                </a:solidFill>
              </a:rPr>
              <a:t>错；地下水漏斗是由于集中开采地下水，导致集中开采区的地下水位下降的现象，图中地下水位高度总体相当，没有明显低于其他水位的地方，</a:t>
            </a:r>
            <a:r>
              <a:rPr lang="en-US" altLang="zh-CN" b="1" dirty="0" smtClean="0">
                <a:solidFill>
                  <a:srgbClr val="FF0000"/>
                </a:solidFill>
              </a:rPr>
              <a:t>D</a:t>
            </a:r>
            <a:r>
              <a:rPr lang="zh-CN" altLang="en-US" b="1" dirty="0" smtClean="0">
                <a:solidFill>
                  <a:srgbClr val="FF0000"/>
                </a:solidFill>
              </a:rPr>
              <a:t>错。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0" y="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19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https://timgsa.baidu.com/timg?image&amp;quality=80&amp;size=b9999_10000&amp;sec=1605246348584&amp;di=8afb69c749c1e569d2b383bf43cb08cf&amp;imgtype=0&amp;src=http%3A%2F%2Fpics6.baidu.com%2Ffeed%2F960a304e251f95caf6a7a62f35deeb386609522c.jpeg%3Ftoken%3D29a41f8680d3601e08aa97c3481a66d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908720"/>
            <a:ext cx="8640960" cy="511256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图片 38397794" descr="figu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209305"/>
            <a:ext cx="3923928" cy="3648695"/>
          </a:xfrm>
          <a:prstGeom prst="rect">
            <a:avLst/>
          </a:prstGeom>
          <a:noFill/>
        </p:spPr>
      </p:pic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0" y="0"/>
            <a:ext cx="914400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66700" fontAlgn="ctr">
              <a:spcBef>
                <a:spcPct val="0"/>
              </a:spcBef>
              <a:spcAft>
                <a:spcPct val="0"/>
              </a:spcAft>
            </a:pPr>
            <a:r>
              <a:rPr lang="zh-CN" altLang="zh-CN" b="1" dirty="0" smtClean="0">
                <a:latin typeface="Times New Roman" pitchFamily="18" charset="0"/>
                <a:ea typeface="宋体" pitchFamily="2" charset="-122"/>
                <a:cs typeface="楷体" pitchFamily="49" charset="-122"/>
              </a:rPr>
              <a:t>长江干流在不同的河段名称各异，上游的金沙江属于山河相间的横断山区，起于玉树，</a:t>
            </a:r>
            <a:endParaRPr lang="zh-CN" altLang="zh-CN" b="1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止于宜宾，流经青藏、云贵高原和四川盆地，因江水中沙土含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“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金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”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而得名。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金沙江畔的巧家县，早期经历过喜马拉雅地质运动，位于云贵低纬高原，地处地势相对平缓且开敞宽阔的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“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U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”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型河谷，所产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“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沙金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/>
                <a:ea typeface="宋体" pitchFamily="2" charset="-122"/>
                <a:cs typeface="楷体" pitchFamily="49" charset="-122"/>
              </a:rPr>
              <a:t>”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在金沙江中多且闻名。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这里年均气温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21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．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0℃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，年均降水量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822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．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7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毫米，多年蒸发量达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2529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．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3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毫米，日照率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65%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～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80%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。上世纪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80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、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90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年代，金价上涨，非法淘金船猛增，曾使河流生态遭受严重破坏。读图，完成下面小题。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23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从自然地理的角度分析，以下不属于金沙江畔巧家县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“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沙金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”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丰富的原因是（   ）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地处西南地区断裂带位置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强烈的溯源侵蚀使矿石不断冲击、沉淀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比降相对较小的河谷地形，水流缓慢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蒸发量大、日照强的气候条件使矿石易风化、崩裂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131840" y="3284984"/>
            <a:ext cx="60121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【</a:t>
            </a:r>
            <a:r>
              <a:rPr lang="zh-CN" altLang="en-US" b="1" dirty="0" smtClean="0">
                <a:solidFill>
                  <a:srgbClr val="FF0000"/>
                </a:solidFill>
              </a:rPr>
              <a:t>解析</a:t>
            </a:r>
            <a:r>
              <a:rPr lang="en-US" altLang="zh-CN" b="1" dirty="0" smtClean="0">
                <a:solidFill>
                  <a:srgbClr val="FF0000"/>
                </a:solidFill>
              </a:rPr>
              <a:t>23】</a:t>
            </a:r>
            <a:r>
              <a:rPr lang="zh-CN" altLang="en-US" b="1" dirty="0" smtClean="0">
                <a:solidFill>
                  <a:srgbClr val="FF0000"/>
                </a:solidFill>
              </a:rPr>
              <a:t>沙金的形成与地质构造有密切的关系，或是在火山带，或是在构造岩浆活化 带。巧家县受早期喜马拉雅造山运动，后期受到断裂等影响形成的金矿带，即西南地区断裂 带的位置（小江断裂带中）。（地形、水文条件）巧家为开敞的“</a:t>
            </a:r>
            <a:r>
              <a:rPr lang="en-US" altLang="zh-CN" b="1" dirty="0" smtClean="0">
                <a:solidFill>
                  <a:srgbClr val="FF0000"/>
                </a:solidFill>
              </a:rPr>
              <a:t>U”</a:t>
            </a:r>
            <a:r>
              <a:rPr lang="zh-CN" altLang="en-US" b="1" dirty="0" smtClean="0">
                <a:solidFill>
                  <a:srgbClr val="FF0000"/>
                </a:solidFill>
              </a:rPr>
              <a:t>型河谷，地势相对平 缓，河谷宽阔，使河流的流速逐渐减慢，为泥沙和黄金的沉积提供了条件。风化后的金矿石 受水流冲击，随泥沙滚入江中，在巧家县相对独特的地形中，便逐渐沉淀了下来。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1628800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</a:rPr>
              <a:t>X2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198884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19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1529</Words>
  <Application>Microsoft Office PowerPoint</Application>
  <PresentationFormat>全屏显示(4:3)</PresentationFormat>
  <Paragraphs>93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Administrator</cp:lastModifiedBy>
  <cp:revision>21</cp:revision>
  <dcterms:created xsi:type="dcterms:W3CDTF">2020-11-13T00:42:04Z</dcterms:created>
  <dcterms:modified xsi:type="dcterms:W3CDTF">2020-11-13T03:10:39Z</dcterms:modified>
</cp:coreProperties>
</file>