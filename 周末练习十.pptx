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356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2020-12-06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2020-12-06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2020-12-06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2020-12-06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2020-12-06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2020-12-06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2020-12-06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2020-12-06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2020-12-06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2020-12-06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2020-12-06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2020-12-06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ChangeArrowheads="1"/>
          </p:cNvSpPr>
          <p:nvPr/>
        </p:nvSpPr>
        <p:spPr bwMode="auto">
          <a:xfrm>
            <a:off x="0" y="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楷体" pitchFamily="49" charset="-122"/>
              </a:rPr>
              <a:t> “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楷体" pitchFamily="49" charset="-122"/>
              </a:rPr>
              <a:t>稻客”是指近年来出现的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楷体" pitchFamily="49" charset="-122"/>
                <a:ea typeface="楷体" pitchFamily="49" charset="-122"/>
                <a:cs typeface="楷体" pitchFamily="49" charset="-122"/>
              </a:rPr>
              <a:t>专业帮别人收割水稻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楷体" pitchFamily="49" charset="-122"/>
              </a:rPr>
              <a:t>的人群，主要来自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楷体" pitchFamily="49" charset="-122"/>
                <a:ea typeface="楷体" pitchFamily="49" charset="-122"/>
                <a:cs typeface="楷体" pitchFamily="49" charset="-122"/>
              </a:rPr>
              <a:t>山东、河南、江苏北部等北方地区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楷体" pitchFamily="49" charset="-122"/>
              </a:rPr>
              <a:t>。每年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楷体" pitchFamily="49" charset="-122"/>
              </a:rPr>
              <a:t>6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楷体" pitchFamily="49" charset="-122"/>
              </a:rPr>
              <a:t>月底，“稻客”带着小型收割机来到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楷体" pitchFamily="49" charset="-122"/>
                <a:ea typeface="楷体" pitchFamily="49" charset="-122"/>
                <a:cs typeface="楷体" pitchFamily="49" charset="-122"/>
              </a:rPr>
              <a:t>广东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楷体" pitchFamily="49" charset="-122"/>
              </a:rPr>
              <a:t>开始一年的丰收之旅，然后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楷体" pitchFamily="49" charset="-122"/>
                <a:ea typeface="楷体" pitchFamily="49" charset="-122"/>
                <a:cs typeface="楷体" pitchFamily="49" charset="-122"/>
              </a:rPr>
              <a:t>依次到湖南、湖北、四川、安徽等地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楷体" pitchFamily="49" charset="-122"/>
              </a:rPr>
              <a:t>，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楷体" pitchFamily="49" charset="-122"/>
              </a:rPr>
              <a:t>9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楷体" pitchFamily="49" charset="-122"/>
              </a:rPr>
              <a:t>月再次来到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楷体" pitchFamily="49" charset="-122"/>
                <a:ea typeface="楷体" pitchFamily="49" charset="-122"/>
                <a:cs typeface="楷体" pitchFamily="49" charset="-122"/>
              </a:rPr>
              <a:t>广东、湖南等地秋收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  <a:cs typeface="楷体" pitchFamily="49" charset="-122"/>
              </a:rPr>
              <a:t>。</a:t>
            </a:r>
            <a:endParaRPr kumimoji="0" lang="zh-CN" alt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" pitchFamily="49" charset="-122"/>
              <a:ea typeface="楷体" pitchFamily="49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“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稻客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”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现象表明我国</a:t>
            </a:r>
            <a:endParaRPr kumimoji="0" lang="zh-CN" alt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A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南方农村地区农户观念改变</a:t>
            </a:r>
            <a:endParaRPr kumimoji="0" lang="en-US" altLang="zh-CN" sz="2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南方农村地区经济较发达</a:t>
            </a:r>
            <a:endParaRPr kumimoji="0" lang="zh-CN" altLang="en-US" sz="28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C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北方农村地区经济欠发达</a:t>
            </a:r>
            <a:endParaRPr kumimoji="0" lang="en-US" altLang="zh-CN" sz="28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lang="en-US" altLang="zh-CN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28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</a:t>
            </a:r>
            <a:r>
              <a:rPr kumimoji="0" lang="en-US" alt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北方农村地区劳动力不足</a:t>
            </a:r>
            <a:endParaRPr kumimoji="0" lang="zh-CN" alt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4653136"/>
            <a:ext cx="91440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“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稻客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现象表明，我国南方水稻种植区农户从以前自己靠人力收割水稻，改变为雇用劳动力靠机械收割水稻。其中固然有南方农村地区经济较发达的因素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,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但主要与南方农村地区农户观念的转变密切相关。故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A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选项正确；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“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稻客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现象并不能完全体现区域经济的发达程度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,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故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B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、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C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选项错误。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6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月底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,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北方已经完成冬小麦的收割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,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北方农村地区农户利用衣闲时间当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“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稻客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获得经济收益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,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故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“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稻客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”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现象不能说明北方农村地区劳动力不足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,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故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D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选项错误。</a:t>
            </a:r>
            <a:endParaRPr kumimoji="0" lang="zh-CN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b="1" dirty="0" smtClean="0">
                <a:latin typeface="楷体" pitchFamily="49" charset="-122"/>
                <a:ea typeface="楷体" pitchFamily="49" charset="-122"/>
                <a:cs typeface="楷体" pitchFamily="49" charset="-122"/>
              </a:rPr>
              <a:t>下图为我国某铁路干线沿线气候资料图。读图，完成下面各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  <a:cs typeface="楷体" pitchFamily="49" charset="-122"/>
              </a:rPr>
              <a:t>题。</a:t>
            </a:r>
          </a:p>
        </p:txBody>
      </p:sp>
      <p:pic>
        <p:nvPicPr>
          <p:cNvPr id="7169" name="图片 100010" descr="fig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52736"/>
            <a:ext cx="5530786" cy="2611760"/>
          </a:xfrm>
          <a:prstGeom prst="rect">
            <a:avLst/>
          </a:prstGeom>
          <a:noFill/>
        </p:spPr>
      </p:pic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0" y="3811012"/>
            <a:ext cx="9144000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该铁路干线可能穿过的城市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(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　　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)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郑州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—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西安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—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兰州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—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乌鲁木齐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北京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—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太原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—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西宁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—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拉萨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北京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—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呼和浩特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—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银川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—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兰州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哈尔滨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—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北京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—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武汉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—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广州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对列车运行影响最大的自然灾害是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(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　　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)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①地春季的融雪泥石流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②地夏秋季节的风暴潮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③地夏秋季的洪涝灾害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④地冬春季节的沙尘暴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67544" y="2457728"/>
            <a:ext cx="36004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971600" y="2780928"/>
            <a:ext cx="3096344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5508104" y="1196752"/>
            <a:ext cx="3635896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5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．读图可知，根据图示距离判断，①地位于东北平原地区，春季季节性融雪，但不会形成泥石流，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A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错。根据铁路走向判断，②地位于华北平原地区，风暴潮为台风带来的，主要分布在沿海地区，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B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错。③地位于我国长江中游地区地区，夏秋季降水多，容易发生洪涝灾害，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C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对。④地位于南岭以南地区，冬春季节不会发生沙尘暴，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D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错。故选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C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357301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0000FF"/>
                </a:solidFill>
              </a:rPr>
              <a:t>东北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51720" y="357301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0000FF"/>
                </a:solidFill>
              </a:rPr>
              <a:t>华</a:t>
            </a:r>
            <a:r>
              <a:rPr lang="zh-CN" altLang="en-US" b="1" dirty="0" smtClean="0">
                <a:solidFill>
                  <a:srgbClr val="0000FF"/>
                </a:solidFill>
              </a:rPr>
              <a:t>北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91056" y="3609856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 smtClean="0">
                <a:solidFill>
                  <a:srgbClr val="0000FF"/>
                </a:solidFill>
              </a:rPr>
              <a:t>长江中下游</a:t>
            </a:r>
            <a:endParaRPr lang="zh-CN" altLang="en-US" sz="10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74352" y="3609856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 smtClean="0">
                <a:solidFill>
                  <a:srgbClr val="0000FF"/>
                </a:solidFill>
              </a:rPr>
              <a:t>南部沿海</a:t>
            </a:r>
            <a:endParaRPr lang="zh-CN" altLang="en-US" sz="10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b="1" dirty="0" smtClean="0">
                <a:latin typeface="楷体" pitchFamily="49" charset="-122"/>
                <a:ea typeface="楷体" pitchFamily="49" charset="-122"/>
                <a:cs typeface="楷体" pitchFamily="49" charset="-122"/>
              </a:rPr>
              <a:t>   读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  <a:cs typeface="楷体" pitchFamily="49" charset="-122"/>
              </a:rPr>
              <a:t>“西南地区主要自然资源潜在价值（统计数未包括西藏）统计表”，回答下列各题</a:t>
            </a:r>
            <a:r>
              <a:rPr kumimoji="0" lang="zh-CN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。</a:t>
            </a:r>
            <a:endParaRPr kumimoji="0" lang="zh-CN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6145" name="图片 100001" descr="fig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908720"/>
            <a:ext cx="6452785" cy="3475856"/>
          </a:xfrm>
          <a:prstGeom prst="rect">
            <a:avLst/>
          </a:prstGeom>
          <a:noFill/>
        </p:spPr>
      </p:pic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0" y="4581128"/>
            <a:ext cx="9144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7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限制西南地区资源潜在价值转化为经济价值的主要因素是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气候湿热   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地形复杂   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交通不便   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经济基础薄弱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/>
          <a:srcRect t="14470" b="43596"/>
          <a:stretch>
            <a:fillRect/>
          </a:stretch>
        </p:blipFill>
        <p:spPr bwMode="auto">
          <a:xfrm>
            <a:off x="1691680" y="0"/>
            <a:ext cx="7452320" cy="6872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3999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  <a:cs typeface="楷体" pitchFamily="49" charset="-122"/>
              </a:rPr>
              <a:t>为了降低美国对中国的贸易逆差，美国总统特朗普不顾国际社会和美国民众的反对，不断对从中国进口的商品增加关税，中国被迫采取对一等措施。下表示意中美两国互相加征的部分关税产品。 </a:t>
            </a: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5121" name="图片 964932630" descr="fig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772816"/>
            <a:ext cx="8652797" cy="1224136"/>
          </a:xfrm>
          <a:prstGeom prst="rect">
            <a:avLst/>
          </a:prstGeom>
          <a:noFill/>
        </p:spPr>
      </p:pic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3140968"/>
            <a:ext cx="91440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11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．造成中美贸易产品差异的主要因素是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A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．经济水平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	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B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．市场容量	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C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．资源禀赋	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D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．政策因素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12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．为应对美国的贸易保护措施，中国相关企业实行的最可行措施是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A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．主动搬迁工厂到美国	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B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．降低成本和销售价格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C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．大力拓展业务渠道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	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D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．科技创新，提升产品质量</a:t>
            </a:r>
          </a:p>
        </p:txBody>
      </p:sp>
      <p:sp>
        <p:nvSpPr>
          <p:cNvPr id="5" name="矩形 4"/>
          <p:cNvSpPr/>
          <p:nvPr/>
        </p:nvSpPr>
        <p:spPr>
          <a:xfrm>
            <a:off x="323528" y="2204864"/>
            <a:ext cx="4320480" cy="720080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5750004"/>
            <a:ext cx="9144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 smtClean="0">
                <a:solidFill>
                  <a:srgbClr val="FF0000"/>
                </a:solidFill>
              </a:rPr>
              <a:t>11.</a:t>
            </a:r>
            <a:r>
              <a:rPr lang="zh-CN" altLang="en-US" sz="1100" dirty="0" smtClean="0">
                <a:solidFill>
                  <a:srgbClr val="FF0000"/>
                </a:solidFill>
              </a:rPr>
              <a:t>中美</a:t>
            </a:r>
            <a:r>
              <a:rPr lang="zh-CN" altLang="en-US" sz="1100" dirty="0" smtClean="0">
                <a:solidFill>
                  <a:srgbClr val="FF0000"/>
                </a:solidFill>
              </a:rPr>
              <a:t>经济发展水平不同，影响经济发展的优势因素不同，如劳动力价格、科学技术水平等差异较大，因此造成中美贸易产品差异的主要因素是经济水平，</a:t>
            </a:r>
            <a:r>
              <a:rPr lang="en-US" altLang="zh-CN" sz="1100" dirty="0" smtClean="0">
                <a:solidFill>
                  <a:srgbClr val="FF0000"/>
                </a:solidFill>
              </a:rPr>
              <a:t>A</a:t>
            </a:r>
            <a:r>
              <a:rPr lang="zh-CN" altLang="en-US" sz="1100" dirty="0" smtClean="0">
                <a:solidFill>
                  <a:srgbClr val="FF0000"/>
                </a:solidFill>
              </a:rPr>
              <a:t>正确；市场容量相差不大，</a:t>
            </a:r>
            <a:r>
              <a:rPr lang="en-US" altLang="zh-CN" sz="1100" dirty="0" smtClean="0">
                <a:solidFill>
                  <a:srgbClr val="FF0000"/>
                </a:solidFill>
              </a:rPr>
              <a:t>B</a:t>
            </a:r>
            <a:r>
              <a:rPr lang="zh-CN" altLang="en-US" sz="1100" dirty="0" smtClean="0">
                <a:solidFill>
                  <a:srgbClr val="FF0000"/>
                </a:solidFill>
              </a:rPr>
              <a:t>错误；国土面积相差不大，资源禀赋、政策因素影响不大，</a:t>
            </a:r>
            <a:r>
              <a:rPr lang="en-US" altLang="zh-CN" sz="1100" dirty="0" smtClean="0">
                <a:solidFill>
                  <a:srgbClr val="FF0000"/>
                </a:solidFill>
              </a:rPr>
              <a:t>CD</a:t>
            </a:r>
            <a:r>
              <a:rPr lang="zh-CN" altLang="en-US" sz="1100" dirty="0" smtClean="0">
                <a:solidFill>
                  <a:srgbClr val="FF0000"/>
                </a:solidFill>
              </a:rPr>
              <a:t>错误。故选</a:t>
            </a:r>
            <a:r>
              <a:rPr lang="en-US" altLang="zh-CN" sz="1100" dirty="0" smtClean="0">
                <a:solidFill>
                  <a:srgbClr val="FF0000"/>
                </a:solidFill>
              </a:rPr>
              <a:t>A</a:t>
            </a:r>
            <a:r>
              <a:rPr lang="zh-CN" altLang="en-US" sz="1100" dirty="0" smtClean="0">
                <a:solidFill>
                  <a:srgbClr val="FF0000"/>
                </a:solidFill>
              </a:rPr>
              <a:t>。</a:t>
            </a:r>
            <a:endParaRPr lang="en-US" altLang="zh-CN" sz="1100" dirty="0" smtClean="0">
              <a:solidFill>
                <a:srgbClr val="FF0000"/>
              </a:solidFill>
            </a:endParaRPr>
          </a:p>
          <a:p>
            <a:r>
              <a:rPr lang="en-US" altLang="zh-CN" sz="1100" dirty="0" smtClean="0">
                <a:solidFill>
                  <a:srgbClr val="FF0000"/>
                </a:solidFill>
              </a:rPr>
              <a:t>12.</a:t>
            </a:r>
            <a:r>
              <a:rPr lang="zh-CN" altLang="en-US" sz="1100" dirty="0" smtClean="0">
                <a:solidFill>
                  <a:srgbClr val="FF0000"/>
                </a:solidFill>
              </a:rPr>
              <a:t>应对</a:t>
            </a:r>
            <a:r>
              <a:rPr lang="zh-CN" altLang="en-US" sz="1100" dirty="0" smtClean="0">
                <a:solidFill>
                  <a:srgbClr val="FF0000"/>
                </a:solidFill>
              </a:rPr>
              <a:t>美国的贸易保护措施，搬迁加工厂到美国，避开关税，可以提高竞争力更强，但美国可能出台到更多贸易保护措施，大量工厂搬迁或导致中国就业机会减少，不利于中国经济发展，</a:t>
            </a:r>
            <a:r>
              <a:rPr lang="en-US" altLang="zh-CN" sz="1100" dirty="0" smtClean="0">
                <a:solidFill>
                  <a:srgbClr val="FF0000"/>
                </a:solidFill>
              </a:rPr>
              <a:t>A</a:t>
            </a:r>
            <a:r>
              <a:rPr lang="zh-CN" altLang="en-US" sz="1100" dirty="0" smtClean="0">
                <a:solidFill>
                  <a:srgbClr val="FF0000"/>
                </a:solidFill>
              </a:rPr>
              <a:t>错误；中国部分产品的优势是价格低，再降低销售价格，不利于中国经济发展，</a:t>
            </a:r>
            <a:r>
              <a:rPr lang="en-US" altLang="zh-CN" sz="1100" dirty="0" smtClean="0">
                <a:solidFill>
                  <a:srgbClr val="FF0000"/>
                </a:solidFill>
              </a:rPr>
              <a:t>B</a:t>
            </a:r>
            <a:r>
              <a:rPr lang="zh-CN" altLang="en-US" sz="1100" dirty="0" smtClean="0">
                <a:solidFill>
                  <a:srgbClr val="FF0000"/>
                </a:solidFill>
              </a:rPr>
              <a:t>错误；拓展业务渠道，开拓其他市场可以减轻美国贸易保护措施的不利影响，</a:t>
            </a:r>
            <a:r>
              <a:rPr lang="en-US" altLang="zh-CN" sz="1100" dirty="0" smtClean="0">
                <a:solidFill>
                  <a:srgbClr val="FF0000"/>
                </a:solidFill>
              </a:rPr>
              <a:t>C</a:t>
            </a:r>
            <a:r>
              <a:rPr lang="zh-CN" altLang="en-US" sz="1100" dirty="0" smtClean="0">
                <a:solidFill>
                  <a:srgbClr val="FF0000"/>
                </a:solidFill>
              </a:rPr>
              <a:t>正确；中国部分高技术产品质量较高，受到了美国贸易保护政策的制裁，因此提升产品质量对进入美国市场作用不大，</a:t>
            </a:r>
            <a:r>
              <a:rPr lang="en-US" altLang="zh-CN" sz="1100" dirty="0" smtClean="0">
                <a:solidFill>
                  <a:srgbClr val="FF0000"/>
                </a:solidFill>
              </a:rPr>
              <a:t>D</a:t>
            </a:r>
            <a:r>
              <a:rPr lang="zh-CN" altLang="en-US" sz="1100" dirty="0" smtClean="0">
                <a:solidFill>
                  <a:srgbClr val="FF0000"/>
                </a:solidFill>
              </a:rPr>
              <a:t>错误。故选</a:t>
            </a:r>
            <a:r>
              <a:rPr lang="en-US" altLang="zh-CN" sz="1100" dirty="0" smtClean="0">
                <a:solidFill>
                  <a:srgbClr val="FF0000"/>
                </a:solidFill>
              </a:rPr>
              <a:t>C</a:t>
            </a:r>
            <a:r>
              <a:rPr lang="zh-CN" altLang="en-US" sz="1100" dirty="0" smtClean="0">
                <a:solidFill>
                  <a:srgbClr val="FF0000"/>
                </a:solidFill>
              </a:rPr>
              <a:t>。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b="1" dirty="0" smtClean="0">
                <a:latin typeface="楷体" pitchFamily="49" charset="-122"/>
                <a:ea typeface="楷体" pitchFamily="49" charset="-122"/>
                <a:cs typeface="楷体" pitchFamily="49" charset="-122"/>
              </a:rPr>
              <a:t>  近年来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  <a:cs typeface="楷体" pitchFamily="49" charset="-122"/>
              </a:rPr>
              <a:t>，我国纺织、服装行业发展迅速，但棉花增产有限，需要大量进口。读下图完成下列各题</a:t>
            </a:r>
            <a:r>
              <a:rPr kumimoji="0" lang="zh-CN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。</a:t>
            </a:r>
            <a:endParaRPr kumimoji="0" 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4097" name="图片 121975904" descr="figure"/>
          <p:cNvPicPr>
            <a:picLocks noChangeAspect="1" noChangeArrowheads="1"/>
          </p:cNvPicPr>
          <p:nvPr/>
        </p:nvPicPr>
        <p:blipFill>
          <a:blip r:embed="rId2" cstate="print">
            <a:lum bright="-12000" contrast="36000"/>
          </a:blip>
          <a:srcRect/>
          <a:stretch>
            <a:fillRect/>
          </a:stretch>
        </p:blipFill>
        <p:spPr bwMode="auto">
          <a:xfrm>
            <a:off x="0" y="1052736"/>
            <a:ext cx="5879358" cy="3763888"/>
          </a:xfrm>
          <a:prstGeom prst="rect">
            <a:avLst/>
          </a:prstGeom>
          <a:noFill/>
        </p:spPr>
      </p:pic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4919008"/>
            <a:ext cx="860444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19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．图中信息显示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A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．进口平均单价上涨导致棉花进口量下降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B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．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2011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年前三个季度中，第二季度棉花进口量最少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C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．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2011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年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5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月棉花进口额约是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2010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年同期的</a:t>
            </a:r>
            <a:r>
              <a:rPr lang="en-US" altLang="zh-CN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2</a:t>
            </a:r>
            <a:r>
              <a:rPr lang="zh-CN" altLang="en-US" sz="2400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倍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D</a:t>
            </a:r>
            <a:r>
              <a:rPr lang="zh-CN" altLang="en-US" sz="2400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．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2011</a:t>
            </a:r>
            <a:r>
              <a:rPr lang="zh-CN" altLang="en-US" sz="2400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年第一季度棉花进口量约是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2010</a:t>
            </a:r>
            <a:r>
              <a:rPr lang="zh-CN" altLang="en-US" sz="2400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年同期的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2</a:t>
            </a:r>
            <a:r>
              <a:rPr lang="zh-CN" altLang="en-US" sz="2400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倍</a:t>
            </a:r>
          </a:p>
        </p:txBody>
      </p:sp>
      <p:sp>
        <p:nvSpPr>
          <p:cNvPr id="5" name="矩形 4"/>
          <p:cNvSpPr/>
          <p:nvPr/>
        </p:nvSpPr>
        <p:spPr>
          <a:xfrm>
            <a:off x="6012160" y="1052736"/>
            <a:ext cx="313184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19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．读图可以看出，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11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年各月的进口量均比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10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年高，进口量并未下降，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A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错。读图中数据，三个月是一个季度，计算一下第一、第二、第三季度各自的进口量，可知，第三季度进口量最少，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B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错。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2011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年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5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月，进口量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20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万吨，进价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1800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美元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/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吨，进口额约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36000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美元。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2010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年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5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月进口量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15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万吨，进价约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1250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美元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/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吨，进口额约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17750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美元，所以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C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对。同理可计算出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D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错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b="1" dirty="0" smtClean="0">
                <a:latin typeface="楷体" pitchFamily="49" charset="-122"/>
                <a:ea typeface="楷体" pitchFamily="49" charset="-122"/>
                <a:cs typeface="楷体" pitchFamily="49" charset="-122"/>
              </a:rPr>
              <a:t>  近年来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  <a:cs typeface="楷体" pitchFamily="49" charset="-122"/>
              </a:rPr>
              <a:t>，我国纺织、服装行业发展迅速，但棉花增产有限，需要大量进口。读下图完成下列各题</a:t>
            </a:r>
            <a:r>
              <a:rPr kumimoji="0" lang="zh-CN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。</a:t>
            </a:r>
            <a:endParaRPr kumimoji="0" 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4097" name="图片 121975904" descr="figure"/>
          <p:cNvPicPr>
            <a:picLocks noChangeAspect="1" noChangeArrowheads="1"/>
          </p:cNvPicPr>
          <p:nvPr/>
        </p:nvPicPr>
        <p:blipFill>
          <a:blip r:embed="rId2" cstate="print">
            <a:lum bright="-12000" contrast="36000"/>
          </a:blip>
          <a:srcRect/>
          <a:stretch>
            <a:fillRect/>
          </a:stretch>
        </p:blipFill>
        <p:spPr bwMode="auto">
          <a:xfrm>
            <a:off x="0" y="1052736"/>
            <a:ext cx="5879358" cy="3763888"/>
          </a:xfrm>
          <a:prstGeom prst="rect">
            <a:avLst/>
          </a:prstGeom>
          <a:noFill/>
        </p:spPr>
      </p:pic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4919008"/>
            <a:ext cx="91440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ctr"/>
            <a:r>
              <a:rPr lang="en-US" altLang="zh-CN" sz="2400" dirty="0" smtClean="0"/>
              <a:t>21</a:t>
            </a:r>
            <a:r>
              <a:rPr lang="zh-CN" altLang="zh-CN" sz="2400" dirty="0" smtClean="0"/>
              <a:t>．针对图中显示的棉花进口量和价格的变化，我国应采取的对策包括</a:t>
            </a:r>
          </a:p>
          <a:p>
            <a:pPr fontAlgn="ctr"/>
            <a:r>
              <a:rPr lang="en-US" altLang="zh-CN" sz="2400" dirty="0" smtClean="0">
                <a:solidFill>
                  <a:srgbClr val="0000FF"/>
                </a:solidFill>
              </a:rPr>
              <a:t>①</a:t>
            </a:r>
            <a:r>
              <a:rPr lang="zh-CN" altLang="zh-CN" sz="2400" dirty="0" smtClean="0">
                <a:solidFill>
                  <a:srgbClr val="0000FF"/>
                </a:solidFill>
              </a:rPr>
              <a:t>促进棉花生产区域专业化</a:t>
            </a:r>
            <a:r>
              <a:rPr lang="en-US" altLang="zh-CN" sz="2400" dirty="0" smtClean="0">
                <a:solidFill>
                  <a:srgbClr val="0000FF"/>
                </a:solidFill>
              </a:rPr>
              <a:t> </a:t>
            </a:r>
            <a:r>
              <a:rPr lang="en-US" altLang="zh-CN" sz="2400" dirty="0" smtClean="0"/>
              <a:t>②</a:t>
            </a:r>
            <a:r>
              <a:rPr lang="zh-CN" altLang="zh-CN" sz="2400" dirty="0" smtClean="0"/>
              <a:t>提高棉纺织企业技术水平</a:t>
            </a:r>
            <a:r>
              <a:rPr lang="en-US" altLang="zh-CN" sz="2400" dirty="0" smtClean="0">
                <a:solidFill>
                  <a:srgbClr val="0000FF"/>
                </a:solidFill>
              </a:rPr>
              <a:t>③</a:t>
            </a:r>
            <a:r>
              <a:rPr lang="zh-CN" altLang="zh-CN" sz="2400" dirty="0" smtClean="0">
                <a:solidFill>
                  <a:srgbClr val="0000FF"/>
                </a:solidFill>
              </a:rPr>
              <a:t>压缩纺织行业生产规模</a:t>
            </a:r>
            <a:r>
              <a:rPr lang="en-US" altLang="zh-CN" sz="2400" dirty="0" smtClean="0">
                <a:solidFill>
                  <a:srgbClr val="0000FF"/>
                </a:solidFill>
              </a:rPr>
              <a:t> ④</a:t>
            </a:r>
            <a:r>
              <a:rPr lang="zh-CN" altLang="zh-CN" sz="2400" dirty="0" smtClean="0">
                <a:solidFill>
                  <a:srgbClr val="0000FF"/>
                </a:solidFill>
              </a:rPr>
              <a:t>加快纺织产品品牌培育速度</a:t>
            </a:r>
          </a:p>
          <a:p>
            <a:pPr fontAlgn="ctr"/>
            <a:r>
              <a:rPr lang="en-US" altLang="zh-CN" sz="2400" dirty="0" smtClean="0"/>
              <a:t>      A</a:t>
            </a:r>
            <a:r>
              <a:rPr lang="zh-CN" altLang="zh-CN" sz="2400" dirty="0" smtClean="0"/>
              <a:t>．</a:t>
            </a:r>
            <a:r>
              <a:rPr lang="en-US" altLang="zh-CN" sz="2400" dirty="0" smtClean="0"/>
              <a:t>①②③	</a:t>
            </a:r>
            <a:r>
              <a:rPr lang="en-US" altLang="zh-CN" sz="2400" dirty="0" smtClean="0"/>
              <a:t>          B</a:t>
            </a:r>
            <a:r>
              <a:rPr lang="zh-CN" altLang="zh-CN" sz="2400" dirty="0" smtClean="0"/>
              <a:t>．</a:t>
            </a:r>
            <a:r>
              <a:rPr lang="en-US" altLang="zh-CN" sz="2400" dirty="0" smtClean="0"/>
              <a:t>①②④	</a:t>
            </a:r>
            <a:r>
              <a:rPr lang="en-US" altLang="zh-CN" sz="2400" dirty="0" smtClean="0"/>
              <a:t>    C</a:t>
            </a:r>
            <a:r>
              <a:rPr lang="zh-CN" altLang="zh-CN" sz="2400" dirty="0" smtClean="0"/>
              <a:t>．</a:t>
            </a:r>
            <a:r>
              <a:rPr lang="en-US" altLang="zh-CN" sz="2400" dirty="0" smtClean="0"/>
              <a:t>①③④	</a:t>
            </a:r>
            <a:r>
              <a:rPr lang="en-US" altLang="zh-CN" sz="2400" dirty="0" smtClean="0"/>
              <a:t>      D</a:t>
            </a:r>
            <a:r>
              <a:rPr lang="zh-CN" altLang="zh-CN" sz="2400" dirty="0" smtClean="0"/>
              <a:t>．</a:t>
            </a:r>
            <a:r>
              <a:rPr lang="en-US" altLang="zh-CN" sz="2400" dirty="0" smtClean="0"/>
              <a:t>②③④</a:t>
            </a:r>
            <a:endParaRPr lang="zh-CN" altLang="zh-CN" sz="2400" dirty="0"/>
          </a:p>
        </p:txBody>
      </p:sp>
      <p:sp>
        <p:nvSpPr>
          <p:cNvPr id="5" name="矩形 4"/>
          <p:cNvSpPr/>
          <p:nvPr/>
        </p:nvSpPr>
        <p:spPr>
          <a:xfrm>
            <a:off x="6012160" y="1268760"/>
            <a:ext cx="313184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21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．从图中棉花进口量和进口价格的变化可以看出，我国棉花的需求市场很大，必须积极发展棉花生产，同时也要提高纺织业的技术水平，发展自己的纺织品品牌，所以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①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、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②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、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④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对。压缩纺织行业生产，会影响经济的增长速度，不利于国家经济的发展，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③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错。所以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B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对。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A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、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C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、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D</a:t>
            </a:r>
            <a:r>
              <a:rPr lang="zh-CN" altLang="zh-CN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1040</Words>
  <Application>Microsoft Office PowerPoint</Application>
  <PresentationFormat>全屏显示(4:3)</PresentationFormat>
  <Paragraphs>44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Administrator</cp:lastModifiedBy>
  <cp:revision>12</cp:revision>
  <dcterms:created xsi:type="dcterms:W3CDTF">2020-12-06T13:46:36Z</dcterms:created>
  <dcterms:modified xsi:type="dcterms:W3CDTF">2020-12-07T00:19:43Z</dcterms:modified>
</cp:coreProperties>
</file>